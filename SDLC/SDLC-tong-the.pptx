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B06F1F"/>
                </a:solidFill>
                <a:latin typeface="Consolas"/>
              </a:rPr>
              <a:t>DEV-QUALITY-TOOLKIT · PLUGIN "DEVELOPER" V0.4.0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4400" b="1" i="0">
                <a:solidFill>
                  <a:srgbClr val="171B24"/>
                </a:solidFill>
                <a:latin typeface="Consolas"/>
              </a:rPr>
              <a:t>SDLC — bức tranh tổng thể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B6472"/>
                </a:solidFill>
                <a:latin typeface="Segoe UI"/>
              </a:rPr>
              <a:t>6 giai đoạn sản xuất phần mềm, các hoạt động xuyên suốt, và 45 AI agent + 3 skill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B6472"/>
                </a:solidFill>
                <a:latin typeface="Segoe UI"/>
              </a:rPr>
              <a:t>của toolkit được gắn đúng vào từng giai đoạn — để biết dùng agent nào, lúc nào.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46120"/>
            <a:ext cx="1813052" cy="330200"/>
          </a:xfrm>
          <a:prstGeom prst="roundRect">
            <a:avLst>
              <a:gd name="adj" fmla="val 35000"/>
            </a:avLst>
          </a:prstGeom>
          <a:solidFill>
            <a:srgbClr val="F3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0" bIns="0"/>
          <a:lstStyle/>
          <a:p>
            <a:pPr algn="ctr"/>
            <a:r>
              <a:rPr sz="1100">
                <a:solidFill>
                  <a:srgbClr val="B06F1F"/>
                </a:solidFill>
                <a:latin typeface="Consolas"/>
              </a:rPr>
              <a:t>45 AGENT + 3 SKILL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80132" y="3246120"/>
            <a:ext cx="1206754" cy="330200"/>
          </a:xfrm>
          <a:prstGeom prst="roundRect">
            <a:avLst>
              <a:gd name="adj" fmla="val 35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0" bIns="0"/>
          <a:lstStyle/>
          <a:p>
            <a:pPr algn="ctr"/>
            <a:r>
              <a:rPr sz="1100">
                <a:solidFill>
                  <a:srgbClr val="5B6472"/>
                </a:solidFill>
                <a:latin typeface="Consolas"/>
              </a:rPr>
              <a:t>6 GIAI ĐOẠN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13886" y="3246120"/>
            <a:ext cx="3372104" cy="330200"/>
          </a:xfrm>
          <a:prstGeom prst="roundRect">
            <a:avLst>
              <a:gd name="adj" fmla="val 35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0" bIns="0"/>
          <a:lstStyle/>
          <a:p>
            <a:pPr algn="ctr"/>
            <a:r>
              <a:rPr sz="1100">
                <a:solidFill>
                  <a:srgbClr val="5B6472"/>
                </a:solidFill>
                <a:latin typeface="Consolas"/>
              </a:rPr>
              <a:t>WATERFALL · V-MODEL · AGILE · DEVOPS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12990" y="3246120"/>
            <a:ext cx="3545332" cy="330200"/>
          </a:xfrm>
          <a:prstGeom prst="roundRect">
            <a:avLst>
              <a:gd name="adj" fmla="val 35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0" bIns="0"/>
          <a:lstStyle/>
          <a:p>
            <a:pPr algn="ctr"/>
            <a:r>
              <a:rPr sz="1100">
                <a:solidFill>
                  <a:srgbClr val="5B6472"/>
                </a:solidFill>
                <a:latin typeface="Consolas"/>
              </a:rPr>
              <a:t>ĐỐI CHIẾU THỰC TẾ FSOFT — CMMI LEVEL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06240"/>
            <a:ext cx="17830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206240"/>
            <a:ext cx="1783080" cy="40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370832"/>
            <a:ext cx="1563624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2E7D6B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663440"/>
            <a:ext cx="1563624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50" b="1" i="0">
                <a:solidFill>
                  <a:srgbClr val="171B24"/>
                </a:solidFill>
                <a:latin typeface="Consolas"/>
              </a:rPr>
              <a:t>YÊU CẦU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440680"/>
            <a:ext cx="1563624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5B6472"/>
                </a:solidFill>
                <a:latin typeface="Segoe UI"/>
              </a:rPr>
              <a:t>2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489204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600" b="0" i="0">
                <a:solidFill>
                  <a:srgbClr val="8891A0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60904" y="4206240"/>
            <a:ext cx="17830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60904" y="4206240"/>
            <a:ext cx="1783080" cy="40640"/>
          </a:xfrm>
          <a:prstGeom prst="rect">
            <a:avLst/>
          </a:prstGeom>
          <a:solidFill>
            <a:srgbClr val="356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70632" y="4370832"/>
            <a:ext cx="1563624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35679E"/>
                </a:solidFill>
                <a:latin typeface="Consola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70632" y="4663440"/>
            <a:ext cx="1563624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50" b="1" i="0">
                <a:solidFill>
                  <a:srgbClr val="171B24"/>
                </a:solidFill>
                <a:latin typeface="Consolas"/>
              </a:rPr>
              <a:t>THIẾT KẾ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70632" y="5440680"/>
            <a:ext cx="1563624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5B6472"/>
                </a:solidFill>
                <a:latin typeface="Segoe UI"/>
              </a:rPr>
              <a:t>13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3984" y="489204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600" b="0" i="0">
                <a:solidFill>
                  <a:srgbClr val="8891A0"/>
                </a:solidFill>
                <a:latin typeface="Segoe U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81728" y="4206240"/>
            <a:ext cx="17830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81728" y="4206240"/>
            <a:ext cx="1783080" cy="40640"/>
          </a:xfrm>
          <a:prstGeom prst="rect">
            <a:avLst/>
          </a:prstGeom>
          <a:solidFill>
            <a:srgbClr val="6A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91456" y="4370832"/>
            <a:ext cx="1563624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6A4FA0"/>
                </a:solidFill>
                <a:latin typeface="Consola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91456" y="4663440"/>
            <a:ext cx="1563624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50" b="1" i="0">
                <a:solidFill>
                  <a:srgbClr val="171B24"/>
                </a:solidFill>
                <a:latin typeface="Consolas"/>
              </a:rPr>
              <a:t>PHÁT TRIỂN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91456" y="5440680"/>
            <a:ext cx="1563624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5B6472"/>
                </a:solidFill>
                <a:latin typeface="Segoe UI"/>
              </a:rPr>
              <a:t>11+1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8" y="489204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600" b="0" i="0">
                <a:solidFill>
                  <a:srgbClr val="8891A0"/>
                </a:solidFill>
                <a:latin typeface="Segoe U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02552" y="4206240"/>
            <a:ext cx="17830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02552" y="4206240"/>
            <a:ext cx="1783080" cy="40640"/>
          </a:xfrm>
          <a:prstGeom prst="rect">
            <a:avLst/>
          </a:prstGeom>
          <a:solidFill>
            <a:srgbClr val="A14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80" y="4370832"/>
            <a:ext cx="1563624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A14F6E"/>
                </a:solidFill>
                <a:latin typeface="Consola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4663440"/>
            <a:ext cx="1563624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50" b="1" i="0">
                <a:solidFill>
                  <a:srgbClr val="171B24"/>
                </a:solidFill>
                <a:latin typeface="Consolas"/>
              </a:rPr>
              <a:t>KIỂM THỬ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5440680"/>
            <a:ext cx="1563624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5B6472"/>
                </a:solidFill>
                <a:latin typeface="Segoe UI"/>
              </a:rPr>
              <a:t>5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85632" y="489204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600" b="0" i="0">
                <a:solidFill>
                  <a:srgbClr val="8891A0"/>
                </a:solidFill>
                <a:latin typeface="Segoe U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23376" y="4206240"/>
            <a:ext cx="17830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723376" y="4206240"/>
            <a:ext cx="1783080" cy="40640"/>
          </a:xfrm>
          <a:prstGeom prst="rect">
            <a:avLst/>
          </a:prstGeom>
          <a:solidFill>
            <a:srgbClr val="B87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33104" y="4370832"/>
            <a:ext cx="1563624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B8782E"/>
                </a:solidFill>
                <a:latin typeface="Consolas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33104" y="4663440"/>
            <a:ext cx="1563624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50" b="1" i="0">
                <a:solidFill>
                  <a:srgbClr val="171B24"/>
                </a:solidFill>
                <a:latin typeface="Consolas"/>
              </a:rPr>
              <a:t>TRIỂN KHAI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3104" y="5440680"/>
            <a:ext cx="1563624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5B6472"/>
                </a:solidFill>
                <a:latin typeface="Segoe UI"/>
              </a:rPr>
              <a:t>5 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06456" y="489204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600" b="0" i="0">
                <a:solidFill>
                  <a:srgbClr val="8891A0"/>
                </a:solidFill>
                <a:latin typeface="Segoe UI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744200" y="4206240"/>
            <a:ext cx="17830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744200" y="4206240"/>
            <a:ext cx="1783080" cy="40640"/>
          </a:xfrm>
          <a:prstGeom prst="rect">
            <a:avLst/>
          </a:prstGeom>
          <a:solidFill>
            <a:srgbClr val="4C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853928" y="4370832"/>
            <a:ext cx="1563624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4C7A3A"/>
                </a:solidFill>
                <a:latin typeface="Consolas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53928" y="4663440"/>
            <a:ext cx="1563624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50" b="1" i="0">
                <a:solidFill>
                  <a:srgbClr val="171B24"/>
                </a:solidFill>
                <a:latin typeface="Consolas"/>
              </a:rPr>
              <a:t>VẬN HÀNH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53928" y="5440680"/>
            <a:ext cx="1563624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5B6472"/>
                </a:solidFill>
                <a:latin typeface="Segoe UI"/>
              </a:rPr>
              <a:t>7 agent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8891A0"/>
                </a:solidFill>
                <a:latin typeface="Consolas"/>
              </a:rPr>
              <a:t>Nguồn: SDLC/QUY_TRINH_SAN_XUAT_PHAN_MEM.md · SDLC/DANH_SACH_AI_AGENT_VA_VI_DU_PROMPT.md · SDLC/QUY_TRINH_CHI_TIET.md — dev-quality-toolkit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8891A0"/>
                </a:solidFill>
                <a:latin typeface="Consolas"/>
              </a:rPr>
              <a:t>CHUẨN &amp; KHUNG THAM CHIẾU ÁP DỤNG XUYÊN SUỐT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SDLC không phải một quy trình cố định mà là một tập khung tham chiếu — các chuẩn dưới đây định nghĩa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"thế nào là làm đúng", không ép một mô hình cụ thể.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2130552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" y="1517904"/>
            <a:ext cx="185623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1" i="0">
                <a:solidFill>
                  <a:srgbClr val="171B24"/>
                </a:solidFill>
                <a:latin typeface="Consolas"/>
              </a:rPr>
              <a:t>ISO/IEC/IEEE 12207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1874520"/>
            <a:ext cx="185623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Chuẩn tiến trình vòng đời phần mềm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52344" y="1371600"/>
            <a:ext cx="2130552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98648" y="1517904"/>
            <a:ext cx="185623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1" i="0">
                <a:solidFill>
                  <a:srgbClr val="171B24"/>
                </a:solidFill>
                <a:latin typeface="Consolas"/>
              </a:rPr>
              <a:t>CMMI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8648" y="1874520"/>
            <a:ext cx="185623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Độ trưởng thành quy trình, 5 cấp — FSoft đạt cấp 5 "Optimizing"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01768" y="1371600"/>
            <a:ext cx="2130552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48072" y="1517904"/>
            <a:ext cx="185623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1" i="0">
                <a:solidFill>
                  <a:srgbClr val="171B24"/>
                </a:solidFill>
                <a:latin typeface="Consolas"/>
              </a:rPr>
              <a:t>TMMi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8072" y="1874520"/>
            <a:ext cx="185623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Độ trưởng thành quy trình kiểm thử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51192" y="1371600"/>
            <a:ext cx="2130552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97496" y="1517904"/>
            <a:ext cx="185623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1" i="0">
                <a:solidFill>
                  <a:srgbClr val="171B24"/>
                </a:solidFill>
                <a:latin typeface="Consolas"/>
              </a:rPr>
              <a:t>ISO/IEC 27001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97496" y="1874520"/>
            <a:ext cx="185623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Quản lý an toàn thông tin (ISMS)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0616" y="1371600"/>
            <a:ext cx="2130552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46920" y="1517904"/>
            <a:ext cx="185623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1" i="0">
                <a:solidFill>
                  <a:srgbClr val="171B24"/>
                </a:solidFill>
                <a:latin typeface="Consolas"/>
              </a:rPr>
              <a:t>IEEE 830 / ISO 29148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20" y="1874520"/>
            <a:ext cx="185623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Chuẩn đặc tả yêu cầu phần mềm (SRS)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834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8891A0"/>
                </a:solidFill>
                <a:latin typeface="Consolas"/>
              </a:rPr>
              <a:t>MÔ HÌNH TRIỂN KHAI: KẾT HỢP V-MODEL VÀ AGILE (FSOFT)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200400"/>
            <a:ext cx="111556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B6472"/>
                </a:solidFill>
                <a:latin typeface="Segoe UI"/>
              </a:rPr>
              <a:t>FSoft (CMMI Level 5 v2.0, TMMi Level 5, ISO/IEC 27001:2013) tổ chức sản xuất theo 5 khâu chuyên trách (BA thu thập yêu cầu → kiến trúc sư thiết kế → dev code → QA/Tester độc lập kiểm thử → triển khai &amp; bảo trì), dùng V-Model cho dự án fix-price (khách Nhật) và Agile/Scrum cho sản phẩm số (khách Âu-Mỹ). Khối Quality Management giám sát chất lượng độc lập, chạy song song với khối Production trên mọi dự án — tương đương vai trò của qms-compliance-checker và rtm-manager trong toolkit.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8891A0"/>
                </a:solidFill>
                <a:latin typeface="Consolas"/>
              </a:rPr>
              <a:t>Phần A &amp; B — SDLC/QUY_TRINH_SAN_XUAT_PHAN_MEM.md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8891A0"/>
                </a:solidFill>
                <a:latin typeface="Consolas"/>
              </a:rPr>
              <a:t>VÒNG ĐỜI 6 GIAI ĐOẠN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Giai đoạn 02 → 06 là một vòng lặp: mỗi tính năng mới hoặc bản sửa lỗi đi qua lại các bước này,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nhanh dần nhờ CI/CD và tự động hóa kiểm thử — không phải một đường thẳng chạy một lần rồi kết thúc.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1783080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1783080" cy="40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45336"/>
            <a:ext cx="16002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2E7D6B"/>
                </a:solidFill>
                <a:latin typeface="Consolas"/>
              </a:rPr>
              <a:t>01 · GIAI ĐOẠN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64792"/>
            <a:ext cx="160020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71B24"/>
                </a:solidFill>
                <a:latin typeface="Consolas"/>
              </a:rPr>
              <a:t>Thu thập &amp; phân tích yêu cầu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77440"/>
            <a:ext cx="160020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Hiểu rõ bài toán trước khi viết bất kỳ dòng code nào.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04288" y="1417320"/>
            <a:ext cx="1783080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04288" y="1417320"/>
            <a:ext cx="1783080" cy="40640"/>
          </a:xfrm>
          <a:prstGeom prst="rect">
            <a:avLst/>
          </a:prstGeom>
          <a:solidFill>
            <a:srgbClr val="356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95728" y="1545336"/>
            <a:ext cx="16002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35679E"/>
                </a:solidFill>
                <a:latin typeface="Consolas"/>
              </a:rPr>
              <a:t>02 · GIAI ĐOẠN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1764792"/>
            <a:ext cx="160020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71B24"/>
                </a:solidFill>
                <a:latin typeface="Consolas"/>
              </a:rPr>
              <a:t>Thiết kế kiến trúc, API, dữ liệu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2377440"/>
            <a:ext cx="160020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Chuyển yêu cầu thành bản thiết kế kỹ thuật trước khi code.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97096" y="1417320"/>
            <a:ext cx="1783080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97096" y="1417320"/>
            <a:ext cx="1783080" cy="40640"/>
          </a:xfrm>
          <a:prstGeom prst="rect">
            <a:avLst/>
          </a:prstGeom>
          <a:solidFill>
            <a:srgbClr val="6A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88536" y="1545336"/>
            <a:ext cx="16002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6A4FA0"/>
                </a:solidFill>
                <a:latin typeface="Consolas"/>
              </a:rPr>
              <a:t>03 · GIAI ĐOẠN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88536" y="1764792"/>
            <a:ext cx="160020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71B24"/>
                </a:solidFill>
                <a:latin typeface="Consolas"/>
              </a:rPr>
              <a:t>Coding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8536" y="2377440"/>
            <a:ext cx="160020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Viết code đúng thiết kế, đúng chuẩn, dễ bảo trì.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9904" y="1417320"/>
            <a:ext cx="1783080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9904" y="1417320"/>
            <a:ext cx="1783080" cy="40640"/>
          </a:xfrm>
          <a:prstGeom prst="rect">
            <a:avLst/>
          </a:prstGeom>
          <a:solidFill>
            <a:srgbClr val="A14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81344" y="1545336"/>
            <a:ext cx="16002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A14F6E"/>
                </a:solidFill>
                <a:latin typeface="Consolas"/>
              </a:rPr>
              <a:t>04 · GIAI ĐOẠN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1764792"/>
            <a:ext cx="160020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71B24"/>
                </a:solidFill>
                <a:latin typeface="Consolas"/>
              </a:rPr>
              <a:t>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1344" y="2377440"/>
            <a:ext cx="160020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Phát hiện lỗi trước khi đến tay người dùng.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82712" y="1417320"/>
            <a:ext cx="1783080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82712" y="1417320"/>
            <a:ext cx="1783080" cy="40640"/>
          </a:xfrm>
          <a:prstGeom prst="rect">
            <a:avLst/>
          </a:prstGeom>
          <a:solidFill>
            <a:srgbClr val="B87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74152" y="1545336"/>
            <a:ext cx="16002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B8782E"/>
                </a:solidFill>
                <a:latin typeface="Consolas"/>
              </a:rPr>
              <a:t>05 · GIAI ĐOẠN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74152" y="1764792"/>
            <a:ext cx="160020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71B24"/>
                </a:solidFill>
                <a:latin typeface="Consolas"/>
              </a:rPr>
              <a:t>Deployment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74152" y="2377440"/>
            <a:ext cx="160020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Đưa phần mềm đã kiểm thử vào production — an toàn, lặp lại được.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75520" y="1417320"/>
            <a:ext cx="1783080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875520" y="1417320"/>
            <a:ext cx="1783080" cy="40640"/>
          </a:xfrm>
          <a:prstGeom prst="rect">
            <a:avLst/>
          </a:prstGeom>
          <a:solidFill>
            <a:srgbClr val="4C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0" y="1545336"/>
            <a:ext cx="16002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4C7A3A"/>
                </a:solidFill>
                <a:latin typeface="Consolas"/>
              </a:rPr>
              <a:t>06 · GIAI ĐOẠN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1764792"/>
            <a:ext cx="160020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71B24"/>
                </a:solidFill>
                <a:latin typeface="Consolas"/>
              </a:rPr>
              <a:t>Operations &amp; bảo trì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2377440"/>
            <a:ext cx="160020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Giữ hệ thống ổn định, xử lý sự cố nhanh, cải thiện liên tục.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3383280"/>
            <a:ext cx="1600200" cy="1280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8891A0"/>
                </a:solidFill>
                <a:latin typeface="Segoe UI"/>
              </a:rPr>
              <a:t>Đầu ra: </a:t>
            </a:r>
            <a:r>
              <a:rPr sz="850" b="0">
                <a:solidFill>
                  <a:srgbClr val="8891A0"/>
                </a:solidFill>
                <a:latin typeface="Segoe UI"/>
              </a:rPr>
              <a:t>PRD/spec, user story ưu tiên hóa, SRS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833872"/>
            <a:ext cx="673862" cy="254000"/>
          </a:xfrm>
          <a:prstGeom prst="roundRect">
            <a:avLst>
              <a:gd name="adj" fmla="val 35000"/>
            </a:avLst>
          </a:prstGeom>
          <a:solidFill>
            <a:srgbClr val="E3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900">
                <a:solidFill>
                  <a:srgbClr val="2E7D6B"/>
                </a:solidFill>
                <a:latin typeface="Consolas"/>
              </a:rPr>
              <a:t>2 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95728" y="3383280"/>
            <a:ext cx="1600200" cy="1280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8891A0"/>
                </a:solidFill>
                <a:latin typeface="Segoe UI"/>
              </a:rPr>
              <a:t>Đầu ra: </a:t>
            </a:r>
            <a:r>
              <a:rPr sz="850" b="0">
                <a:solidFill>
                  <a:srgbClr val="8891A0"/>
                </a:solidFill>
                <a:latin typeface="Segoe UI"/>
              </a:rPr>
              <a:t>Sơ đồ kiến trúc, HLD/LLD, đặc tả API, ERD, ADR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95728" y="5833872"/>
            <a:ext cx="744728" cy="254000"/>
          </a:xfrm>
          <a:prstGeom prst="roundRect">
            <a:avLst>
              <a:gd name="adj" fmla="val 35000"/>
            </a:avLst>
          </a:prstGeom>
          <a:solidFill>
            <a:srgbClr val="E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900">
                <a:solidFill>
                  <a:srgbClr val="35679E"/>
                </a:solidFill>
                <a:latin typeface="Consolas"/>
              </a:rPr>
              <a:t>13 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88536" y="3383280"/>
            <a:ext cx="1600200" cy="1280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8891A0"/>
                </a:solidFill>
                <a:latin typeface="Segoe UI"/>
              </a:rPr>
              <a:t>Đầu ra: </a:t>
            </a:r>
            <a:r>
              <a:rPr sz="850" b="0">
                <a:solidFill>
                  <a:srgbClr val="8891A0"/>
                </a:solidFill>
                <a:latin typeface="Segoe UI"/>
              </a:rPr>
              <a:t>Code đã merge, có test, đã qua review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88536" y="5833872"/>
            <a:ext cx="1453388" cy="254000"/>
          </a:xfrm>
          <a:prstGeom prst="roundRect">
            <a:avLst>
              <a:gd name="adj" fmla="val 35000"/>
            </a:avLst>
          </a:prstGeom>
          <a:solidFill>
            <a:srgbClr val="E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900">
                <a:solidFill>
                  <a:srgbClr val="6A4FA0"/>
                </a:solidFill>
                <a:latin typeface="Consolas"/>
              </a:rPr>
              <a:t>11 agent + 1 skill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81344" y="3383280"/>
            <a:ext cx="1600200" cy="1280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8891A0"/>
                </a:solidFill>
                <a:latin typeface="Segoe UI"/>
              </a:rPr>
              <a:t>Đầu ra: </a:t>
            </a:r>
            <a:r>
              <a:rPr sz="850" b="0">
                <a:solidFill>
                  <a:srgbClr val="8891A0"/>
                </a:solidFill>
                <a:latin typeface="Segoe UI"/>
              </a:rPr>
              <a:t>Coverage report, test suite, danh sách lỗi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81344" y="5833872"/>
            <a:ext cx="673862" cy="254000"/>
          </a:xfrm>
          <a:prstGeom prst="roundRect">
            <a:avLst>
              <a:gd name="adj" fmla="val 35000"/>
            </a:avLst>
          </a:prstGeom>
          <a:solidFill>
            <a:srgbClr val="F5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900">
                <a:solidFill>
                  <a:srgbClr val="A14F6E"/>
                </a:solidFill>
                <a:latin typeface="Consolas"/>
              </a:rPr>
              <a:t>5 agent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74152" y="3383280"/>
            <a:ext cx="1600200" cy="1280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8891A0"/>
                </a:solidFill>
                <a:latin typeface="Segoe UI"/>
              </a:rPr>
              <a:t>Đầu ra: </a:t>
            </a:r>
            <a:r>
              <a:rPr sz="850" b="0">
                <a:solidFill>
                  <a:srgbClr val="8891A0"/>
                </a:solidFill>
                <a:latin typeface="Segoe UI"/>
              </a:rPr>
              <a:t>Phần mềm chạy ở production, CI/CD ổn định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74152" y="5833872"/>
            <a:ext cx="673862" cy="254000"/>
          </a:xfrm>
          <a:prstGeom prst="roundRect">
            <a:avLst>
              <a:gd name="adj" fmla="val 35000"/>
            </a:avLst>
          </a:prstGeom>
          <a:solidFill>
            <a:srgbClr val="F6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900">
                <a:solidFill>
                  <a:srgbClr val="B8782E"/>
                </a:solidFill>
                <a:latin typeface="Consolas"/>
              </a:rPr>
              <a:t>5 agent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3383280"/>
            <a:ext cx="1600200" cy="1280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8891A0"/>
                </a:solidFill>
                <a:latin typeface="Segoe UI"/>
              </a:rPr>
              <a:t>Đầu ra: </a:t>
            </a:r>
            <a:r>
              <a:rPr sz="850" b="0">
                <a:solidFill>
                  <a:srgbClr val="8891A0"/>
                </a:solidFill>
                <a:latin typeface="Segoe UI"/>
              </a:rPr>
              <a:t>Hệ thống ổn định, RCA đúng gốc, tài liệu cập nhật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66960" y="5833872"/>
            <a:ext cx="673862" cy="254000"/>
          </a:xfrm>
          <a:prstGeom prst="roundRect">
            <a:avLst>
              <a:gd name="adj" fmla="val 35000"/>
            </a:avLst>
          </a:prstGeom>
          <a:solidFill>
            <a:srgbClr val="E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900">
                <a:solidFill>
                  <a:srgbClr val="4C7A3A"/>
                </a:solidFill>
                <a:latin typeface="Consolas"/>
              </a:rPr>
              <a:t>7 agent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635508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050" b="0" i="0">
                <a:solidFill>
                  <a:srgbClr val="8891A0"/>
                </a:solidFill>
                <a:latin typeface="Consolas"/>
              </a:rPr>
              <a:t>↻  lặp lại trong mỗi sprint / iteration — giai đoạn 02 đến 06, nhanh dần nhờ CI/CD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8891A0"/>
                </a:solidFill>
                <a:latin typeface="Consolas"/>
              </a:rPr>
              <a:t>Phần C — SDLC/QUY_TRINH_SAN_XUAT_PHAN_MEM.md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8891A0"/>
                </a:solidFill>
                <a:latin typeface="Consolas"/>
              </a:rPr>
              <a:t>GIAI ĐOẠN 01–02 · YÊU CẦU &amp; THIẾT KẾ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Giai đoạn thiết kế mở rộng nhiều nhất trong bản cập nhật này — từ 6 lên 13 agent, phủ đủ HLD/LLD,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ERD, UI/UX, PoC, Test Plan và WBS trước khi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301752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3017520" cy="40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764792"/>
            <a:ext cx="2688336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1" i="0">
                <a:solidFill>
                  <a:srgbClr val="2E7D6B"/>
                </a:solidFill>
                <a:latin typeface="Consolas"/>
              </a:rPr>
              <a:t>01 · YÊU CẦU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057400"/>
            <a:ext cx="268833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1" i="0">
                <a:solidFill>
                  <a:srgbClr val="171B24"/>
                </a:solidFill>
                <a:latin typeface="Consolas"/>
              </a:rPr>
              <a:t>Thu thập &amp; phân tích yêu cầu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560320"/>
            <a:ext cx="2688336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B6472"/>
                </a:solidFill>
                <a:latin typeface="Segoe UI"/>
              </a:rPr>
              <a:t>Hiểu rõ bài toán cần giải quyết trước khi viết bất kỳ dòng code nào.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291840"/>
            <a:ext cx="2688336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8891A0"/>
                </a:solidFill>
                <a:latin typeface="Segoe UI"/>
              </a:rPr>
              <a:t>Đầu ra: </a:t>
            </a:r>
            <a:r>
              <a:rPr sz="1050" b="0">
                <a:solidFill>
                  <a:srgbClr val="8891A0"/>
                </a:solidFill>
                <a:latin typeface="Segoe UI"/>
              </a:rPr>
              <a:t>PRD/spec, user story ưu tiên hóa, tài liệu SRS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4069080"/>
            <a:ext cx="1910080" cy="279400"/>
          </a:xfrm>
          <a:prstGeom prst="roundRect">
            <a:avLst>
              <a:gd name="adj" fmla="val 35000"/>
            </a:avLst>
          </a:prstGeom>
          <a:solidFill>
            <a:srgbClr val="E3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100">
                <a:solidFill>
                  <a:srgbClr val="2E7D6B"/>
                </a:solidFill>
                <a:latin typeface="Consolas"/>
              </a:rPr>
              <a:t>requirements-analyst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" y="4411980"/>
            <a:ext cx="1043940" cy="279400"/>
          </a:xfrm>
          <a:prstGeom prst="roundRect">
            <a:avLst>
              <a:gd name="adj" fmla="val 35000"/>
            </a:avLst>
          </a:prstGeom>
          <a:solidFill>
            <a:srgbClr val="E3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100">
                <a:solidFill>
                  <a:srgbClr val="2E7D6B"/>
                </a:solidFill>
                <a:latin typeface="Consolas"/>
              </a:rPr>
              <a:t>srs-writer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1600200"/>
            <a:ext cx="7936992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49039" y="1600200"/>
            <a:ext cx="7936992" cy="40640"/>
          </a:xfrm>
          <a:prstGeom prst="rect">
            <a:avLst/>
          </a:prstGeom>
          <a:solidFill>
            <a:srgbClr val="356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19" y="1764792"/>
            <a:ext cx="757123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1" i="0">
                <a:solidFill>
                  <a:srgbClr val="35679E"/>
                </a:solidFill>
                <a:latin typeface="Consolas"/>
              </a:rPr>
              <a:t>02 · THIẾT KẾ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19" y="2057400"/>
            <a:ext cx="7571232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1" i="0">
                <a:solidFill>
                  <a:srgbClr val="171B24"/>
                </a:solidFill>
                <a:latin typeface="Consolas"/>
              </a:rPr>
              <a:t>Thiết kế kiến trúc, API, dữ liệu, UI, test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19" y="2514600"/>
            <a:ext cx="7571232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5B6472"/>
                </a:solidFill>
                <a:latin typeface="Segoe UI"/>
              </a:rPr>
              <a:t>Chuyển yêu cầu thành bản thiết kế kỹ thuật đầy đủ trước khi code.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19" y="3017520"/>
            <a:ext cx="1626615" cy="304800"/>
          </a:xfrm>
          <a:prstGeom prst="roundRect">
            <a:avLst>
              <a:gd name="adj" fmla="val 35000"/>
            </a:avLst>
          </a:prstGeom>
          <a:solidFill>
            <a:srgbClr val="E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150">
                <a:solidFill>
                  <a:srgbClr val="35679E"/>
                </a:solidFill>
                <a:latin typeface="Consolas"/>
              </a:rPr>
              <a:t>system-architect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34734" y="3017520"/>
            <a:ext cx="1898269" cy="304800"/>
          </a:xfrm>
          <a:prstGeom prst="roundRect">
            <a:avLst>
              <a:gd name="adj" fmla="val 35000"/>
            </a:avLst>
          </a:prstGeom>
          <a:solidFill>
            <a:srgbClr val="E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150">
                <a:solidFill>
                  <a:srgbClr val="35679E"/>
                </a:solidFill>
                <a:latin typeface="Consolas"/>
              </a:rPr>
              <a:t>high-level-designer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09203" y="3017520"/>
            <a:ext cx="1807718" cy="304800"/>
          </a:xfrm>
          <a:prstGeom prst="roundRect">
            <a:avLst>
              <a:gd name="adj" fmla="val 35000"/>
            </a:avLst>
          </a:prstGeom>
          <a:solidFill>
            <a:srgbClr val="E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150">
                <a:solidFill>
                  <a:srgbClr val="35679E"/>
                </a:solidFill>
                <a:latin typeface="Consolas"/>
              </a:rPr>
              <a:t>low-level-designer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93121" y="3017520"/>
            <a:ext cx="1264412" cy="304800"/>
          </a:xfrm>
          <a:prstGeom prst="roundRect">
            <a:avLst>
              <a:gd name="adj" fmla="val 35000"/>
            </a:avLst>
          </a:prstGeom>
          <a:solidFill>
            <a:srgbClr val="E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150">
                <a:solidFill>
                  <a:srgbClr val="35679E"/>
                </a:solidFill>
                <a:latin typeface="Consolas"/>
              </a:rPr>
              <a:t>api-designer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31919" y="3423920"/>
            <a:ext cx="1264412" cy="304800"/>
          </a:xfrm>
          <a:prstGeom prst="roundRect">
            <a:avLst>
              <a:gd name="adj" fmla="val 35000"/>
            </a:avLst>
          </a:prstGeom>
          <a:solidFill>
            <a:srgbClr val="E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150">
                <a:solidFill>
                  <a:srgbClr val="35679E"/>
                </a:solidFill>
                <a:latin typeface="Consolas"/>
              </a:rPr>
              <a:t>data-modeler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72531" y="3423920"/>
            <a:ext cx="1807718" cy="304800"/>
          </a:xfrm>
          <a:prstGeom prst="roundRect">
            <a:avLst>
              <a:gd name="adj" fmla="val 35000"/>
            </a:avLst>
          </a:prstGeom>
          <a:solidFill>
            <a:srgbClr val="E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150">
                <a:solidFill>
                  <a:srgbClr val="35679E"/>
                </a:solidFill>
                <a:latin typeface="Consolas"/>
              </a:rPr>
              <a:t>db-schema-reviewer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56449" y="3423920"/>
            <a:ext cx="1445514" cy="304800"/>
          </a:xfrm>
          <a:prstGeom prst="roundRect">
            <a:avLst>
              <a:gd name="adj" fmla="val 35000"/>
            </a:avLst>
          </a:prstGeom>
          <a:solidFill>
            <a:srgbClr val="E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150">
                <a:solidFill>
                  <a:srgbClr val="35679E"/>
                </a:solidFill>
                <a:latin typeface="Consolas"/>
              </a:rPr>
              <a:t>ui-ux-designer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78163" y="3423920"/>
            <a:ext cx="1083310" cy="304800"/>
          </a:xfrm>
          <a:prstGeom prst="roundRect">
            <a:avLst>
              <a:gd name="adj" fmla="val 35000"/>
            </a:avLst>
          </a:prstGeom>
          <a:solidFill>
            <a:srgbClr val="E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150">
                <a:solidFill>
                  <a:srgbClr val="35679E"/>
                </a:solidFill>
                <a:latin typeface="Consolas"/>
              </a:rPr>
              <a:t>adr-writer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37673" y="3423920"/>
            <a:ext cx="1445514" cy="304800"/>
          </a:xfrm>
          <a:prstGeom prst="roundRect">
            <a:avLst>
              <a:gd name="adj" fmla="val 35000"/>
            </a:avLst>
          </a:prstGeom>
          <a:solidFill>
            <a:srgbClr val="E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150">
                <a:solidFill>
                  <a:srgbClr val="35679E"/>
                </a:solidFill>
                <a:latin typeface="Consolas"/>
              </a:rPr>
              <a:t>threat-modeler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31919" y="3830320"/>
            <a:ext cx="1354963" cy="304800"/>
          </a:xfrm>
          <a:prstGeom prst="roundRect">
            <a:avLst>
              <a:gd name="adj" fmla="val 35000"/>
            </a:avLst>
          </a:prstGeom>
          <a:solidFill>
            <a:srgbClr val="E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150">
                <a:solidFill>
                  <a:srgbClr val="35679E"/>
                </a:solidFill>
                <a:latin typeface="Consolas"/>
              </a:rPr>
              <a:t>poc-evaluator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63082" y="3830320"/>
            <a:ext cx="1626615" cy="304800"/>
          </a:xfrm>
          <a:prstGeom prst="roundRect">
            <a:avLst>
              <a:gd name="adj" fmla="val 35000"/>
            </a:avLst>
          </a:prstGeom>
          <a:solidFill>
            <a:srgbClr val="E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150">
                <a:solidFill>
                  <a:srgbClr val="35679E"/>
                </a:solidFill>
                <a:latin typeface="Consolas"/>
              </a:rPr>
              <a:t>test-plan-writer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65897" y="3830320"/>
            <a:ext cx="1717166" cy="304800"/>
          </a:xfrm>
          <a:prstGeom prst="roundRect">
            <a:avLst>
              <a:gd name="adj" fmla="val 35000"/>
            </a:avLst>
          </a:prstGeom>
          <a:solidFill>
            <a:srgbClr val="E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150">
                <a:solidFill>
                  <a:srgbClr val="35679E"/>
                </a:solidFill>
                <a:latin typeface="Consolas"/>
              </a:rPr>
              <a:t>project-estimator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59263" y="3830320"/>
            <a:ext cx="1083310" cy="304800"/>
          </a:xfrm>
          <a:prstGeom prst="roundRect">
            <a:avLst>
              <a:gd name="adj" fmla="val 35000"/>
            </a:avLst>
          </a:prstGeom>
          <a:solidFill>
            <a:srgbClr val="E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150">
                <a:solidFill>
                  <a:srgbClr val="35679E"/>
                </a:solidFill>
                <a:latin typeface="Consolas"/>
              </a:rPr>
              <a:t>wbs-writer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19" y="5303520"/>
            <a:ext cx="7571232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8891A0"/>
                </a:solidFill>
                <a:latin typeface="Segoe UI"/>
              </a:rPr>
              <a:t>Đầu ra: </a:t>
            </a:r>
            <a:r>
              <a:rPr sz="1050" b="0">
                <a:solidFill>
                  <a:srgbClr val="8891A0"/>
                </a:solidFill>
                <a:latin typeface="Segoe UI"/>
              </a:rPr>
              <a:t>sơ đồ kiến trúc, HLD/LLD, đặc tả API, ERD, ADR, Test Plan, WBS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8891A0"/>
                </a:solidFill>
                <a:latin typeface="Consolas"/>
              </a:rPr>
              <a:t>Mới trong v0.4.0: high-level-designer · low-level-designer · data-modeler · ui-ux-designer · poc-evaluator · test-plan-writer · wbs-writer · srs-writer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8891A0"/>
                </a:solidFill>
                <a:latin typeface="Consolas"/>
              </a:rPr>
              <a:t>GIAI ĐOẠN 03 · PHÁT TRIỂN (CODING)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Viết code đúng thiết kế, đúng chuẩn, dễ bảo trì. Đầu ra: code đã merge vào nhánh chính, có test đi kèm, đã qua review.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1115568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11155680" cy="40640"/>
          </a:xfrm>
          <a:prstGeom prst="rect">
            <a:avLst/>
          </a:prstGeom>
          <a:solidFill>
            <a:srgbClr val="6A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20"/>
            <a:ext cx="2713228" cy="381000"/>
          </a:xfrm>
          <a:prstGeom prst="roundRect">
            <a:avLst>
              <a:gd name="adj" fmla="val 35000"/>
            </a:avLst>
          </a:prstGeom>
          <a:solidFill>
            <a:srgbClr val="E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400">
                <a:solidFill>
                  <a:srgbClr val="6A4FA0"/>
                </a:solidFill>
                <a:latin typeface="Consolas"/>
              </a:rPr>
              <a:t>android-commit-reviewer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92068" y="1874520"/>
            <a:ext cx="2602991" cy="381000"/>
          </a:xfrm>
          <a:prstGeom prst="roundRect">
            <a:avLst>
              <a:gd name="adj" fmla="val 35000"/>
            </a:avLst>
          </a:prstGeom>
          <a:solidFill>
            <a:srgbClr val="E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400">
                <a:solidFill>
                  <a:srgbClr val="6A4FA0"/>
                </a:solidFill>
                <a:latin typeface="Consolas"/>
              </a:rPr>
              <a:t>qt-cpp-commit-reviewer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6659" y="1874520"/>
            <a:ext cx="3374644" cy="381000"/>
          </a:xfrm>
          <a:prstGeom prst="roundRect">
            <a:avLst>
              <a:gd name="adj" fmla="val 35000"/>
            </a:avLst>
          </a:prstGeom>
          <a:solidFill>
            <a:srgbClr val="E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400">
                <a:solidFill>
                  <a:srgbClr val="6A4FA0"/>
                </a:solidFill>
                <a:latin typeface="Consolas"/>
              </a:rPr>
              <a:t>python-pep8-security-reviewer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407920"/>
            <a:ext cx="2492756" cy="381000"/>
          </a:xfrm>
          <a:prstGeom prst="roundRect">
            <a:avLst>
              <a:gd name="adj" fmla="val 35000"/>
            </a:avLst>
          </a:prstGeom>
          <a:solidFill>
            <a:srgbClr val="E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400">
                <a:solidFill>
                  <a:srgbClr val="6A4FA0"/>
                </a:solidFill>
                <a:latin typeface="Consolas"/>
              </a:rPr>
              <a:t>architecture-reviewer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1596" y="2407920"/>
            <a:ext cx="2162048" cy="381000"/>
          </a:xfrm>
          <a:prstGeom prst="roundRect">
            <a:avLst>
              <a:gd name="adj" fmla="val 35000"/>
            </a:avLst>
          </a:prstGeom>
          <a:solidFill>
            <a:srgbClr val="E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400">
                <a:solidFill>
                  <a:srgbClr val="6A4FA0"/>
                </a:solidFill>
                <a:latin typeface="Consolas"/>
              </a:rPr>
              <a:t>refactor-assistant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35244" y="2407920"/>
            <a:ext cx="1390395" cy="381000"/>
          </a:xfrm>
          <a:prstGeom prst="roundRect">
            <a:avLst>
              <a:gd name="adj" fmla="val 35000"/>
            </a:avLst>
          </a:prstGeom>
          <a:solidFill>
            <a:srgbClr val="E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400">
                <a:solidFill>
                  <a:srgbClr val="6A4FA0"/>
                </a:solidFill>
                <a:latin typeface="Consolas"/>
              </a:rPr>
              <a:t>test-writer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27239" y="2407920"/>
            <a:ext cx="2162048" cy="381000"/>
          </a:xfrm>
          <a:prstGeom prst="roundRect">
            <a:avLst>
              <a:gd name="adj" fmla="val 35000"/>
            </a:avLst>
          </a:prstGeom>
          <a:solidFill>
            <a:srgbClr val="E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400">
                <a:solidFill>
                  <a:srgbClr val="6A4FA0"/>
                </a:solidFill>
                <a:latin typeface="Consolas"/>
              </a:rPr>
              <a:t>dependency-auditor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941320"/>
            <a:ext cx="2272284" cy="381000"/>
          </a:xfrm>
          <a:prstGeom prst="roundRect">
            <a:avLst>
              <a:gd name="adj" fmla="val 35000"/>
            </a:avLst>
          </a:prstGeom>
          <a:solidFill>
            <a:srgbClr val="E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400">
                <a:solidFill>
                  <a:srgbClr val="6A4FA0"/>
                </a:solidFill>
                <a:latin typeface="Consolas"/>
              </a:rPr>
              <a:t>dependency-upgrader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1124" y="2941320"/>
            <a:ext cx="2051812" cy="381000"/>
          </a:xfrm>
          <a:prstGeom prst="roundRect">
            <a:avLst>
              <a:gd name="adj" fmla="val 35000"/>
            </a:avLst>
          </a:prstGeom>
          <a:solidFill>
            <a:srgbClr val="E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400">
                <a:solidFill>
                  <a:srgbClr val="6A4FA0"/>
                </a:solidFill>
                <a:latin typeface="Consolas"/>
              </a:rPr>
              <a:t>tech-debt-tracker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4536" y="2941320"/>
            <a:ext cx="2051812" cy="381000"/>
          </a:xfrm>
          <a:prstGeom prst="roundRect">
            <a:avLst>
              <a:gd name="adj" fmla="val 35000"/>
            </a:avLst>
          </a:prstGeom>
          <a:solidFill>
            <a:srgbClr val="E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400">
                <a:solidFill>
                  <a:srgbClr val="6A4FA0"/>
                </a:solidFill>
                <a:latin typeface="Consolas"/>
              </a:rPr>
              <a:t>api-doc-generator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7948" y="2941320"/>
            <a:ext cx="2492756" cy="381000"/>
          </a:xfrm>
          <a:prstGeom prst="roundRect">
            <a:avLst>
              <a:gd name="adj" fmla="val 35000"/>
            </a:avLst>
          </a:prstGeom>
          <a:solidFill>
            <a:srgbClr val="E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400">
                <a:solidFill>
                  <a:srgbClr val="6A4FA0"/>
                </a:solidFill>
                <a:latin typeface="Consolas"/>
              </a:rPr>
              <a:t>pr-description-writer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2304" y="2941320"/>
            <a:ext cx="949451" cy="381000"/>
          </a:xfrm>
          <a:prstGeom prst="roundRect">
            <a:avLst>
              <a:gd name="adj" fmla="val 35000"/>
            </a:avLst>
          </a:prstGeom>
          <a:solidFill>
            <a:srgbClr val="E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400">
                <a:solidFill>
                  <a:srgbClr val="6A4FA0"/>
                </a:solidFill>
                <a:latin typeface="Consolas"/>
              </a:rPr>
              <a:t>/commit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292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A4FA0"/>
                </a:solidFill>
                <a:latin typeface="Consolas"/>
              </a:rPr>
              <a:t>11 agent + 1 skill</a:t>
            </a:r>
            <a:r>
              <a:rPr sz="1100" b="0">
                <a:solidFill>
                  <a:srgbClr val="8891A0"/>
                </a:solidFill>
                <a:latin typeface="Segoe UI"/>
              </a:rPr>
              <a:t>  ·  bao phủ review theo stack (Android/Qt-C++/Python), kiến trúc, refactor, test, dependency, tài liệu API, PR.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8891A0"/>
                </a:solidFill>
                <a:latin typeface="Consolas"/>
              </a:rPr>
              <a:t>Giai đoạn 03 — không đổi so với bản trước, đầy đủ nhất trong 6 giai đoạn về số lượng reviewer theo stack.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8891A0"/>
                </a:solidFill>
                <a:latin typeface="Consolas"/>
              </a:rPr>
              <a:t>GIAI ĐOẠN 04–05 · KIỂM THỬ &amp; TRIỂN KHAI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544068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5440680" cy="40640"/>
          </a:xfrm>
          <a:prstGeom prst="rect">
            <a:avLst/>
          </a:prstGeom>
          <a:solidFill>
            <a:srgbClr val="A14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27632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1" i="0">
                <a:solidFill>
                  <a:srgbClr val="A14F6E"/>
                </a:solidFill>
                <a:latin typeface="Consolas"/>
              </a:rPr>
              <a:t>04 · KIỂM THỬ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1" i="0">
                <a:solidFill>
                  <a:srgbClr val="171B24"/>
                </a:solidFill>
                <a:latin typeface="Consolas"/>
              </a:rPr>
              <a:t>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507492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B6472"/>
                </a:solidFill>
                <a:latin typeface="Segoe UI"/>
              </a:rPr>
              <a:t>Phát hiện lỗi trước khi đến tay người dùng; xác nhận phần mềm hoạt động đúng kỳ vọng.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063240"/>
            <a:ext cx="1595120" cy="330200"/>
          </a:xfrm>
          <a:prstGeom prst="roundRect">
            <a:avLst>
              <a:gd name="adj" fmla="val 35000"/>
            </a:avLst>
          </a:prstGeom>
          <a:solidFill>
            <a:srgbClr val="F5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200">
                <a:solidFill>
                  <a:srgbClr val="A14F6E"/>
                </a:solidFill>
                <a:latin typeface="Consolas"/>
              </a:rPr>
              <a:t>e2e-test-runner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44420" y="3063240"/>
            <a:ext cx="2256535" cy="330200"/>
          </a:xfrm>
          <a:prstGeom prst="roundRect">
            <a:avLst>
              <a:gd name="adj" fmla="val 35000"/>
            </a:avLst>
          </a:prstGeom>
          <a:solidFill>
            <a:srgbClr val="F5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200">
                <a:solidFill>
                  <a:srgbClr val="A14F6E"/>
                </a:solidFill>
                <a:latin typeface="Consolas"/>
              </a:rPr>
              <a:t>test-coverage-analyzer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495040"/>
            <a:ext cx="1973071" cy="330200"/>
          </a:xfrm>
          <a:prstGeom prst="roundRect">
            <a:avLst>
              <a:gd name="adj" fmla="val 35000"/>
            </a:avLst>
          </a:prstGeom>
          <a:solidFill>
            <a:srgbClr val="F5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200">
                <a:solidFill>
                  <a:srgbClr val="A14F6E"/>
                </a:solidFill>
                <a:latin typeface="Consolas"/>
              </a:rPr>
              <a:t>flaky-test-detector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22371" y="3495040"/>
            <a:ext cx="1689608" cy="330200"/>
          </a:xfrm>
          <a:prstGeom prst="roundRect">
            <a:avLst>
              <a:gd name="adj" fmla="val 35000"/>
            </a:avLst>
          </a:prstGeom>
          <a:solidFill>
            <a:srgbClr val="F5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200">
                <a:solidFill>
                  <a:srgbClr val="A14F6E"/>
                </a:solidFill>
                <a:latin typeface="Consolas"/>
              </a:rPr>
              <a:t>security-auditor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926840"/>
            <a:ext cx="2067559" cy="330200"/>
          </a:xfrm>
          <a:prstGeom prst="roundRect">
            <a:avLst>
              <a:gd name="adj" fmla="val 35000"/>
            </a:avLst>
          </a:prstGeom>
          <a:solidFill>
            <a:srgbClr val="F5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200">
                <a:solidFill>
                  <a:srgbClr val="A14F6E"/>
                </a:solidFill>
                <a:latin typeface="Consolas"/>
              </a:rPr>
              <a:t>performance-profiler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440680"/>
            <a:ext cx="507492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8891A0"/>
                </a:solidFill>
                <a:latin typeface="Segoe UI"/>
              </a:rPr>
              <a:t>Đầu ra: </a:t>
            </a:r>
            <a:r>
              <a:rPr sz="1050" b="0">
                <a:solidFill>
                  <a:srgbClr val="8891A0"/>
                </a:solidFill>
                <a:latin typeface="Segoe UI"/>
              </a:rPr>
              <a:t>coverage report, test suite, danh sách lỗi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63040"/>
            <a:ext cx="544068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463040"/>
            <a:ext cx="5440680" cy="40640"/>
          </a:xfrm>
          <a:prstGeom prst="rect">
            <a:avLst/>
          </a:prstGeom>
          <a:solidFill>
            <a:srgbClr val="B87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627632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1" i="0">
                <a:solidFill>
                  <a:srgbClr val="B8782E"/>
                </a:solidFill>
                <a:latin typeface="Consolas"/>
              </a:rPr>
              <a:t>05 · TRIỂN KHAI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92024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1" i="0">
                <a:solidFill>
                  <a:srgbClr val="171B24"/>
                </a:solidFill>
                <a:latin typeface="Consolas"/>
              </a:rPr>
              <a:t>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77440"/>
            <a:ext cx="507492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B6472"/>
                </a:solidFill>
                <a:latin typeface="Segoe UI"/>
              </a:rPr>
              <a:t>Đưa phần mềm đã kiểm thử vào production — an toàn, có thể lặp lại.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063240"/>
            <a:ext cx="1689608" cy="330200"/>
          </a:xfrm>
          <a:prstGeom prst="roundRect">
            <a:avLst>
              <a:gd name="adj" fmla="val 35000"/>
            </a:avLst>
          </a:prstGeom>
          <a:solidFill>
            <a:srgbClr val="F6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200">
                <a:solidFill>
                  <a:srgbClr val="B8782E"/>
                </a:solidFill>
                <a:latin typeface="Consolas"/>
              </a:rPr>
              <a:t>docker-optimizer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53908" y="3063240"/>
            <a:ext cx="1311656" cy="330200"/>
          </a:xfrm>
          <a:prstGeom prst="roundRect">
            <a:avLst>
              <a:gd name="adj" fmla="val 35000"/>
            </a:avLst>
          </a:prstGeom>
          <a:solidFill>
            <a:srgbClr val="F6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200">
                <a:solidFill>
                  <a:srgbClr val="B8782E"/>
                </a:solidFill>
                <a:latin typeface="Consolas"/>
              </a:rPr>
              <a:t>iac-reviewer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29064" y="3063240"/>
            <a:ext cx="933704" cy="330200"/>
          </a:xfrm>
          <a:prstGeom prst="roundRect">
            <a:avLst>
              <a:gd name="adj" fmla="val 35000"/>
            </a:avLst>
          </a:prstGeom>
          <a:solidFill>
            <a:srgbClr val="F6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200">
                <a:solidFill>
                  <a:srgbClr val="B8782E"/>
                </a:solidFill>
                <a:latin typeface="Consolas"/>
              </a:rPr>
              <a:t>ci-fixer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495040"/>
            <a:ext cx="2067559" cy="330200"/>
          </a:xfrm>
          <a:prstGeom prst="roundRect">
            <a:avLst>
              <a:gd name="adj" fmla="val 35000"/>
            </a:avLst>
          </a:prstGeom>
          <a:solidFill>
            <a:srgbClr val="F6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200">
                <a:solidFill>
                  <a:srgbClr val="B8782E"/>
                </a:solidFill>
                <a:latin typeface="Consolas"/>
              </a:rPr>
              <a:t>deployment-validator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31859" y="3495040"/>
            <a:ext cx="1595120" cy="330200"/>
          </a:xfrm>
          <a:prstGeom prst="roundRect">
            <a:avLst>
              <a:gd name="adj" fmla="val 35000"/>
            </a:avLst>
          </a:prstGeom>
          <a:solidFill>
            <a:srgbClr val="F6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200">
                <a:solidFill>
                  <a:srgbClr val="B8782E"/>
                </a:solidFill>
                <a:latin typeface="Consolas"/>
              </a:rPr>
              <a:t>release-manager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440680"/>
            <a:ext cx="507492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8891A0"/>
                </a:solidFill>
                <a:latin typeface="Segoe UI"/>
              </a:rPr>
              <a:t>Đầu ra: </a:t>
            </a:r>
            <a:r>
              <a:rPr sz="1050" b="0">
                <a:solidFill>
                  <a:srgbClr val="8891A0"/>
                </a:solidFill>
                <a:latin typeface="Segoe UI"/>
              </a:rPr>
              <a:t>phần mềm chạy ở production, CI/CD ổn định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8891A0"/>
                </a:solidFill>
                <a:latin typeface="Consolas"/>
              </a:rPr>
              <a:t>Giai đoạn 04–05 — không đổi so với bản trước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8891A0"/>
                </a:solidFill>
                <a:latin typeface="Consolas"/>
              </a:rPr>
              <a:t>GIAI ĐOẠN 06 · VẬN HÀNH &amp; BẢO TRÌ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Giữ phần mềm chạy ổn định, phát hiện và xử lý sự cố nhanh, liên tục cải thiện.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1115568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11155680" cy="40640"/>
          </a:xfrm>
          <a:prstGeom prst="rect">
            <a:avLst/>
          </a:prstGeom>
          <a:solidFill>
            <a:srgbClr val="4C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20"/>
            <a:ext cx="2303780" cy="406400"/>
          </a:xfrm>
          <a:prstGeom prst="roundRect">
            <a:avLst>
              <a:gd name="adj" fmla="val 35000"/>
            </a:avLst>
          </a:prstGeom>
          <a:solidFill>
            <a:srgbClr val="E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500">
                <a:solidFill>
                  <a:srgbClr val="4C7A3A"/>
                </a:solidFill>
                <a:latin typeface="Consolas"/>
              </a:rPr>
              <a:t>incident-commander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8020" y="1874520"/>
            <a:ext cx="1595120" cy="406400"/>
          </a:xfrm>
          <a:prstGeom prst="roundRect">
            <a:avLst>
              <a:gd name="adj" fmla="val 35000"/>
            </a:avLst>
          </a:prstGeom>
          <a:solidFill>
            <a:srgbClr val="E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500">
                <a:solidFill>
                  <a:srgbClr val="4C7A3A"/>
                </a:solidFill>
                <a:latin typeface="Consolas"/>
              </a:rPr>
              <a:t>log-analyzer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0140" y="1874520"/>
            <a:ext cx="2421890" cy="406400"/>
          </a:xfrm>
          <a:prstGeom prst="roundRect">
            <a:avLst>
              <a:gd name="adj" fmla="val 35000"/>
            </a:avLst>
          </a:prstGeom>
          <a:solidFill>
            <a:srgbClr val="E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500">
                <a:solidFill>
                  <a:srgbClr val="4C7A3A"/>
                </a:solidFill>
                <a:latin typeface="Consolas"/>
              </a:rPr>
              <a:t>root-cause-analyzer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9030" y="1874520"/>
            <a:ext cx="2067560" cy="406400"/>
          </a:xfrm>
          <a:prstGeom prst="roundRect">
            <a:avLst>
              <a:gd name="adj" fmla="val 35000"/>
            </a:avLst>
          </a:prstGeom>
          <a:solidFill>
            <a:srgbClr val="E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500">
                <a:solidFill>
                  <a:srgbClr val="4C7A3A"/>
                </a:solidFill>
                <a:latin typeface="Consolas"/>
              </a:rPr>
              <a:t>changelog-writer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458720"/>
            <a:ext cx="2067560" cy="406400"/>
          </a:xfrm>
          <a:prstGeom prst="roundRect">
            <a:avLst>
              <a:gd name="adj" fmla="val 35000"/>
            </a:avLst>
          </a:prstGeom>
          <a:solidFill>
            <a:srgbClr val="E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500">
                <a:solidFill>
                  <a:srgbClr val="4C7A3A"/>
                </a:solidFill>
                <a:latin typeface="Consolas"/>
              </a:rPr>
              <a:t>onboarding-guide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2458720"/>
            <a:ext cx="1713230" cy="406400"/>
          </a:xfrm>
          <a:prstGeom prst="roundRect">
            <a:avLst>
              <a:gd name="adj" fmla="val 35000"/>
            </a:avLst>
          </a:prstGeom>
          <a:solidFill>
            <a:srgbClr val="E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500">
                <a:solidFill>
                  <a:srgbClr val="4C7A3A"/>
                </a:solidFill>
                <a:latin typeface="Consolas"/>
              </a:rPr>
              <a:t>docs-reviewer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12030" y="2458720"/>
            <a:ext cx="1358900" cy="406400"/>
          </a:xfrm>
          <a:prstGeom prst="roundRect">
            <a:avLst>
              <a:gd name="adj" fmla="val 35000"/>
            </a:avLst>
          </a:prstGeom>
          <a:solidFill>
            <a:srgbClr val="E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1500">
                <a:solidFill>
                  <a:srgbClr val="4C7A3A"/>
                </a:solidFill>
                <a:latin typeface="Consolas"/>
              </a:rPr>
              <a:t>doc-writer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292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891A0"/>
                </a:solidFill>
                <a:latin typeface="Segoe UI"/>
              </a:rPr>
              <a:t>Đầu ra: </a:t>
            </a:r>
            <a:r>
              <a:rPr sz="1100" b="0">
                <a:solidFill>
                  <a:srgbClr val="8891A0"/>
                </a:solidFill>
                <a:latin typeface="Segoe UI"/>
              </a:rPr>
              <a:t>hệ thống ổn định, sự cố được xử lý đúng nguyên nhân gốc, tài liệu luôn cập nhật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8891A0"/>
                </a:solidFill>
                <a:latin typeface="Consolas"/>
              </a:rPr>
              <a:t>Giai đoạn 06 — không đổi so với bản trước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8891A0"/>
                </a:solidFill>
                <a:latin typeface="Consolas"/>
              </a:rPr>
              <a:t>HOẠT ĐỘNG XUYÊN SUỐT TOÀN BỘ QUY TRÌNH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Không thuộc riêng một giai đoạn — chạy lặp lại ở mọi giai đoạn, giống "lớp kiểm soát" Quality Management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độc lập mà các tổ chức đạt CMMI cấp 5 (như FSoft) vận hành song song với Production.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2697480" cy="1965960"/>
          </a:xfrm>
          <a:prstGeom prst="roundRect">
            <a:avLst>
              <a:gd name="adj" fmla="val 6000"/>
            </a:avLst>
          </a:prstGeom>
          <a:solidFill>
            <a:srgbClr val="F3E4CC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1" i="0">
                <a:solidFill>
                  <a:srgbClr val="171B24"/>
                </a:solidFill>
                <a:latin typeface="Segoe UI"/>
              </a:rPr>
              <a:t>Version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42316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5B6472"/>
                </a:solidFill>
                <a:latin typeface="Segoe UI"/>
              </a:rPr>
              <a:t>Mọi thay đổi qua Git, commit message rõ ràng, nhánh tách biệt khỏi nhánh chính.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28416" y="1600200"/>
            <a:ext cx="2697480" cy="1965960"/>
          </a:xfrm>
          <a:prstGeom prst="roundRect">
            <a:avLst>
              <a:gd name="adj" fmla="val 6000"/>
            </a:avLst>
          </a:prstGeom>
          <a:solidFill>
            <a:srgbClr val="F3E4CC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65576" y="1737360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1" i="0">
                <a:solidFill>
                  <a:srgbClr val="171B24"/>
                </a:solidFill>
                <a:latin typeface="Segoe UI"/>
              </a:rPr>
              <a:t>Code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65576" y="2103120"/>
            <a:ext cx="242316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5B6472"/>
                </a:solidFill>
                <a:latin typeface="Segoe UI"/>
              </a:rPr>
              <a:t>Cổng chất lượng lặp lại ở mỗi lần thay đổi code, không phải một giai đoạn riêng.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5576" y="3182112"/>
            <a:ext cx="1599057" cy="25400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950">
                <a:solidFill>
                  <a:srgbClr val="B06F1F"/>
                </a:solidFill>
                <a:latin typeface="Consolas"/>
              </a:rPr>
              <a:t>reviewer theo stack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600200"/>
            <a:ext cx="2697480" cy="1965960"/>
          </a:xfrm>
          <a:prstGeom prst="roundRect">
            <a:avLst>
              <a:gd name="adj" fmla="val 6000"/>
            </a:avLst>
          </a:prstGeom>
          <a:solidFill>
            <a:srgbClr val="F3E4CC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1737360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1" i="0">
                <a:solidFill>
                  <a:srgbClr val="171B24"/>
                </a:solidFill>
                <a:latin typeface="Segoe UI"/>
              </a:rPr>
              <a:t>CI/CD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2103120"/>
            <a:ext cx="242316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5B6472"/>
                </a:solidFill>
                <a:latin typeface="Segoe UI"/>
              </a:rPr>
              <a:t>Build, test, lint, scan bảo mật tự động mỗi commit/PR.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3182112"/>
            <a:ext cx="776224" cy="25400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950">
                <a:solidFill>
                  <a:srgbClr val="B06F1F"/>
                </a:solidFill>
                <a:latin typeface="Consolas"/>
              </a:rPr>
              <a:t>ci-fixer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9408" y="1600200"/>
            <a:ext cx="2697480" cy="1965960"/>
          </a:xfrm>
          <a:prstGeom prst="roundRect">
            <a:avLst>
              <a:gd name="adj" fmla="val 6000"/>
            </a:avLst>
          </a:prstGeom>
          <a:solidFill>
            <a:srgbClr val="F3E4CC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16568" y="1737360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1" i="0">
                <a:solidFill>
                  <a:srgbClr val="171B24"/>
                </a:solidFill>
                <a:latin typeface="Segoe UI"/>
              </a:rPr>
              <a:t>Tài liệu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6568" y="2103120"/>
            <a:ext cx="242316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5B6472"/>
                </a:solidFill>
                <a:latin typeface="Segoe UI"/>
              </a:rPr>
              <a:t>ADR, API doc, changelog, README cập nhật song song với code.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694176"/>
            <a:ext cx="2697480" cy="1965960"/>
          </a:xfrm>
          <a:prstGeom prst="roundRect">
            <a:avLst>
              <a:gd name="adj" fmla="val 6000"/>
            </a:avLst>
          </a:prstGeom>
          <a:solidFill>
            <a:srgbClr val="F3E4CC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831336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1" i="0">
                <a:solidFill>
                  <a:srgbClr val="171B24"/>
                </a:solidFill>
                <a:latin typeface="Segoe UI"/>
              </a:rPr>
              <a:t>Security by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197096"/>
            <a:ext cx="242316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5B6472"/>
                </a:solidFill>
                <a:latin typeface="Segoe UI"/>
              </a:rPr>
              <a:t>Rà soát bảo mật lồng từ thiết kế → coding → vận hành, không chỉ ở cuối.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276088"/>
            <a:ext cx="1225042" cy="25400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950">
                <a:solidFill>
                  <a:srgbClr val="B06F1F"/>
                </a:solidFill>
                <a:latin typeface="Consolas"/>
              </a:rPr>
              <a:t>threat-modeler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28416" y="3694176"/>
            <a:ext cx="2697480" cy="1965960"/>
          </a:xfrm>
          <a:prstGeom prst="roundRect">
            <a:avLst>
              <a:gd name="adj" fmla="val 6000"/>
            </a:avLst>
          </a:prstGeom>
          <a:solidFill>
            <a:srgbClr val="F3E4CC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65576" y="3831336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1" i="0">
                <a:solidFill>
                  <a:srgbClr val="171B24"/>
                </a:solidFill>
                <a:latin typeface="Segoe UI"/>
              </a:rPr>
              <a:t>Quality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65576" y="4197096"/>
            <a:ext cx="242316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5B6472"/>
                </a:solidFill>
                <a:latin typeface="Segoe UI"/>
              </a:rPr>
              <a:t>Đối chiếu định kỳ với checklist hồ sơ bắt buộc theo từng giai đoạn kiểu CMMI.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65576" y="5276088"/>
            <a:ext cx="1823465" cy="25400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950">
                <a:solidFill>
                  <a:srgbClr val="B06F1F"/>
                </a:solidFill>
                <a:latin typeface="Consolas"/>
              </a:rPr>
              <a:t>qms-compliance-checker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53912" y="3694176"/>
            <a:ext cx="2697480" cy="1965960"/>
          </a:xfrm>
          <a:prstGeom prst="roundRect">
            <a:avLst>
              <a:gd name="adj" fmla="val 6000"/>
            </a:avLst>
          </a:prstGeom>
          <a:solidFill>
            <a:srgbClr val="F3E4CC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1072" y="3831336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1" i="0">
                <a:solidFill>
                  <a:srgbClr val="171B24"/>
                </a:solidFill>
                <a:latin typeface="Segoe UI"/>
              </a:rPr>
              <a:t>Truy xuất yêu cầu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1072" y="4197096"/>
            <a:ext cx="242316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5B6472"/>
                </a:solidFill>
                <a:latin typeface="Segoe UI"/>
              </a:rPr>
              <a:t>Nối từng ID yêu cầu với thiết kế, code/PR, test case và kết quả test có bằng chứng.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91072" y="5276088"/>
            <a:ext cx="1000632" cy="25400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950">
                <a:solidFill>
                  <a:srgbClr val="B06F1F"/>
                </a:solidFill>
                <a:latin typeface="Consolas"/>
              </a:rPr>
              <a:t>rtm-manager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79408" y="3694176"/>
            <a:ext cx="2697480" cy="1965960"/>
          </a:xfrm>
          <a:prstGeom prst="roundRect">
            <a:avLst>
              <a:gd name="adj" fmla="val 6000"/>
            </a:avLst>
          </a:prstGeom>
          <a:solidFill>
            <a:srgbClr val="F3E4CC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16568" y="3831336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1" i="0">
                <a:solidFill>
                  <a:srgbClr val="171B24"/>
                </a:solidFill>
                <a:latin typeface="Segoe UI"/>
              </a:rPr>
              <a:t>Điều phối chọn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6568" y="4197096"/>
            <a:ext cx="242316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5B6472"/>
                </a:solidFill>
                <a:latin typeface="Segoe UI"/>
              </a:rPr>
              <a:t>Tư vấn nên dùng agent nào cho một việc cụ thể, đọc trực tiếp danh sách đã đăng ký.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16568" y="5276088"/>
            <a:ext cx="1225042" cy="25400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950">
                <a:solidFill>
                  <a:srgbClr val="B06F1F"/>
                </a:solidFill>
                <a:latin typeface="Consolas"/>
              </a:rPr>
              <a:t>/agent-advisor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8891A0"/>
                </a:solidFill>
                <a:latin typeface="Consolas"/>
              </a:rPr>
              <a:t>Phần "Hoạt động xuyên suốt" — SDLC/QUY_TRINH_SAN_XUAT_PHAN_MEM.md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8891A0"/>
                </a:solidFill>
                <a:latin typeface="Consolas"/>
              </a:rPr>
              <a:t>MÔ HÌNH TRIỂN KHAI SDLC PHỔ BIẾN TRÊN THẾ GIỚI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Cùng một bộ giai đoạn cốt lõi — khác nhau ở cách sắp xếp và lặp lại. FSoft dùng V-Model cho dự án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fix-price (khách Nhật) và Agile/Scrum cho sản phẩm số (khách Âu-Mỹ).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36118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837944"/>
            <a:ext cx="3282696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171B24"/>
                </a:solidFill>
                <a:latin typeface="Consolas"/>
              </a:rPr>
              <a:t>Waterfall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221992"/>
            <a:ext cx="3282696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Tuyến tính, hoàn tất mỗi giai đoạn mới sang bước sau, hầu như không lặp lại.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3291840"/>
            <a:ext cx="3282696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8891A0"/>
                </a:solidFill>
                <a:latin typeface="Segoe UI"/>
              </a:rPr>
              <a:t>Phù hợp: </a:t>
            </a:r>
            <a:r>
              <a:rPr sz="950" b="0">
                <a:solidFill>
                  <a:srgbClr val="8891A0"/>
                </a:solidFill>
                <a:latin typeface="Segoe UI"/>
              </a:rPr>
              <a:t>yêu cầu đã rõ, ổn định — hệ nhúng, hợp đồng fix-price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691640"/>
            <a:ext cx="36118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1837944"/>
            <a:ext cx="3282696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171B24"/>
                </a:solidFill>
                <a:latin typeface="Consolas"/>
              </a:rPr>
              <a:t>V-Model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2221992"/>
            <a:ext cx="3282696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Mỗi giai đoạn phát triển có một giai đoạn kiểm thử tương ứng — verification &amp; validation song hành.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3291840"/>
            <a:ext cx="3282696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8891A0"/>
                </a:solidFill>
                <a:latin typeface="Segoe UI"/>
              </a:rPr>
              <a:t>Phù hợp: </a:t>
            </a:r>
            <a:r>
              <a:rPr sz="950" b="0">
                <a:solidFill>
                  <a:srgbClr val="8891A0"/>
                </a:solidFill>
                <a:latin typeface="Segoe UI"/>
              </a:rPr>
              <a:t>cần tài liệu đầy đủ, truy xuất được — outsourcing Nhật/Âu, y tế, tài chính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691640"/>
            <a:ext cx="36118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1837944"/>
            <a:ext cx="3282696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171B24"/>
                </a:solidFill>
                <a:latin typeface="Consolas"/>
              </a:rPr>
              <a:t>Iterative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2221992"/>
            <a:ext cx="3282696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Chia nhỏ thành nhiều vòng lặp, mỗi vòng ra một phiên bản hoàn thiện hơn.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3291840"/>
            <a:ext cx="3282696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8891A0"/>
                </a:solidFill>
                <a:latin typeface="Segoe UI"/>
              </a:rPr>
              <a:t>Phù hợp: </a:t>
            </a:r>
            <a:r>
              <a:rPr sz="950" b="0">
                <a:solidFill>
                  <a:srgbClr val="8891A0"/>
                </a:solidFill>
                <a:latin typeface="Segoe UI"/>
              </a:rPr>
              <a:t>yêu cầu chưa hoàn toàn rõ nhưng cần sản phẩm dùng được sớm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023360"/>
            <a:ext cx="36118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4169664"/>
            <a:ext cx="3282696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171B24"/>
                </a:solidFill>
                <a:latin typeface="Consolas"/>
              </a:rPr>
              <a:t>Spiral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4553712"/>
            <a:ext cx="3282696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Kết hợp iterative với đánh giá rủi ro ở mỗi vòng lặp.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5623560"/>
            <a:ext cx="3282696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8891A0"/>
                </a:solidFill>
                <a:latin typeface="Segoe UI"/>
              </a:rPr>
              <a:t>Phù hợp: </a:t>
            </a:r>
            <a:r>
              <a:rPr sz="950" b="0">
                <a:solidFill>
                  <a:srgbClr val="8891A0"/>
                </a:solidFill>
                <a:latin typeface="Segoe UI"/>
              </a:rPr>
              <a:t>dự án lớn, rủi ro cao — hàng không, quốc phòng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4023360"/>
            <a:ext cx="36118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16552" y="4169664"/>
            <a:ext cx="3282696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171B24"/>
                </a:solidFill>
                <a:latin typeface="Consolas"/>
              </a:rPr>
              <a:t>Agile (Scrum/Kanban/XP)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2" y="4553712"/>
            <a:ext cx="3282696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Sprint ngắn 1–4 tuần, ưu tiên phản hồi nhanh, thay đổi linh hoạt.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5623560"/>
            <a:ext cx="3282696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8891A0"/>
                </a:solidFill>
                <a:latin typeface="Segoe UI"/>
              </a:rPr>
              <a:t>Phù hợp: </a:t>
            </a:r>
            <a:r>
              <a:rPr sz="950" b="0">
                <a:solidFill>
                  <a:srgbClr val="8891A0"/>
                </a:solidFill>
                <a:latin typeface="Segoe UI"/>
              </a:rPr>
              <a:t>sản phẩm số, yêu cầu thay đổi liên tục, cần ra thị trường nhanh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4023360"/>
            <a:ext cx="36118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65592" y="4169664"/>
            <a:ext cx="3282696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171B24"/>
                </a:solidFill>
                <a:latin typeface="Consolas"/>
              </a:rPr>
              <a:t>DevOps / CD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5592" y="4553712"/>
            <a:ext cx="3282696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Xóa nhòa ranh giới dev–ops, tự động hóa CI/CD, release liên tục nhiều lần/ngày.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5592" y="5623560"/>
            <a:ext cx="3282696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8891A0"/>
                </a:solidFill>
                <a:latin typeface="Segoe UI"/>
              </a:rPr>
              <a:t>Phù hợp: </a:t>
            </a:r>
            <a:r>
              <a:rPr sz="950" b="0">
                <a:solidFill>
                  <a:srgbClr val="8891A0"/>
                </a:solidFill>
                <a:latin typeface="Segoe UI"/>
              </a:rPr>
              <a:t>SaaS/web-scale, cần tốc độ release cao, phản hồi production nhanh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8891A0"/>
                </a:solidFill>
                <a:latin typeface="Consolas"/>
              </a:rPr>
              <a:t>Phần A — SDLC/QUY_TRINH_SAN_XUAT_PHAN_MEM.md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8891A0"/>
                </a:solidFill>
                <a:latin typeface="Consolas"/>
              </a:rPr>
              <a:t>CHỌN CÔNG CỤ THEO TÌNH HUỐNG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Tra nhanh: đang ở tình huống nào thì nên gọi agent nào.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11155680" cy="365760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1" i="0">
                <a:solidFill>
                  <a:srgbClr val="8891A0"/>
                </a:solidFill>
                <a:latin typeface="Consolas"/>
              </a:rPr>
              <a:t>TÔI ĐANG...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144475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1" i="0">
                <a:solidFill>
                  <a:srgbClr val="8891A0"/>
                </a:solidFill>
                <a:latin typeface="Consolas"/>
              </a:rPr>
              <a:t>NÊN DÙNG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11155680" cy="40732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989320" cy="407323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Yêu cầu nghiệp vụ còn mơ hồ, cần user story rõ ràng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826721"/>
            <a:ext cx="1673860" cy="228600"/>
          </a:xfrm>
          <a:prstGeom prst="roundRect">
            <a:avLst>
              <a:gd name="adj" fmla="val 35000"/>
            </a:avLst>
          </a:prstGeom>
          <a:solidFill>
            <a:srgbClr val="E3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950">
                <a:solidFill>
                  <a:srgbClr val="2E7D6B"/>
                </a:solidFill>
                <a:latin typeface="Consolas"/>
              </a:rPr>
              <a:t>requirements-analyst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44683"/>
            <a:ext cx="11155680" cy="407323"/>
          </a:xfrm>
          <a:prstGeom prst="roundRect">
            <a:avLst>
              <a:gd name="adj" fmla="val 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90403"/>
            <a:ext cx="5989320" cy="407323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Lên kế hoạch cho một tính năng lớn chưa có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2234044"/>
            <a:ext cx="1374648" cy="228600"/>
          </a:xfrm>
          <a:prstGeom prst="roundRect">
            <a:avLst>
              <a:gd name="adj" fmla="val 35000"/>
            </a:avLst>
          </a:prstGeom>
          <a:solidFill>
            <a:srgbClr val="E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950">
                <a:solidFill>
                  <a:srgbClr val="35679E"/>
                </a:solidFill>
                <a:latin typeface="Consolas"/>
              </a:rPr>
              <a:t>system-architect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552006"/>
            <a:ext cx="11155680" cy="40732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597726"/>
            <a:ext cx="5989320" cy="407323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Căn soát rủi ro bảo mật TRƯỚC khi code, ở bước thiết kế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2641367"/>
            <a:ext cx="1225042" cy="228600"/>
          </a:xfrm>
          <a:prstGeom prst="roundRect">
            <a:avLst>
              <a:gd name="adj" fmla="val 35000"/>
            </a:avLst>
          </a:prstGeom>
          <a:solidFill>
            <a:srgbClr val="E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950">
                <a:solidFill>
                  <a:srgbClr val="35679E"/>
                </a:solidFill>
                <a:latin typeface="Consolas"/>
              </a:rPr>
              <a:t>threat-modeler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959329"/>
            <a:ext cx="11155680" cy="407323"/>
          </a:xfrm>
          <a:prstGeom prst="roundRect">
            <a:avLst>
              <a:gd name="adj" fmla="val 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005049"/>
            <a:ext cx="5989320" cy="407323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Phương án kiến trúc đã chốt, cần tài liệu HLD chính thức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3048690"/>
            <a:ext cx="1599057" cy="228600"/>
          </a:xfrm>
          <a:prstGeom prst="roundRect">
            <a:avLst>
              <a:gd name="adj" fmla="val 35000"/>
            </a:avLst>
          </a:prstGeom>
          <a:solidFill>
            <a:srgbClr val="E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950">
                <a:solidFill>
                  <a:srgbClr val="35679E"/>
                </a:solidFill>
                <a:latin typeface="Consolas"/>
              </a:rPr>
              <a:t>high-level-designer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366652"/>
            <a:ext cx="11155680" cy="40732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412372"/>
            <a:ext cx="5989320" cy="407323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HLD đã chốt, cần chi tiết class/sequence trước khi code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3456013"/>
            <a:ext cx="1524254" cy="228600"/>
          </a:xfrm>
          <a:prstGeom prst="roundRect">
            <a:avLst>
              <a:gd name="adj" fmla="val 35000"/>
            </a:avLst>
          </a:prstGeom>
          <a:solidFill>
            <a:srgbClr val="E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950">
                <a:solidFill>
                  <a:srgbClr val="35679E"/>
                </a:solidFill>
                <a:latin typeface="Consolas"/>
              </a:rPr>
              <a:t>low-level-designer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773975"/>
            <a:ext cx="11155680" cy="407323"/>
          </a:xfrm>
          <a:prstGeom prst="roundRect">
            <a:avLst>
              <a:gd name="adj" fmla="val 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819695"/>
            <a:ext cx="5989320" cy="407323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Chưa có migration nào, cần thiết kế schema/ERD mới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20840" y="3863336"/>
            <a:ext cx="1075436" cy="228600"/>
          </a:xfrm>
          <a:prstGeom prst="roundRect">
            <a:avLst>
              <a:gd name="adj" fmla="val 35000"/>
            </a:avLst>
          </a:prstGeom>
          <a:solidFill>
            <a:srgbClr val="E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950">
                <a:solidFill>
                  <a:srgbClr val="35679E"/>
                </a:solidFill>
                <a:latin typeface="Consolas"/>
              </a:rPr>
              <a:t>data-modeler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181298"/>
            <a:ext cx="11155680" cy="40732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227018"/>
            <a:ext cx="5989320" cy="407323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Cần đặc tả luồng màn hình/UI trước khi code giao diện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20840" y="4270659"/>
            <a:ext cx="1225042" cy="228600"/>
          </a:xfrm>
          <a:prstGeom prst="roundRect">
            <a:avLst>
              <a:gd name="adj" fmla="val 35000"/>
            </a:avLst>
          </a:prstGeom>
          <a:solidFill>
            <a:srgbClr val="E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950">
                <a:solidFill>
                  <a:srgbClr val="35679E"/>
                </a:solidFill>
                <a:latin typeface="Consolas"/>
              </a:rPr>
              <a:t>ui-ux-designer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588621"/>
            <a:ext cx="11155680" cy="407323"/>
          </a:xfrm>
          <a:prstGeom prst="roundRect">
            <a:avLst>
              <a:gd name="adj" fmla="val 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634341"/>
            <a:ext cx="5989320" cy="407323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Vừa code xong PoC/spike, cần đánh giá go/no-go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20840" y="4677982"/>
            <a:ext cx="1150239" cy="228600"/>
          </a:xfrm>
          <a:prstGeom prst="roundRect">
            <a:avLst>
              <a:gd name="adj" fmla="val 35000"/>
            </a:avLst>
          </a:prstGeom>
          <a:solidFill>
            <a:srgbClr val="E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950">
                <a:solidFill>
                  <a:srgbClr val="35679E"/>
                </a:solidFill>
                <a:latin typeface="Consolas"/>
              </a:rPr>
              <a:t>poc-evaluator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995944"/>
            <a:ext cx="11155680" cy="40732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041664"/>
            <a:ext cx="5989320" cy="407323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Cần Test Plan trước khi team viết test case thật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20840" y="5085305"/>
            <a:ext cx="1374648" cy="228600"/>
          </a:xfrm>
          <a:prstGeom prst="roundRect">
            <a:avLst>
              <a:gd name="adj" fmla="val 35000"/>
            </a:avLst>
          </a:prstGeom>
          <a:solidFill>
            <a:srgbClr val="E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950">
                <a:solidFill>
                  <a:srgbClr val="35679E"/>
                </a:solidFill>
                <a:latin typeface="Consolas"/>
              </a:rPr>
              <a:t>test-plan-writer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403267"/>
            <a:ext cx="11155680" cy="407323"/>
          </a:xfrm>
          <a:prstGeom prst="roundRect">
            <a:avLst>
              <a:gd name="adj" fmla="val 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448987"/>
            <a:ext cx="5989320" cy="407323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Đã có effort ước lượng, cần dựng thành WBS phân cấp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20840" y="5492628"/>
            <a:ext cx="925830" cy="228600"/>
          </a:xfrm>
          <a:prstGeom prst="roundRect">
            <a:avLst>
              <a:gd name="adj" fmla="val 35000"/>
            </a:avLst>
          </a:prstGeom>
          <a:solidFill>
            <a:srgbClr val="E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950">
                <a:solidFill>
                  <a:srgbClr val="35679E"/>
                </a:solidFill>
                <a:latin typeface="Consolas"/>
              </a:rPr>
              <a:t>wbs-writer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810590"/>
            <a:ext cx="11155680" cy="40732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856310"/>
            <a:ext cx="5989320" cy="407323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Chuẩn bị merge một PR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720840" y="5899951"/>
            <a:ext cx="3394329" cy="228600"/>
          </a:xfrm>
          <a:prstGeom prst="roundRect">
            <a:avLst>
              <a:gd name="adj" fmla="val 35000"/>
            </a:avLst>
          </a:prstGeom>
          <a:solidFill>
            <a:srgbClr val="E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950">
                <a:solidFill>
                  <a:srgbClr val="6A4FA0"/>
                </a:solidFill>
                <a:latin typeface="Consolas"/>
              </a:rPr>
              <a:t>reviewer theo stack + pr-description-writer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8891A0"/>
                </a:solidFill>
                <a:latin typeface="Consolas"/>
              </a:rPr>
              <a:t>SDLC/QUY_TRINH_SAN_XUAT_PHAN_MEM.md — "Tóm tắt nhanh"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8891A0"/>
                </a:solidFill>
                <a:latin typeface="Consolas"/>
              </a:rPr>
              <a:t>CHỌN CÔNG CỤ THEO TÌNH HUỐNG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Tra nhanh: đang ở tình huống nào thì nên gọi agent nào.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11155680" cy="365760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1" i="0">
                <a:solidFill>
                  <a:srgbClr val="8891A0"/>
                </a:solidFill>
                <a:latin typeface="Consolas"/>
              </a:rPr>
              <a:t>TÔI ĐANG...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144475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1" i="0">
                <a:solidFill>
                  <a:srgbClr val="8891A0"/>
                </a:solidFill>
                <a:latin typeface="Consolas"/>
              </a:rPr>
              <a:t>NÊN DÙNG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11155680" cy="4480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989320" cy="4480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Codebase có nhiều nợ kỹ thuật, không biết bắt đầu từ đâu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847088"/>
            <a:ext cx="1449451" cy="228600"/>
          </a:xfrm>
          <a:prstGeom prst="roundRect">
            <a:avLst>
              <a:gd name="adj" fmla="val 35000"/>
            </a:avLst>
          </a:prstGeom>
          <a:solidFill>
            <a:srgbClr val="E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950">
                <a:solidFill>
                  <a:srgbClr val="6A4FA0"/>
                </a:solidFill>
                <a:latin typeface="Consolas"/>
              </a:rPr>
              <a:t>tech-debt-tracker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85416"/>
            <a:ext cx="11155680" cy="448056"/>
          </a:xfrm>
          <a:prstGeom prst="roundRect">
            <a:avLst>
              <a:gd name="adj" fmla="val 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31136"/>
            <a:ext cx="5989320" cy="4480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Nghi ngờ lỗ hổng bảo mật trong code đã viết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2295144"/>
            <a:ext cx="1374648" cy="228600"/>
          </a:xfrm>
          <a:prstGeom prst="roundRect">
            <a:avLst>
              <a:gd name="adj" fmla="val 35000"/>
            </a:avLst>
          </a:prstGeom>
          <a:solidFill>
            <a:srgbClr val="F5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950">
                <a:solidFill>
                  <a:srgbClr val="A14F6E"/>
                </a:solidFill>
                <a:latin typeface="Consolas"/>
              </a:rPr>
              <a:t>security-auditor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33472"/>
            <a:ext cx="11155680" cy="4480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79192"/>
            <a:ext cx="5989320" cy="4480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Code chạy chậm hoặc nghi ngờ leak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2743200"/>
            <a:ext cx="1673860" cy="228600"/>
          </a:xfrm>
          <a:prstGeom prst="roundRect">
            <a:avLst>
              <a:gd name="adj" fmla="val 35000"/>
            </a:avLst>
          </a:prstGeom>
          <a:solidFill>
            <a:srgbClr val="F5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950">
                <a:solidFill>
                  <a:srgbClr val="A14F6E"/>
                </a:solidFill>
                <a:latin typeface="Consolas"/>
              </a:rPr>
              <a:t>performance-profiler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081528"/>
            <a:ext cx="11155680" cy="448056"/>
          </a:xfrm>
          <a:prstGeom prst="roundRect">
            <a:avLst>
              <a:gd name="adj" fmla="val 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127248"/>
            <a:ext cx="5989320" cy="4480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Chuẩn bị release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3191256"/>
            <a:ext cx="4441570" cy="228600"/>
          </a:xfrm>
          <a:prstGeom prst="roundRect">
            <a:avLst>
              <a:gd name="adj" fmla="val 35000"/>
            </a:avLst>
          </a:prstGeom>
          <a:solidFill>
            <a:srgbClr val="F6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950">
                <a:solidFill>
                  <a:srgbClr val="B8782E"/>
                </a:solidFill>
                <a:latin typeface="Consolas"/>
              </a:rPr>
              <a:t>changelog-writer → release-manager → deployment-validator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529584"/>
            <a:ext cx="11155680" cy="4480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575304"/>
            <a:ext cx="5989320" cy="4480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Production đang down NGAY BÂY GIỜ, cần quyết định ngay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3639312"/>
            <a:ext cx="1524254" cy="228600"/>
          </a:xfrm>
          <a:prstGeom prst="roundRect">
            <a:avLst>
              <a:gd name="adj" fmla="val 35000"/>
            </a:avLst>
          </a:prstGeom>
          <a:solidFill>
            <a:srgbClr val="E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950">
                <a:solidFill>
                  <a:srgbClr val="4C7A3A"/>
                </a:solidFill>
                <a:latin typeface="Consolas"/>
              </a:rPr>
              <a:t>incident-commander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977640"/>
            <a:ext cx="11155680" cy="448056"/>
          </a:xfrm>
          <a:prstGeom prst="roundRect">
            <a:avLst>
              <a:gd name="adj" fmla="val 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023360"/>
            <a:ext cx="5989320" cy="4480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Production đã ổn định, cần tìm nguyên nhân gốc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20840" y="4087368"/>
            <a:ext cx="2721102" cy="228600"/>
          </a:xfrm>
          <a:prstGeom prst="roundRect">
            <a:avLst>
              <a:gd name="adj" fmla="val 35000"/>
            </a:avLst>
          </a:prstGeom>
          <a:solidFill>
            <a:srgbClr val="E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950">
                <a:solidFill>
                  <a:srgbClr val="4C7A3A"/>
                </a:solidFill>
                <a:latin typeface="Consolas"/>
              </a:rPr>
              <a:t>log-analyzer → root-cause-analyzer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425696"/>
            <a:ext cx="11155680" cy="4480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471416"/>
            <a:ext cx="5989320" cy="4480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Thành viên mới cần hiểu dự án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20840" y="4535424"/>
            <a:ext cx="1374648" cy="228600"/>
          </a:xfrm>
          <a:prstGeom prst="roundRect">
            <a:avLst>
              <a:gd name="adj" fmla="val 35000"/>
            </a:avLst>
          </a:prstGeom>
          <a:solidFill>
            <a:srgbClr val="E9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950">
                <a:solidFill>
                  <a:srgbClr val="4C7A3A"/>
                </a:solidFill>
                <a:latin typeface="Consolas"/>
              </a:rPr>
              <a:t>onboarding-guide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873752"/>
            <a:ext cx="11155680" cy="448056"/>
          </a:xfrm>
          <a:prstGeom prst="roundRect">
            <a:avLst>
              <a:gd name="adj" fmla="val 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919472"/>
            <a:ext cx="5989320" cy="4480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Kiểm tra tính năng đã đủ hồ sơ theo quy trình chất lượng chưa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20840" y="4983480"/>
            <a:ext cx="1823465" cy="228600"/>
          </a:xfrm>
          <a:prstGeom prst="roundRect">
            <a:avLst>
              <a:gd name="adj" fmla="val 35000"/>
            </a:avLst>
          </a:prstGeom>
          <a:solidFill>
            <a:srgbClr val="F3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950">
                <a:solidFill>
                  <a:srgbClr val="B06F1F"/>
                </a:solidFill>
                <a:latin typeface="Consolas"/>
              </a:rPr>
              <a:t>qms-compliance-checker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321808"/>
            <a:ext cx="11155680" cy="4480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367528"/>
            <a:ext cx="5989320" cy="4480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Cần truy xuất yêu cầu ↔ code ↔ test case có bằng chứng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20840" y="5431536"/>
            <a:ext cx="1000632" cy="228600"/>
          </a:xfrm>
          <a:prstGeom prst="roundRect">
            <a:avLst>
              <a:gd name="adj" fmla="val 35000"/>
            </a:avLst>
          </a:prstGeom>
          <a:solidFill>
            <a:srgbClr val="F3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950">
                <a:solidFill>
                  <a:srgbClr val="B06F1F"/>
                </a:solidFill>
                <a:latin typeface="Consolas"/>
              </a:rPr>
              <a:t>rtm-manager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769864"/>
            <a:ext cx="11155680" cy="448056"/>
          </a:xfrm>
          <a:prstGeom prst="roundRect">
            <a:avLst>
              <a:gd name="adj" fmla="val 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815584"/>
            <a:ext cx="5989320" cy="4480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Phân vân không biết nên gọi agent nào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20840" y="5879592"/>
            <a:ext cx="1225042" cy="228600"/>
          </a:xfrm>
          <a:prstGeom prst="roundRect">
            <a:avLst>
              <a:gd name="adj" fmla="val 35000"/>
            </a:avLst>
          </a:prstGeom>
          <a:solidFill>
            <a:srgbClr val="F3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 tIns="0" bIns="0"/>
          <a:lstStyle/>
          <a:p>
            <a:pPr algn="ctr"/>
            <a:r>
              <a:rPr sz="950">
                <a:solidFill>
                  <a:srgbClr val="B06F1F"/>
                </a:solidFill>
                <a:latin typeface="Consolas"/>
              </a:rPr>
              <a:t>/agent-advisor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8891A0"/>
                </a:solidFill>
                <a:latin typeface="Consolas"/>
              </a:rPr>
              <a:t>SDLC/QUY_TRINH_SAN_XUAT_PHAN_MEM.md — "Tóm tắt nhanh"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