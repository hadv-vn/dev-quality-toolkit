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63A"/>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224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C78A2E"/>
                </a:solidFill>
                <a:latin typeface="Calibri"/>
              </a:rPr>
              <a:t>GIÁO DỤC KINH TẾ VÀ PHÁP LUẬT 10</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4800" b="1" i="0">
                <a:solidFill>
                  <a:srgbClr val="FFFFFF"/>
                </a:solidFill>
                <a:latin typeface="Georgia"/>
              </a:rPr>
              <a:t>BÀI 6: THUẾ</a:t>
            </a:r>
          </a:p>
        </p:txBody>
      </p:sp>
      <p:sp>
        <p:nvSpPr>
          <p:cNvPr id="6" name="TextBox 5"/>
          <p:cNvSpPr txBox="1"/>
          <p:nvPr/>
        </p:nvSpPr>
        <p:spPr>
          <a:xfrm>
            <a:off x="822960" y="3246120"/>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Chủ đề: Sản xuất kinh doanh và các chủ thể kinh tế</a:t>
            </a:r>
          </a:p>
        </p:txBody>
      </p:sp>
      <p:sp>
        <p:nvSpPr>
          <p:cNvPr id="7" name="Oval 6"/>
          <p:cNvSpPr/>
          <p:nvPr/>
        </p:nvSpPr>
        <p:spPr>
          <a:xfrm>
            <a:off x="822960" y="393192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13263A"/>
                </a:solidFill>
                <a:latin typeface="Calibri"/>
              </a:rPr>
              <a:t>•</a:t>
            </a:r>
          </a:p>
        </p:txBody>
      </p:sp>
      <p:sp>
        <p:nvSpPr>
          <p:cNvPr id="8" name="TextBox 7"/>
          <p:cNvSpPr txBox="1"/>
          <p:nvPr/>
        </p:nvSpPr>
        <p:spPr>
          <a:xfrm>
            <a:off x="1325880" y="3950208"/>
            <a:ext cx="8686800" cy="411480"/>
          </a:xfrm>
          <a:prstGeom prst="rect">
            <a:avLst/>
          </a:prstGeom>
          <a:noFill/>
        </p:spPr>
        <p:txBody>
          <a:bodyPr wrap="square" anchor="t" lIns="0" rIns="0" tIns="0" bIns="0">
            <a:spAutoFit/>
          </a:bodyPr>
          <a:lstStyle/>
          <a:p>
            <a:pPr algn="l">
              <a:lnSpc>
                <a:spcPct val="100000"/>
              </a:lnSpc>
              <a:spcAft>
                <a:spcPts val="0"/>
              </a:spcAft>
            </a:pPr>
            <a:r>
              <a:rPr sz="1400" b="0" i="0">
                <a:solidFill>
                  <a:srgbClr val="FFFFFF"/>
                </a:solidFill>
                <a:latin typeface="Calibri"/>
              </a:rPr>
              <a:t>Thời lượng: 2 tiết (90 phút)</a:t>
            </a:r>
          </a:p>
        </p:txBody>
      </p:sp>
      <p:sp>
        <p:nvSpPr>
          <p:cNvPr id="9" name="Oval 8"/>
          <p:cNvSpPr/>
          <p:nvPr/>
        </p:nvSpPr>
        <p:spPr>
          <a:xfrm>
            <a:off x="822960" y="443484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13263A"/>
                </a:solidFill>
                <a:latin typeface="Calibri"/>
              </a:rPr>
              <a:t>•</a:t>
            </a:r>
          </a:p>
        </p:txBody>
      </p:sp>
      <p:sp>
        <p:nvSpPr>
          <p:cNvPr id="10" name="TextBox 9"/>
          <p:cNvSpPr txBox="1"/>
          <p:nvPr/>
        </p:nvSpPr>
        <p:spPr>
          <a:xfrm>
            <a:off x="1325880" y="4453128"/>
            <a:ext cx="8686800" cy="411480"/>
          </a:xfrm>
          <a:prstGeom prst="rect">
            <a:avLst/>
          </a:prstGeom>
          <a:noFill/>
        </p:spPr>
        <p:txBody>
          <a:bodyPr wrap="square" anchor="t" lIns="0" rIns="0" tIns="0" bIns="0">
            <a:spAutoFit/>
          </a:bodyPr>
          <a:lstStyle/>
          <a:p>
            <a:pPr algn="l">
              <a:lnSpc>
                <a:spcPct val="100000"/>
              </a:lnSpc>
              <a:spcAft>
                <a:spcPts val="0"/>
              </a:spcAft>
            </a:pPr>
            <a:r>
              <a:rPr sz="1400" b="0" i="0">
                <a:solidFill>
                  <a:srgbClr val="FFFFFF"/>
                </a:solidFill>
                <a:latin typeface="Calibri"/>
              </a:rPr>
              <a:t>Hình thức: Trò chơi khởi động – Khám phá – Luyện tập – Vận dụng</a:t>
            </a:r>
          </a:p>
        </p:txBody>
      </p:sp>
      <p:sp>
        <p:nvSpPr>
          <p:cNvPr id="11" name="Rectangle 10"/>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Tổ Giáo dục công dân | Bài giảng điện tử</a:t>
            </a:r>
          </a:p>
        </p:txBody>
      </p:sp>
      <p:sp>
        <p:nvSpPr>
          <p:cNvPr id="13" name="TextBox 12"/>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TỔNG QUAN BÀI HỌC</a:t>
            </a:r>
          </a:p>
        </p:txBody>
      </p:sp>
      <p:sp>
        <p:nvSpPr>
          <p:cNvPr id="3" name="TextBox 2"/>
          <p:cNvSpPr txBox="1"/>
          <p:nvPr/>
        </p:nvSpPr>
        <p:spPr>
          <a:xfrm>
            <a:off x="548640" y="676656"/>
            <a:ext cx="11064240" cy="105156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Phân bố nội dung theo 2 tiết học</a:t>
            </a:r>
          </a:p>
        </p:txBody>
      </p:sp>
      <p:sp>
        <p:nvSpPr>
          <p:cNvPr id="4" name="TextBox 3"/>
          <p:cNvSpPr txBox="1"/>
          <p:nvPr/>
        </p:nvSpPr>
        <p:spPr>
          <a:xfrm>
            <a:off x="548640" y="1728216"/>
            <a:ext cx="11064240" cy="365760"/>
          </a:xfrm>
          <a:prstGeom prst="rect">
            <a:avLst/>
          </a:prstGeom>
          <a:noFill/>
        </p:spPr>
        <p:txBody>
          <a:bodyPr wrap="square" anchor="t" lIns="0" rIns="0" tIns="0" bIns="0">
            <a:spAutoFit/>
          </a:bodyPr>
          <a:lstStyle/>
          <a:p>
            <a:pPr algn="l">
              <a:lnSpc>
                <a:spcPct val="100000"/>
              </a:lnSpc>
              <a:spcAft>
                <a:spcPts val="0"/>
              </a:spcAft>
            </a:pPr>
            <a:r>
              <a:rPr sz="1450" b="0" i="1">
                <a:solidFill>
                  <a:srgbClr val="5B554E"/>
                </a:solidFill>
                <a:latin typeface="Calibri"/>
              </a:rPr>
              <a:t>Mỗi tiết đều gồm đủ 7 bước: Khởi động – Gợi mở – Tên bài – Mục tiêu – Khám phá – Luyện tập – Vận dụng</a:t>
            </a:r>
          </a:p>
        </p:txBody>
      </p:sp>
      <p:sp>
        <p:nvSpPr>
          <p:cNvPr id="5" name="Rectangle 4"/>
          <p:cNvSpPr/>
          <p:nvPr/>
        </p:nvSpPr>
        <p:spPr>
          <a:xfrm>
            <a:off x="548640" y="2130552"/>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331720"/>
            <a:ext cx="5394960" cy="352044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331720"/>
            <a:ext cx="82296" cy="35204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2496312"/>
            <a:ext cx="4974336" cy="365760"/>
          </a:xfrm>
          <a:prstGeom prst="rect">
            <a:avLst/>
          </a:prstGeom>
          <a:noFill/>
        </p:spPr>
        <p:txBody>
          <a:bodyPr wrap="square" anchor="t" lIns="0" rIns="0" tIns="0" bIns="0">
            <a:spAutoFit/>
          </a:bodyPr>
          <a:lstStyle/>
          <a:p>
            <a:pPr algn="l">
              <a:lnSpc>
                <a:spcPct val="100000"/>
              </a:lnSpc>
              <a:spcAft>
                <a:spcPts val="0"/>
              </a:spcAft>
            </a:pPr>
            <a:r>
              <a:rPr sz="1700" b="1" i="0">
                <a:solidFill>
                  <a:srgbClr val="1F3B57"/>
                </a:solidFill>
                <a:latin typeface="Calibri"/>
              </a:rPr>
              <a:t>TIẾT 1 (45 phút)</a:t>
            </a:r>
          </a:p>
        </p:txBody>
      </p:sp>
      <p:sp>
        <p:nvSpPr>
          <p:cNvPr id="9" name="TextBox 8"/>
          <p:cNvSpPr txBox="1"/>
          <p:nvPr/>
        </p:nvSpPr>
        <p:spPr>
          <a:xfrm>
            <a:off x="786384" y="2862072"/>
            <a:ext cx="4974336" cy="2862072"/>
          </a:xfrm>
          <a:prstGeom prst="rect">
            <a:avLst/>
          </a:prstGeom>
          <a:noFill/>
        </p:spPr>
        <p:txBody>
          <a:bodyPr wrap="square" anchor="t" lIns="0" rIns="0" tIns="0" bIns="0">
            <a:spAutoFit/>
          </a:bodyPr>
          <a:lstStyle/>
          <a:p>
            <a:pPr algn="l">
              <a:lnSpc>
                <a:spcPct val="114000"/>
              </a:lnSpc>
              <a:spcAft>
                <a:spcPts val="0"/>
              </a:spcAft>
            </a:pPr>
            <a:r>
              <a:rPr sz="1300" b="0" i="0">
                <a:solidFill>
                  <a:srgbClr val="2A2522"/>
                </a:solidFill>
                <a:latin typeface="Calibri"/>
              </a:rPr>
              <a:t>Trò chơi khởi động: “Nhìn giá đoán thuế”</a:t>
            </a:r>
          </a:p>
          <a:p>
            <a:pPr algn="l">
              <a:lnSpc>
                <a:spcPct val="114000"/>
              </a:lnSpc>
              <a:spcAft>
                <a:spcPts val="0"/>
              </a:spcAft>
            </a:pPr>
            <a:r>
              <a:rPr sz="1300" b="0" i="0">
                <a:solidFill>
                  <a:srgbClr val="2A2522"/>
                </a:solidFill>
                <a:latin typeface="Calibri"/>
              </a:rPr>
              <a:t/>
            </a:r>
          </a:p>
          <a:p>
            <a:pPr algn="l">
              <a:lnSpc>
                <a:spcPct val="114000"/>
              </a:lnSpc>
              <a:spcAft>
                <a:spcPts val="0"/>
              </a:spcAft>
            </a:pPr>
            <a:r>
              <a:rPr sz="1300" b="0" i="0">
                <a:solidFill>
                  <a:srgbClr val="2A2522"/>
                </a:solidFill>
                <a:latin typeface="Calibri"/>
              </a:rPr>
              <a:t>Nội dung trọng tâm:</a:t>
            </a:r>
          </a:p>
          <a:p>
            <a:pPr algn="l">
              <a:lnSpc>
                <a:spcPct val="114000"/>
              </a:lnSpc>
              <a:spcAft>
                <a:spcPts val="0"/>
              </a:spcAft>
            </a:pPr>
            <a:r>
              <a:rPr sz="1300" b="0" i="0">
                <a:solidFill>
                  <a:srgbClr val="2A2522"/>
                </a:solidFill>
                <a:latin typeface="Calibri"/>
              </a:rPr>
              <a:t>• Khái niệm thuế</a:t>
            </a:r>
          </a:p>
          <a:p>
            <a:pPr algn="l">
              <a:lnSpc>
                <a:spcPct val="114000"/>
              </a:lnSpc>
              <a:spcAft>
                <a:spcPts val="0"/>
              </a:spcAft>
            </a:pPr>
            <a:r>
              <a:rPr sz="1300" b="0" i="0">
                <a:solidFill>
                  <a:srgbClr val="2A2522"/>
                </a:solidFill>
                <a:latin typeface="Calibri"/>
              </a:rPr>
              <a:t>• Đặc điểm của thuế</a:t>
            </a:r>
          </a:p>
          <a:p>
            <a:pPr algn="l">
              <a:lnSpc>
                <a:spcPct val="114000"/>
              </a:lnSpc>
              <a:spcAft>
                <a:spcPts val="0"/>
              </a:spcAft>
            </a:pPr>
            <a:r>
              <a:rPr sz="1300" b="0" i="0">
                <a:solidFill>
                  <a:srgbClr val="2A2522"/>
                </a:solidFill>
                <a:latin typeface="Calibri"/>
              </a:rPr>
              <a:t>• Vai trò của thuế đối với Nhà nước và xã hội</a:t>
            </a:r>
          </a:p>
        </p:txBody>
      </p:sp>
      <p:sp>
        <p:nvSpPr>
          <p:cNvPr id="10" name="Rounded Rectangle 9"/>
          <p:cNvSpPr/>
          <p:nvPr/>
        </p:nvSpPr>
        <p:spPr>
          <a:xfrm>
            <a:off x="6245352" y="2331720"/>
            <a:ext cx="5394960" cy="352044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2331720"/>
            <a:ext cx="82296" cy="35204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3096" y="2496312"/>
            <a:ext cx="4974336" cy="365760"/>
          </a:xfrm>
          <a:prstGeom prst="rect">
            <a:avLst/>
          </a:prstGeom>
          <a:noFill/>
        </p:spPr>
        <p:txBody>
          <a:bodyPr wrap="square" anchor="t" lIns="0" rIns="0" tIns="0" bIns="0">
            <a:spAutoFit/>
          </a:bodyPr>
          <a:lstStyle/>
          <a:p>
            <a:pPr algn="l">
              <a:lnSpc>
                <a:spcPct val="100000"/>
              </a:lnSpc>
              <a:spcAft>
                <a:spcPts val="0"/>
              </a:spcAft>
            </a:pPr>
            <a:r>
              <a:rPr sz="1700" b="1" i="0">
                <a:solidFill>
                  <a:srgbClr val="1F3B57"/>
                </a:solidFill>
                <a:latin typeface="Calibri"/>
              </a:rPr>
              <a:t>TIẾT 2 (45 phút)</a:t>
            </a:r>
          </a:p>
        </p:txBody>
      </p:sp>
      <p:sp>
        <p:nvSpPr>
          <p:cNvPr id="13" name="TextBox 12"/>
          <p:cNvSpPr txBox="1"/>
          <p:nvPr/>
        </p:nvSpPr>
        <p:spPr>
          <a:xfrm>
            <a:off x="6483096" y="2862072"/>
            <a:ext cx="4974336" cy="2862072"/>
          </a:xfrm>
          <a:prstGeom prst="rect">
            <a:avLst/>
          </a:prstGeom>
          <a:noFill/>
        </p:spPr>
        <p:txBody>
          <a:bodyPr wrap="square" anchor="t" lIns="0" rIns="0" tIns="0" bIns="0">
            <a:spAutoFit/>
          </a:bodyPr>
          <a:lstStyle/>
          <a:p>
            <a:pPr algn="l">
              <a:lnSpc>
                <a:spcPct val="114000"/>
              </a:lnSpc>
              <a:spcAft>
                <a:spcPts val="0"/>
              </a:spcAft>
            </a:pPr>
            <a:r>
              <a:rPr sz="1300" b="0" i="0">
                <a:solidFill>
                  <a:srgbClr val="2A2522"/>
                </a:solidFill>
                <a:latin typeface="Calibri"/>
              </a:rPr>
              <a:t>Trò chơi khởi động: “Hộp quà may mắn”</a:t>
            </a:r>
          </a:p>
          <a:p>
            <a:pPr algn="l">
              <a:lnSpc>
                <a:spcPct val="114000"/>
              </a:lnSpc>
              <a:spcAft>
                <a:spcPts val="0"/>
              </a:spcAft>
            </a:pPr>
            <a:r>
              <a:rPr sz="1300" b="0" i="0">
                <a:solidFill>
                  <a:srgbClr val="2A2522"/>
                </a:solidFill>
                <a:latin typeface="Calibri"/>
              </a:rPr>
              <a:t/>
            </a:r>
          </a:p>
          <a:p>
            <a:pPr algn="l">
              <a:lnSpc>
                <a:spcPct val="114000"/>
              </a:lnSpc>
              <a:spcAft>
                <a:spcPts val="0"/>
              </a:spcAft>
            </a:pPr>
            <a:r>
              <a:rPr sz="1300" b="0" i="0">
                <a:solidFill>
                  <a:srgbClr val="2A2522"/>
                </a:solidFill>
                <a:latin typeface="Calibri"/>
              </a:rPr>
              <a:t>Nội dung trọng tâm:</a:t>
            </a:r>
          </a:p>
          <a:p>
            <a:pPr algn="l">
              <a:lnSpc>
                <a:spcPct val="114000"/>
              </a:lnSpc>
              <a:spcAft>
                <a:spcPts val="0"/>
              </a:spcAft>
            </a:pPr>
            <a:r>
              <a:rPr sz="1300" b="0" i="0">
                <a:solidFill>
                  <a:srgbClr val="2A2522"/>
                </a:solidFill>
                <a:latin typeface="Calibri"/>
              </a:rPr>
              <a:t>• Các loại thuế (trực thu, gián thu)</a:t>
            </a:r>
          </a:p>
          <a:p>
            <a:pPr algn="l">
              <a:lnSpc>
                <a:spcPct val="114000"/>
              </a:lnSpc>
              <a:spcAft>
                <a:spcPts val="0"/>
              </a:spcAft>
            </a:pPr>
            <a:r>
              <a:rPr sz="1300" b="0" i="0">
                <a:solidFill>
                  <a:srgbClr val="2A2522"/>
                </a:solidFill>
                <a:latin typeface="Calibri"/>
              </a:rPr>
              <a:t>• Quyền và nghĩa vụ của công dân về thuế</a:t>
            </a:r>
          </a:p>
          <a:p>
            <a:pPr algn="l">
              <a:lnSpc>
                <a:spcPct val="114000"/>
              </a:lnSpc>
              <a:spcAft>
                <a:spcPts val="0"/>
              </a:spcAft>
            </a:pPr>
            <a:r>
              <a:rPr sz="1300" b="0" i="0">
                <a:solidFill>
                  <a:srgbClr val="2A2522"/>
                </a:solidFill>
                <a:latin typeface="Calibri"/>
              </a:rPr>
              <a:t>• Luyện tập, vận dụng tổng hợp cả bài</a:t>
            </a:r>
          </a:p>
        </p:txBody>
      </p:sp>
      <p:sp>
        <p:nvSpPr>
          <p:cNvPr id="14" name="Rectangle 13"/>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Tổng quan</a:t>
            </a:r>
          </a:p>
        </p:txBody>
      </p:sp>
      <p:sp>
        <p:nvSpPr>
          <p:cNvPr id="16" name="TextBox 15"/>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C4733"/>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3A5B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E8C97A"/>
                </a:solidFill>
                <a:latin typeface="Calibri"/>
              </a:rPr>
              <a:t>TIẾT 1 · 45 PHÚT</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3800" b="1" i="0">
                <a:solidFill>
                  <a:srgbClr val="FFFFFF"/>
                </a:solidFill>
                <a:latin typeface="Georgia"/>
              </a:rPr>
              <a:t>Khái niệm – Đặc điểm –</a:t>
            </a:r>
          </a:p>
          <a:p>
            <a:pPr algn="l">
              <a:lnSpc>
                <a:spcPct val="103000"/>
              </a:lnSpc>
              <a:spcAft>
                <a:spcPts val="0"/>
              </a:spcAft>
            </a:pPr>
            <a:r>
              <a:rPr sz="3800" b="1" i="0">
                <a:solidFill>
                  <a:srgbClr val="FFFFFF"/>
                </a:solidFill>
                <a:latin typeface="Georgia"/>
              </a:rPr>
              <a:t>Vai trò của thuế</a:t>
            </a:r>
          </a:p>
        </p:txBody>
      </p:sp>
      <p:sp>
        <p:nvSpPr>
          <p:cNvPr id="6" name="TextBox 5"/>
          <p:cNvSpPr txBox="1"/>
          <p:nvPr/>
        </p:nvSpPr>
        <p:spPr>
          <a:xfrm>
            <a:off x="822960" y="3246120"/>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Vì sao mọi khoản thu nhập, mọi hàng hoá ta mua đều gắn với thuế?</a:t>
            </a:r>
          </a:p>
        </p:txBody>
      </p:sp>
      <p:sp>
        <p:nvSpPr>
          <p:cNvPr id="7" name="Rectangle 6"/>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GDKTPL 10 – Bài 6: Thuế | Tiết 1</a:t>
            </a:r>
          </a:p>
        </p:txBody>
      </p:sp>
      <p:sp>
        <p:nvSpPr>
          <p:cNvPr id="9" name="TextBox 8"/>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9C4922"/>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F6DDC3"/>
                </a:solidFill>
                <a:latin typeface="Calibri"/>
              </a:rPr>
              <a:t>KHỞI ĐỘNG · 10 PHÚT</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3800" b="1" i="0">
                <a:solidFill>
                  <a:srgbClr val="FFFFFF"/>
                </a:solidFill>
                <a:latin typeface="Georgia"/>
              </a:rPr>
              <a:t>Trò chơi:</a:t>
            </a:r>
          </a:p>
          <a:p>
            <a:pPr algn="l">
              <a:lnSpc>
                <a:spcPct val="103000"/>
              </a:lnSpc>
              <a:spcAft>
                <a:spcPts val="0"/>
              </a:spcAft>
            </a:pPr>
            <a:r>
              <a:rPr sz="3800" b="1" i="0">
                <a:solidFill>
                  <a:srgbClr val="FFFFFF"/>
                </a:solidFill>
                <a:latin typeface="Georgia"/>
              </a:rPr>
              <a:t>“NHÌN GIÁ ĐOÁN THUẾ”</a:t>
            </a:r>
          </a:p>
        </p:txBody>
      </p:sp>
      <p:sp>
        <p:nvSpPr>
          <p:cNvPr id="6" name="TextBox 5"/>
          <p:cNvSpPr txBox="1"/>
          <p:nvPr/>
        </p:nvSpPr>
        <p:spPr>
          <a:xfrm>
            <a:off x="822960" y="3246120"/>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Ai tinh mắt hơn – Ai phản xạ nhanh hơn?</a:t>
            </a:r>
          </a:p>
        </p:txBody>
      </p:sp>
      <p:sp>
        <p:nvSpPr>
          <p:cNvPr id="7" name="Rectangle 6"/>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GDKTPL 10 – Bài 6: Thuế | Tiết 1 – Khởi động</a:t>
            </a:r>
          </a:p>
        </p:txBody>
      </p:sp>
      <p:sp>
        <p:nvSpPr>
          <p:cNvPr id="9" name="TextBox 8"/>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KHỞI ĐỘNG · LUẬT CHƠI</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Cách chơi trò “Nhìn giá đoán thuế”</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5394960" cy="160020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1460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7" name="TextBox 6"/>
          <p:cNvSpPr txBox="1"/>
          <p:nvPr/>
        </p:nvSpPr>
        <p:spPr>
          <a:xfrm>
            <a:off x="731520" y="3008376"/>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Chuẩn bị</a:t>
            </a:r>
          </a:p>
        </p:txBody>
      </p:sp>
      <p:sp>
        <p:nvSpPr>
          <p:cNvPr id="8" name="TextBox 7"/>
          <p:cNvSpPr txBox="1"/>
          <p:nvPr/>
        </p:nvSpPr>
        <p:spPr>
          <a:xfrm>
            <a:off x="731520" y="3355848"/>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Lớp chia thành 4 đội. Mỗi đội có 1 bảng phụ/giấy A3 và bút dạ để ghi đáp án.</a:t>
            </a:r>
          </a:p>
        </p:txBody>
      </p:sp>
      <p:sp>
        <p:nvSpPr>
          <p:cNvPr id="9" name="Rounded Rectangle 8"/>
          <p:cNvSpPr/>
          <p:nvPr/>
        </p:nvSpPr>
        <p:spPr>
          <a:xfrm>
            <a:off x="6245352" y="2331720"/>
            <a:ext cx="5394960" cy="160020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28232" y="251460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11" name="TextBox 10"/>
          <p:cNvSpPr txBox="1"/>
          <p:nvPr/>
        </p:nvSpPr>
        <p:spPr>
          <a:xfrm>
            <a:off x="6428232" y="3008376"/>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Luật chơi</a:t>
            </a:r>
          </a:p>
        </p:txBody>
      </p:sp>
      <p:sp>
        <p:nvSpPr>
          <p:cNvPr id="12" name="TextBox 11"/>
          <p:cNvSpPr txBox="1"/>
          <p:nvPr/>
        </p:nvSpPr>
        <p:spPr>
          <a:xfrm>
            <a:off x="6428232" y="3355848"/>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GV lần lượt chiếu 4 hình ảnh hoá đơn/tình huống mua hàng có ghi khoản thuế. Trong 15 giây, các đội viết tên loại thuế xuất hiện trong hoá đơn đó.</a:t>
            </a:r>
          </a:p>
        </p:txBody>
      </p:sp>
      <p:sp>
        <p:nvSpPr>
          <p:cNvPr id="13" name="Rounded Rectangle 12"/>
          <p:cNvSpPr/>
          <p:nvPr/>
        </p:nvSpPr>
        <p:spPr>
          <a:xfrm>
            <a:off x="548640" y="4233672"/>
            <a:ext cx="5394960" cy="160020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4416552"/>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15" name="TextBox 14"/>
          <p:cNvSpPr txBox="1"/>
          <p:nvPr/>
        </p:nvSpPr>
        <p:spPr>
          <a:xfrm>
            <a:off x="731520" y="4910328"/>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Tính điểm</a:t>
            </a:r>
          </a:p>
        </p:txBody>
      </p:sp>
      <p:sp>
        <p:nvSpPr>
          <p:cNvPr id="16" name="TextBox 15"/>
          <p:cNvSpPr txBox="1"/>
          <p:nvPr/>
        </p:nvSpPr>
        <p:spPr>
          <a:xfrm>
            <a:off x="731520" y="5257800"/>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Đội trả lời đúng và giơ bảng nhanh nhất được 10 điểm; đội đúng nhưng chậm hơn được 5 điểm; trả lời sai không có điểm.</a:t>
            </a:r>
          </a:p>
        </p:txBody>
      </p:sp>
      <p:sp>
        <p:nvSpPr>
          <p:cNvPr id="17" name="Rounded Rectangle 16"/>
          <p:cNvSpPr/>
          <p:nvPr/>
        </p:nvSpPr>
        <p:spPr>
          <a:xfrm>
            <a:off x="6245352" y="4233672"/>
            <a:ext cx="5394960" cy="160020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28232" y="4416552"/>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19" name="TextBox 18"/>
          <p:cNvSpPr txBox="1"/>
          <p:nvPr/>
        </p:nvSpPr>
        <p:spPr>
          <a:xfrm>
            <a:off x="6428232" y="4910328"/>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Kết thúc</a:t>
            </a:r>
          </a:p>
        </p:txBody>
      </p:sp>
      <p:sp>
        <p:nvSpPr>
          <p:cNvPr id="20" name="TextBox 19"/>
          <p:cNvSpPr txBox="1"/>
          <p:nvPr/>
        </p:nvSpPr>
        <p:spPr>
          <a:xfrm>
            <a:off x="6428232" y="5257800"/>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Sau 4 lượt, đội có tổng điểm cao nhất chiến thắng và nhận một phần quà nhỏ/điểm cộng từ GV.</a:t>
            </a:r>
          </a:p>
        </p:txBody>
      </p:sp>
      <p:sp>
        <p:nvSpPr>
          <p:cNvPr id="21" name="Rectangle 2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Khởi động</a:t>
            </a:r>
          </a:p>
        </p:txBody>
      </p:sp>
      <p:sp>
        <p:nvSpPr>
          <p:cNvPr id="23" name="TextBox 2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KHỞI ĐỘNG · CÂU HỎI</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Vòng 1 – Quan sát và trả lời nhanh</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78308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47802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9C4922"/>
                </a:solidFill>
                <a:latin typeface="Calibri"/>
              </a:rPr>
              <a:t>TÌNH HUỐNG 1</a:t>
            </a:r>
          </a:p>
        </p:txBody>
      </p:sp>
      <p:sp>
        <p:nvSpPr>
          <p:cNvPr id="7" name="TextBox 6"/>
          <p:cNvSpPr txBox="1"/>
          <p:nvPr/>
        </p:nvSpPr>
        <p:spPr>
          <a:xfrm>
            <a:off x="786384" y="2788920"/>
            <a:ext cx="10616184" cy="1179576"/>
          </a:xfrm>
          <a:prstGeom prst="rect">
            <a:avLst/>
          </a:prstGeom>
          <a:noFill/>
        </p:spPr>
        <p:txBody>
          <a:bodyPr wrap="square" anchor="t" lIns="0" rIns="0" tIns="0" bIns="0">
            <a:spAutoFit/>
          </a:bodyPr>
          <a:lstStyle/>
          <a:p>
            <a:pPr algn="l">
              <a:lnSpc>
                <a:spcPct val="116000"/>
              </a:lnSpc>
              <a:spcAft>
                <a:spcPts val="0"/>
              </a:spcAft>
            </a:pPr>
            <a:r>
              <a:rPr sz="1450" b="0" i="0">
                <a:solidFill>
                  <a:srgbClr val="2A2522"/>
                </a:solidFill>
                <a:latin typeface="Calibri"/>
              </a:rPr>
              <a:t>Hoá đơn siêu thị ghi: “Giá chưa thuế: 200.000đ – Thuế GTGT (10%): 20.000đ – Tổng thanh toán: 220.000đ”.</a:t>
            </a:r>
          </a:p>
          <a:p>
            <a:pPr algn="l">
              <a:lnSpc>
                <a:spcPct val="116000"/>
              </a:lnSpc>
              <a:spcAft>
                <a:spcPts val="0"/>
              </a:spcAft>
            </a:pPr>
            <a:r>
              <a:rPr sz="1450" b="0" i="0">
                <a:solidFill>
                  <a:srgbClr val="2A2522"/>
                </a:solidFill>
                <a:latin typeface="Calibri"/>
              </a:rPr>
              <a:t>Hỏi: Khoản 20.000đ trong hoá đơn là loại thuế nào?</a:t>
            </a:r>
          </a:p>
        </p:txBody>
      </p:sp>
      <p:sp>
        <p:nvSpPr>
          <p:cNvPr id="8" name="Rounded Rectangle 7"/>
          <p:cNvSpPr/>
          <p:nvPr/>
        </p:nvSpPr>
        <p:spPr>
          <a:xfrm>
            <a:off x="548640" y="4297680"/>
            <a:ext cx="11091672" cy="178308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44398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9C4922"/>
                </a:solidFill>
                <a:latin typeface="Calibri"/>
              </a:rPr>
              <a:t>TÌNH HUỐNG 2</a:t>
            </a:r>
          </a:p>
        </p:txBody>
      </p:sp>
      <p:sp>
        <p:nvSpPr>
          <p:cNvPr id="10" name="TextBox 9"/>
          <p:cNvSpPr txBox="1"/>
          <p:nvPr/>
        </p:nvSpPr>
        <p:spPr>
          <a:xfrm>
            <a:off x="786384" y="4754880"/>
            <a:ext cx="10616184" cy="1179576"/>
          </a:xfrm>
          <a:prstGeom prst="rect">
            <a:avLst/>
          </a:prstGeom>
          <a:noFill/>
        </p:spPr>
        <p:txBody>
          <a:bodyPr wrap="square" anchor="t" lIns="0" rIns="0" tIns="0" bIns="0">
            <a:spAutoFit/>
          </a:bodyPr>
          <a:lstStyle/>
          <a:p>
            <a:pPr algn="l">
              <a:lnSpc>
                <a:spcPct val="116000"/>
              </a:lnSpc>
              <a:spcAft>
                <a:spcPts val="0"/>
              </a:spcAft>
            </a:pPr>
            <a:r>
              <a:rPr sz="1450" b="0" i="0">
                <a:solidFill>
                  <a:srgbClr val="2A2522"/>
                </a:solidFill>
                <a:latin typeface="Calibri"/>
              </a:rPr>
              <a:t>Trong bảng lương tháng của bố bạn A có một dòng bị trừ: “Thuế TNCN: 850.000đ”.</a:t>
            </a:r>
          </a:p>
          <a:p>
            <a:pPr algn="l">
              <a:lnSpc>
                <a:spcPct val="116000"/>
              </a:lnSpc>
              <a:spcAft>
                <a:spcPts val="0"/>
              </a:spcAft>
            </a:pPr>
            <a:r>
              <a:rPr sz="1450" b="0" i="0">
                <a:solidFill>
                  <a:srgbClr val="2A2522"/>
                </a:solidFill>
                <a:latin typeface="Calibri"/>
              </a:rPr>
              <a:t>Hỏi: Đây là loại thuế gì và đánh vào đối tượng nào?</a:t>
            </a:r>
          </a:p>
        </p:txBody>
      </p:sp>
      <p:sp>
        <p:nvSpPr>
          <p:cNvPr id="11" name="Rectangle 1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Khởi động</a:t>
            </a:r>
          </a:p>
        </p:txBody>
      </p:sp>
      <p:sp>
        <p:nvSpPr>
          <p:cNvPr id="13" name="TextBox 1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KHỞI ĐỘNG · CÂU HỎI</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Vòng 2 – Quan sát và trả lời nhanh</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41732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47802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9C4922"/>
                </a:solidFill>
                <a:latin typeface="Calibri"/>
              </a:rPr>
              <a:t>TÌNH HUỐNG 3</a:t>
            </a:r>
          </a:p>
        </p:txBody>
      </p:sp>
      <p:sp>
        <p:nvSpPr>
          <p:cNvPr id="7" name="TextBox 6"/>
          <p:cNvSpPr txBox="1"/>
          <p:nvPr/>
        </p:nvSpPr>
        <p:spPr>
          <a:xfrm>
            <a:off x="786384" y="2788920"/>
            <a:ext cx="10616184" cy="813816"/>
          </a:xfrm>
          <a:prstGeom prst="rect">
            <a:avLst/>
          </a:prstGeom>
          <a:noFill/>
        </p:spPr>
        <p:txBody>
          <a:bodyPr wrap="square" anchor="t" lIns="0" rIns="0" tIns="0" bIns="0">
            <a:spAutoFit/>
          </a:bodyPr>
          <a:lstStyle/>
          <a:p>
            <a:pPr algn="l">
              <a:lnSpc>
                <a:spcPct val="116000"/>
              </a:lnSpc>
              <a:spcAft>
                <a:spcPts val="0"/>
              </a:spcAft>
            </a:pPr>
            <a:r>
              <a:rPr sz="1350" b="0" i="0">
                <a:solidFill>
                  <a:srgbClr val="2A2522"/>
                </a:solidFill>
                <a:latin typeface="Calibri"/>
              </a:rPr>
              <a:t>Một chai rượu ngoại có cộng thêm khoản gọi là “thuế TTĐB”. Đây là thuế gì và thường đánh vào những mặt hàng nào?</a:t>
            </a:r>
          </a:p>
        </p:txBody>
      </p:sp>
      <p:sp>
        <p:nvSpPr>
          <p:cNvPr id="8" name="Rounded Rectangle 7"/>
          <p:cNvSpPr/>
          <p:nvPr/>
        </p:nvSpPr>
        <p:spPr>
          <a:xfrm>
            <a:off x="548640" y="3913632"/>
            <a:ext cx="11091672" cy="123444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059936"/>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9C4922"/>
                </a:solidFill>
                <a:latin typeface="Calibri"/>
              </a:rPr>
              <a:t>TÌNH HUỐNG 4</a:t>
            </a:r>
          </a:p>
        </p:txBody>
      </p:sp>
      <p:sp>
        <p:nvSpPr>
          <p:cNvPr id="10" name="TextBox 9"/>
          <p:cNvSpPr txBox="1"/>
          <p:nvPr/>
        </p:nvSpPr>
        <p:spPr>
          <a:xfrm>
            <a:off x="786384" y="4370832"/>
            <a:ext cx="10616184" cy="630936"/>
          </a:xfrm>
          <a:prstGeom prst="rect">
            <a:avLst/>
          </a:prstGeom>
          <a:noFill/>
        </p:spPr>
        <p:txBody>
          <a:bodyPr wrap="square" anchor="t" lIns="0" rIns="0" tIns="0" bIns="0">
            <a:spAutoFit/>
          </a:bodyPr>
          <a:lstStyle/>
          <a:p>
            <a:pPr algn="l">
              <a:lnSpc>
                <a:spcPct val="116000"/>
              </a:lnSpc>
              <a:spcAft>
                <a:spcPts val="0"/>
              </a:spcAft>
            </a:pPr>
            <a:r>
              <a:rPr sz="1350" b="0" i="0">
                <a:solidFill>
                  <a:srgbClr val="2A2522"/>
                </a:solidFill>
                <a:latin typeface="Calibri"/>
              </a:rPr>
              <a:t>Một lô hàng điện tử nhập khẩu phải nộp thêm một khoản thuế khi qua cửa khẩu hải quan. Đó là thuế gì?</a:t>
            </a:r>
          </a:p>
        </p:txBody>
      </p:sp>
      <p:sp>
        <p:nvSpPr>
          <p:cNvPr id="11" name="Rounded Rectangle 10"/>
          <p:cNvSpPr/>
          <p:nvPr/>
        </p:nvSpPr>
        <p:spPr>
          <a:xfrm>
            <a:off x="548640" y="5285232"/>
            <a:ext cx="11091672" cy="932688"/>
          </a:xfrm>
          <a:prstGeom prst="roundRect">
            <a:avLst>
              <a:gd name="adj" fmla="val 6000"/>
            </a:avLst>
          </a:prstGeom>
          <a:solidFill>
            <a:srgbClr val="F6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5285232"/>
            <a:ext cx="82296" cy="932688"/>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5449824"/>
            <a:ext cx="10671048" cy="365760"/>
          </a:xfrm>
          <a:prstGeom prst="rect">
            <a:avLst/>
          </a:prstGeom>
          <a:noFill/>
        </p:spPr>
        <p:txBody>
          <a:bodyPr wrap="square" anchor="t" lIns="0" rIns="0" tIns="0" bIns="0">
            <a:spAutoFit/>
          </a:bodyPr>
          <a:lstStyle/>
          <a:p>
            <a:pPr algn="l">
              <a:lnSpc>
                <a:spcPct val="100000"/>
              </a:lnSpc>
              <a:spcAft>
                <a:spcPts val="0"/>
              </a:spcAft>
            </a:pPr>
            <a:r>
              <a:rPr sz="1350" b="1" i="0">
                <a:solidFill>
                  <a:srgbClr val="1F3B57"/>
                </a:solidFill>
                <a:latin typeface="Calibri"/>
              </a:rPr>
              <a:t>ĐÁP ÁN NHANH</a:t>
            </a:r>
          </a:p>
        </p:txBody>
      </p:sp>
      <p:sp>
        <p:nvSpPr>
          <p:cNvPr id="14" name="TextBox 13"/>
          <p:cNvSpPr txBox="1"/>
          <p:nvPr/>
        </p:nvSpPr>
        <p:spPr>
          <a:xfrm>
            <a:off x="786384" y="5815584"/>
            <a:ext cx="10671048" cy="274320"/>
          </a:xfrm>
          <a:prstGeom prst="rect">
            <a:avLst/>
          </a:prstGeom>
          <a:noFill/>
        </p:spPr>
        <p:txBody>
          <a:bodyPr wrap="square" anchor="t" lIns="0" rIns="0" tIns="0" bIns="0">
            <a:spAutoFit/>
          </a:bodyPr>
          <a:lstStyle/>
          <a:p>
            <a:pPr algn="l">
              <a:lnSpc>
                <a:spcPct val="114000"/>
              </a:lnSpc>
              <a:spcAft>
                <a:spcPts val="0"/>
              </a:spcAft>
            </a:pPr>
            <a:r>
              <a:rPr sz="1250" b="0" i="0">
                <a:solidFill>
                  <a:srgbClr val="2A2522"/>
                </a:solidFill>
                <a:latin typeface="Calibri"/>
              </a:rPr>
              <a:t>1) Thuế giá trị gia tăng (GTGT)   2) Thuế thu nhập cá nhân (TNCN)   3) Thuế tiêu thụ đặc biệt (rượu, bia, thuốc lá, ô tô...)   4) Thuế nhập khẩu</a:t>
            </a:r>
          </a:p>
        </p:txBody>
      </p:sp>
      <p:sp>
        <p:nvSpPr>
          <p:cNvPr id="15" name="Rectangle 14"/>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Khởi động</a:t>
            </a:r>
          </a:p>
        </p:txBody>
      </p:sp>
      <p:sp>
        <p:nvSpPr>
          <p:cNvPr id="17" name="TextBox 16"/>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GỢI MỞ</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Vì sao trên mỗi hoá đơn luôn có một dòng thuế?</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55448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532888"/>
            <a:ext cx="548640" cy="548640"/>
          </a:xfrm>
          <a:prstGeom prst="rect">
            <a:avLst/>
          </a:prstGeom>
          <a:noFill/>
        </p:spPr>
        <p:txBody>
          <a:bodyPr wrap="square" anchor="t" lIns="0" rIns="0" tIns="0" bIns="0">
            <a:spAutoFit/>
          </a:bodyPr>
          <a:lstStyle/>
          <a:p>
            <a:pPr algn="l">
              <a:lnSpc>
                <a:spcPct val="100000"/>
              </a:lnSpc>
              <a:spcAft>
                <a:spcPts val="0"/>
              </a:spcAft>
            </a:pPr>
            <a:r>
              <a:rPr sz="4400" b="1" i="0">
                <a:solidFill>
                  <a:srgbClr val="C78A2E"/>
                </a:solidFill>
                <a:latin typeface="Georgia"/>
              </a:rPr>
              <a:t>“</a:t>
            </a:r>
          </a:p>
        </p:txBody>
      </p:sp>
      <p:sp>
        <p:nvSpPr>
          <p:cNvPr id="7" name="TextBox 6"/>
          <p:cNvSpPr txBox="1"/>
          <p:nvPr/>
        </p:nvSpPr>
        <p:spPr>
          <a:xfrm>
            <a:off x="1371600" y="2587752"/>
            <a:ext cx="9902952" cy="731520"/>
          </a:xfrm>
          <a:prstGeom prst="rect">
            <a:avLst/>
          </a:prstGeom>
          <a:noFill/>
        </p:spPr>
        <p:txBody>
          <a:bodyPr wrap="square" anchor="t" lIns="0" rIns="0" tIns="0" bIns="0">
            <a:spAutoFit/>
          </a:bodyPr>
          <a:lstStyle/>
          <a:p>
            <a:pPr algn="l">
              <a:lnSpc>
                <a:spcPct val="115000"/>
              </a:lnSpc>
              <a:spcAft>
                <a:spcPts val="0"/>
              </a:spcAft>
            </a:pPr>
            <a:r>
              <a:rPr sz="1700" b="0" i="1">
                <a:solidFill>
                  <a:srgbClr val="1F3B57"/>
                </a:solidFill>
                <a:latin typeface="Georgia"/>
              </a:rPr>
              <a:t>Trên đời này, không có gì là chắc chắn ngoài cái chết và thuế.</a:t>
            </a:r>
          </a:p>
        </p:txBody>
      </p:sp>
      <p:sp>
        <p:nvSpPr>
          <p:cNvPr id="8" name="TextBox 7"/>
          <p:cNvSpPr txBox="1"/>
          <p:nvPr/>
        </p:nvSpPr>
        <p:spPr>
          <a:xfrm>
            <a:off x="1371600" y="3429000"/>
            <a:ext cx="9902952" cy="320040"/>
          </a:xfrm>
          <a:prstGeom prst="rect">
            <a:avLst/>
          </a:prstGeom>
          <a:noFill/>
        </p:spPr>
        <p:txBody>
          <a:bodyPr wrap="square" anchor="t" lIns="0" rIns="0" tIns="0" bIns="0">
            <a:spAutoFit/>
          </a:bodyPr>
          <a:lstStyle/>
          <a:p>
            <a:pPr algn="l">
              <a:lnSpc>
                <a:spcPct val="100000"/>
              </a:lnSpc>
              <a:spcAft>
                <a:spcPts val="0"/>
              </a:spcAft>
            </a:pPr>
            <a:r>
              <a:rPr sz="1250" b="1" i="0">
                <a:solidFill>
                  <a:srgbClr val="5B554E"/>
                </a:solidFill>
                <a:latin typeface="Calibri"/>
              </a:rPr>
              <a:t>— Benjamin Franklin</a:t>
            </a:r>
          </a:p>
        </p:txBody>
      </p:sp>
      <p:sp>
        <p:nvSpPr>
          <p:cNvPr id="9" name="TextBox 8"/>
          <p:cNvSpPr txBox="1"/>
          <p:nvPr/>
        </p:nvSpPr>
        <p:spPr>
          <a:xfrm>
            <a:off x="548640" y="4160520"/>
            <a:ext cx="11091672" cy="2011680"/>
          </a:xfrm>
          <a:prstGeom prst="rect">
            <a:avLst/>
          </a:prstGeom>
          <a:noFill/>
        </p:spPr>
        <p:txBody>
          <a:bodyPr wrap="square" lIns="0" rIns="0" tIns="0" bIns="0">
            <a:spAutoFit/>
          </a:bodyPr>
          <a:lstStyle/>
          <a:p>
            <a:pPr>
              <a:lnSpc>
                <a:spcPct val="112000"/>
              </a:lnSpc>
              <a:spcAft>
                <a:spcPts val="800"/>
              </a:spcAft>
            </a:pPr>
            <a:r>
              <a:rPr sz="1550" b="1">
                <a:solidFill>
                  <a:srgbClr val="1F3B57"/>
                </a:solidFill>
                <a:latin typeface="Calibri"/>
              </a:rPr>
              <a:t>▪  </a:t>
            </a:r>
            <a:r>
              <a:rPr sz="1550">
                <a:solidFill>
                  <a:srgbClr val="2A2522"/>
                </a:solidFill>
                <a:latin typeface="Calibri"/>
              </a:rPr>
              <a:t>Số tiền thuế trong mỗi hoá đơn được nộp vào đâu, và dùng để làm gì?</a:t>
            </a:r>
          </a:p>
          <a:p>
            <a:pPr>
              <a:lnSpc>
                <a:spcPct val="112000"/>
              </a:lnSpc>
              <a:spcAft>
                <a:spcPts val="800"/>
              </a:spcAft>
            </a:pPr>
            <a:r>
              <a:rPr sz="1550" b="1">
                <a:solidFill>
                  <a:srgbClr val="1F3B57"/>
                </a:solidFill>
                <a:latin typeface="Calibri"/>
              </a:rPr>
              <a:t>▪  </a:t>
            </a:r>
            <a:r>
              <a:rPr sz="1550">
                <a:solidFill>
                  <a:srgbClr val="2A2522"/>
                </a:solidFill>
                <a:latin typeface="Calibri"/>
              </a:rPr>
              <a:t>Ai là người quy định các em, gia đình em phải nộp thuế hay không, nộp bao nhiêu?</a:t>
            </a:r>
          </a:p>
          <a:p>
            <a:pPr>
              <a:lnSpc>
                <a:spcPct val="112000"/>
              </a:lnSpc>
              <a:spcAft>
                <a:spcPts val="800"/>
              </a:spcAft>
            </a:pPr>
            <a:r>
              <a:rPr sz="1550" b="1">
                <a:solidFill>
                  <a:srgbClr val="1F3B57"/>
                </a:solidFill>
                <a:latin typeface="Calibri"/>
              </a:rPr>
              <a:t>▪  </a:t>
            </a:r>
            <a:r>
              <a:rPr sz="1550">
                <a:solidFill>
                  <a:srgbClr val="2A2522"/>
                </a:solidFill>
                <a:latin typeface="Calibri"/>
              </a:rPr>
              <a:t>Vì sao gần như tất cả mọi người, mọi tổ chức đều phải nộp thuế mà không thể từ chối?</a:t>
            </a:r>
          </a:p>
        </p:txBody>
      </p:sp>
      <p:sp>
        <p:nvSpPr>
          <p:cNvPr id="10" name="Rectangle 9"/>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Gợi mở</a:t>
            </a:r>
          </a:p>
        </p:txBody>
      </p:sp>
      <p:sp>
        <p:nvSpPr>
          <p:cNvPr id="12" name="TextBox 11"/>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3263A"/>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224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C78A2E"/>
                </a:solidFill>
                <a:latin typeface="Calibri"/>
              </a:rPr>
              <a:t>BÀI 6</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5400" b="1" i="0">
                <a:solidFill>
                  <a:srgbClr val="FFFFFF"/>
                </a:solidFill>
                <a:latin typeface="Georgia"/>
              </a:rPr>
              <a:t>THUẾ</a:t>
            </a:r>
          </a:p>
        </p:txBody>
      </p:sp>
      <p:sp>
        <p:nvSpPr>
          <p:cNvPr id="6" name="TextBox 5"/>
          <p:cNvSpPr txBox="1"/>
          <p:nvPr/>
        </p:nvSpPr>
        <p:spPr>
          <a:xfrm>
            <a:off x="822960" y="3246120"/>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Tiết 1: Khái niệm – Đặc điểm – Vai trò của thuế</a:t>
            </a:r>
          </a:p>
        </p:txBody>
      </p:sp>
      <p:sp>
        <p:nvSpPr>
          <p:cNvPr id="7" name="Rectangle 6"/>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GDKTPL 10 – Bài 6: Thuế | Tiết 1</a:t>
            </a:r>
          </a:p>
        </p:txBody>
      </p:sp>
      <p:sp>
        <p:nvSpPr>
          <p:cNvPr id="9" name="TextBox 8"/>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MỤC TIÊU BÀI HỌC · TIẾT 1</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Sau tiết học, em sẽ...</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3538728" cy="352044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14600"/>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KT</a:t>
            </a:r>
          </a:p>
        </p:txBody>
      </p:sp>
      <p:sp>
        <p:nvSpPr>
          <p:cNvPr id="7" name="TextBox 6"/>
          <p:cNvSpPr txBox="1"/>
          <p:nvPr/>
        </p:nvSpPr>
        <p:spPr>
          <a:xfrm>
            <a:off x="731520" y="300837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Kiến thức</a:t>
            </a:r>
          </a:p>
        </p:txBody>
      </p:sp>
      <p:sp>
        <p:nvSpPr>
          <p:cNvPr id="8" name="TextBox 7"/>
          <p:cNvSpPr txBox="1"/>
          <p:nvPr/>
        </p:nvSpPr>
        <p:spPr>
          <a:xfrm>
            <a:off x="731520" y="3355848"/>
            <a:ext cx="3172968" cy="24323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Nêu được khái niệm thuế; chỉ ra được các đặc điểm cơ bản của thuế; phân tích được vai trò của thuế đối với Nhà nước và xã hội.</a:t>
            </a:r>
          </a:p>
        </p:txBody>
      </p:sp>
      <p:sp>
        <p:nvSpPr>
          <p:cNvPr id="9" name="Rounded Rectangle 8"/>
          <p:cNvSpPr/>
          <p:nvPr/>
        </p:nvSpPr>
        <p:spPr>
          <a:xfrm>
            <a:off x="4315968" y="2331720"/>
            <a:ext cx="3538728" cy="352044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98848" y="251460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NL</a:t>
            </a:r>
          </a:p>
        </p:txBody>
      </p:sp>
      <p:sp>
        <p:nvSpPr>
          <p:cNvPr id="11" name="TextBox 10"/>
          <p:cNvSpPr txBox="1"/>
          <p:nvPr/>
        </p:nvSpPr>
        <p:spPr>
          <a:xfrm>
            <a:off x="4498848" y="300837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Năng lực</a:t>
            </a:r>
          </a:p>
        </p:txBody>
      </p:sp>
      <p:sp>
        <p:nvSpPr>
          <p:cNvPr id="12" name="TextBox 11"/>
          <p:cNvSpPr txBox="1"/>
          <p:nvPr/>
        </p:nvSpPr>
        <p:spPr>
          <a:xfrm>
            <a:off x="4498848" y="3355848"/>
            <a:ext cx="3172968" cy="24323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Điều chỉnh hành vi: nhận thức đúng về nghĩa vụ nộp thuế.</a:t>
            </a:r>
          </a:p>
          <a:p>
            <a:pPr algn="l">
              <a:lnSpc>
                <a:spcPct val="108000"/>
              </a:lnSpc>
              <a:spcAft>
                <a:spcPts val="0"/>
              </a:spcAft>
            </a:pPr>
            <a:r>
              <a:rPr sz="1250" b="0" i="0">
                <a:solidFill>
                  <a:srgbClr val="2A2522"/>
                </a:solidFill>
                <a:latin typeface="Calibri"/>
              </a:rPr>
              <a:t/>
            </a:r>
          </a:p>
          <a:p>
            <a:pPr algn="l">
              <a:lnSpc>
                <a:spcPct val="108000"/>
              </a:lnSpc>
              <a:spcAft>
                <a:spcPts val="0"/>
              </a:spcAft>
            </a:pPr>
            <a:r>
              <a:rPr sz="1250" b="0" i="0">
                <a:solidFill>
                  <a:srgbClr val="2A2522"/>
                </a:solidFill>
                <a:latin typeface="Calibri"/>
              </a:rPr>
              <a:t>Tìm hiểu và tham gia hoạt động KT–XH: thu thập, xử lí thông tin về thuế qua tình huống thực tế.</a:t>
            </a:r>
          </a:p>
        </p:txBody>
      </p:sp>
      <p:sp>
        <p:nvSpPr>
          <p:cNvPr id="13" name="Rounded Rectangle 12"/>
          <p:cNvSpPr/>
          <p:nvPr/>
        </p:nvSpPr>
        <p:spPr>
          <a:xfrm>
            <a:off x="8083296" y="2331720"/>
            <a:ext cx="3557016" cy="3520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66176" y="2514600"/>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PC</a:t>
            </a:r>
          </a:p>
        </p:txBody>
      </p:sp>
      <p:sp>
        <p:nvSpPr>
          <p:cNvPr id="15" name="TextBox 14"/>
          <p:cNvSpPr txBox="1"/>
          <p:nvPr/>
        </p:nvSpPr>
        <p:spPr>
          <a:xfrm>
            <a:off x="8266176" y="3008376"/>
            <a:ext cx="3191256"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Phẩm chất</a:t>
            </a:r>
          </a:p>
        </p:txBody>
      </p:sp>
      <p:sp>
        <p:nvSpPr>
          <p:cNvPr id="16" name="TextBox 15"/>
          <p:cNvSpPr txBox="1"/>
          <p:nvPr/>
        </p:nvSpPr>
        <p:spPr>
          <a:xfrm>
            <a:off x="8266176" y="3355848"/>
            <a:ext cx="3191256" cy="24323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Trách nhiệm: có ý thức tuân thủ pháp luật thuế.</a:t>
            </a:r>
          </a:p>
          <a:p>
            <a:pPr algn="l">
              <a:lnSpc>
                <a:spcPct val="108000"/>
              </a:lnSpc>
              <a:spcAft>
                <a:spcPts val="0"/>
              </a:spcAft>
            </a:pPr>
            <a:r>
              <a:rPr sz="1250" b="0" i="0">
                <a:solidFill>
                  <a:srgbClr val="2A2522"/>
                </a:solidFill>
                <a:latin typeface="Calibri"/>
              </a:rPr>
              <a:t/>
            </a:r>
          </a:p>
          <a:p>
            <a:pPr algn="l">
              <a:lnSpc>
                <a:spcPct val="108000"/>
              </a:lnSpc>
              <a:spcAft>
                <a:spcPts val="0"/>
              </a:spcAft>
            </a:pPr>
            <a:r>
              <a:rPr sz="1250" b="0" i="0">
                <a:solidFill>
                  <a:srgbClr val="2A2522"/>
                </a:solidFill>
                <a:latin typeface="Calibri"/>
              </a:rPr>
              <a:t>Trung thực: đồng tình với việc kê khai, nộp thuế minh bạch, phê phán hành vi trốn thuế.</a:t>
            </a:r>
          </a:p>
        </p:txBody>
      </p:sp>
      <p:sp>
        <p:nvSpPr>
          <p:cNvPr id="17" name="Rectangle 16"/>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Mục tiêu</a:t>
            </a:r>
          </a:p>
        </p:txBody>
      </p:sp>
      <p:sp>
        <p:nvSpPr>
          <p:cNvPr id="19" name="TextBox 18"/>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KHÁM PHÁ 1 · KHÁI NIỆM</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Thuế là gì?</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41732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331720"/>
            <a:ext cx="82296" cy="14173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96312"/>
            <a:ext cx="10671048" cy="365760"/>
          </a:xfrm>
          <a:prstGeom prst="rect">
            <a:avLst/>
          </a:prstGeom>
          <a:noFill/>
        </p:spPr>
        <p:txBody>
          <a:bodyPr wrap="square" anchor="t" lIns="0" rIns="0" tIns="0" bIns="0">
            <a:spAutoFit/>
          </a:bodyPr>
          <a:lstStyle/>
          <a:p>
            <a:pPr algn="l">
              <a:lnSpc>
                <a:spcPct val="100000"/>
              </a:lnSpc>
              <a:spcAft>
                <a:spcPts val="0"/>
              </a:spcAft>
            </a:pPr>
            <a:r>
              <a:rPr sz="1300" b="1" i="0">
                <a:solidFill>
                  <a:srgbClr val="1F3B57"/>
                </a:solidFill>
                <a:latin typeface="Calibri"/>
              </a:rPr>
              <a:t>ĐỊNH NGHĨA (SGK GDKTPL 10 – Kết nối tri thức, Bài 6)</a:t>
            </a:r>
          </a:p>
        </p:txBody>
      </p:sp>
      <p:sp>
        <p:nvSpPr>
          <p:cNvPr id="8" name="TextBox 7"/>
          <p:cNvSpPr txBox="1"/>
          <p:nvPr/>
        </p:nvSpPr>
        <p:spPr>
          <a:xfrm>
            <a:off x="786384" y="2862072"/>
            <a:ext cx="10671048" cy="758952"/>
          </a:xfrm>
          <a:prstGeom prst="rect">
            <a:avLst/>
          </a:prstGeom>
          <a:noFill/>
        </p:spPr>
        <p:txBody>
          <a:bodyPr wrap="square" anchor="t" lIns="0" rIns="0" tIns="0" bIns="0">
            <a:spAutoFit/>
          </a:bodyPr>
          <a:lstStyle/>
          <a:p>
            <a:pPr algn="l">
              <a:lnSpc>
                <a:spcPct val="114000"/>
              </a:lnSpc>
              <a:spcAft>
                <a:spcPts val="0"/>
              </a:spcAft>
            </a:pPr>
            <a:r>
              <a:rPr sz="1450" b="0" i="0">
                <a:solidFill>
                  <a:srgbClr val="2A2522"/>
                </a:solidFill>
                <a:latin typeface="Calibri"/>
              </a:rPr>
              <a:t>Thuế là một khoản nộp ngân sách nhà nước bắt buộc của tổ chức, hộ gia đình, hộ kinh doanh, cá nhân theo quy định của các luật thuế.</a:t>
            </a:r>
          </a:p>
        </p:txBody>
      </p:sp>
      <p:sp>
        <p:nvSpPr>
          <p:cNvPr id="9" name="Rounded Rectangle 8"/>
          <p:cNvSpPr/>
          <p:nvPr/>
        </p:nvSpPr>
        <p:spPr>
          <a:xfrm>
            <a:off x="548640" y="3977639"/>
            <a:ext cx="3538728" cy="196596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4160519"/>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1</a:t>
            </a:r>
          </a:p>
        </p:txBody>
      </p:sp>
      <p:sp>
        <p:nvSpPr>
          <p:cNvPr id="11" name="TextBox 10"/>
          <p:cNvSpPr txBox="1"/>
          <p:nvPr/>
        </p:nvSpPr>
        <p:spPr>
          <a:xfrm>
            <a:off x="731520" y="4654295"/>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“Bắt buộc”</a:t>
            </a:r>
          </a:p>
        </p:txBody>
      </p:sp>
      <p:sp>
        <p:nvSpPr>
          <p:cNvPr id="12" name="TextBox 11"/>
          <p:cNvSpPr txBox="1"/>
          <p:nvPr/>
        </p:nvSpPr>
        <p:spPr>
          <a:xfrm>
            <a:off x="731520" y="5001767"/>
            <a:ext cx="3172968" cy="877824"/>
          </a:xfrm>
          <a:prstGeom prst="rect">
            <a:avLst/>
          </a:prstGeom>
          <a:noFill/>
        </p:spPr>
        <p:txBody>
          <a:bodyPr wrap="square" anchor="t" lIns="0" rIns="0" tIns="0" bIns="0">
            <a:spAutoFit/>
          </a:bodyPr>
          <a:lstStyle/>
          <a:p>
            <a:pPr algn="l">
              <a:lnSpc>
                <a:spcPct val="108000"/>
              </a:lnSpc>
              <a:spcAft>
                <a:spcPts val="0"/>
              </a:spcAft>
            </a:pPr>
            <a:r>
              <a:rPr sz="1200" b="0" i="0">
                <a:solidFill>
                  <a:srgbClr val="2A2522"/>
                </a:solidFill>
                <a:latin typeface="Calibri"/>
              </a:rPr>
              <a:t>Mọi tổ chức, cá nhân thuộc diện chịu thuế đều phải nộp, không phụ thuộc vào ý muốn cá nhân.</a:t>
            </a:r>
          </a:p>
        </p:txBody>
      </p:sp>
      <p:sp>
        <p:nvSpPr>
          <p:cNvPr id="13" name="Rounded Rectangle 12"/>
          <p:cNvSpPr/>
          <p:nvPr/>
        </p:nvSpPr>
        <p:spPr>
          <a:xfrm>
            <a:off x="4315968" y="3977639"/>
            <a:ext cx="3538728" cy="196596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98848" y="4160519"/>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2</a:t>
            </a:r>
          </a:p>
        </p:txBody>
      </p:sp>
      <p:sp>
        <p:nvSpPr>
          <p:cNvPr id="15" name="TextBox 14"/>
          <p:cNvSpPr txBox="1"/>
          <p:nvPr/>
        </p:nvSpPr>
        <p:spPr>
          <a:xfrm>
            <a:off x="4498848" y="4654295"/>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“Không hoàn trả trực tiếp”</a:t>
            </a:r>
          </a:p>
        </p:txBody>
      </p:sp>
      <p:sp>
        <p:nvSpPr>
          <p:cNvPr id="16" name="TextBox 15"/>
          <p:cNvSpPr txBox="1"/>
          <p:nvPr/>
        </p:nvSpPr>
        <p:spPr>
          <a:xfrm>
            <a:off x="4498848" y="5001767"/>
            <a:ext cx="3172968" cy="877824"/>
          </a:xfrm>
          <a:prstGeom prst="rect">
            <a:avLst/>
          </a:prstGeom>
          <a:noFill/>
        </p:spPr>
        <p:txBody>
          <a:bodyPr wrap="square" anchor="t" lIns="0" rIns="0" tIns="0" bIns="0">
            <a:spAutoFit/>
          </a:bodyPr>
          <a:lstStyle/>
          <a:p>
            <a:pPr algn="l">
              <a:lnSpc>
                <a:spcPct val="108000"/>
              </a:lnSpc>
              <a:spcAft>
                <a:spcPts val="0"/>
              </a:spcAft>
            </a:pPr>
            <a:r>
              <a:rPr sz="1200" b="0" i="0">
                <a:solidFill>
                  <a:srgbClr val="2A2522"/>
                </a:solidFill>
                <a:latin typeface="Calibri"/>
              </a:rPr>
              <a:t>Người nộp thuế không nhận lại ngay một khoản lợi ích tương ứng, mà hưởng lợi gián tiếp qua dịch vụ công.</a:t>
            </a:r>
          </a:p>
        </p:txBody>
      </p:sp>
      <p:sp>
        <p:nvSpPr>
          <p:cNvPr id="17" name="Rounded Rectangle 16"/>
          <p:cNvSpPr/>
          <p:nvPr/>
        </p:nvSpPr>
        <p:spPr>
          <a:xfrm>
            <a:off x="8083296" y="3977639"/>
            <a:ext cx="3557016" cy="196596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66176" y="4160519"/>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3</a:t>
            </a:r>
          </a:p>
        </p:txBody>
      </p:sp>
      <p:sp>
        <p:nvSpPr>
          <p:cNvPr id="19" name="TextBox 18"/>
          <p:cNvSpPr txBox="1"/>
          <p:nvPr/>
        </p:nvSpPr>
        <p:spPr>
          <a:xfrm>
            <a:off x="8266176" y="4654295"/>
            <a:ext cx="3191256"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“Theo luật định”</a:t>
            </a:r>
          </a:p>
        </p:txBody>
      </p:sp>
      <p:sp>
        <p:nvSpPr>
          <p:cNvPr id="20" name="TextBox 19"/>
          <p:cNvSpPr txBox="1"/>
          <p:nvPr/>
        </p:nvSpPr>
        <p:spPr>
          <a:xfrm>
            <a:off x="8266176" y="5001767"/>
            <a:ext cx="3191256" cy="877824"/>
          </a:xfrm>
          <a:prstGeom prst="rect">
            <a:avLst/>
          </a:prstGeom>
          <a:noFill/>
        </p:spPr>
        <p:txBody>
          <a:bodyPr wrap="square" anchor="t" lIns="0" rIns="0" tIns="0" bIns="0">
            <a:spAutoFit/>
          </a:bodyPr>
          <a:lstStyle/>
          <a:p>
            <a:pPr algn="l">
              <a:lnSpc>
                <a:spcPct val="108000"/>
              </a:lnSpc>
              <a:spcAft>
                <a:spcPts val="0"/>
              </a:spcAft>
            </a:pPr>
            <a:r>
              <a:rPr sz="1200" b="0" i="0">
                <a:solidFill>
                  <a:srgbClr val="2A2522"/>
                </a:solidFill>
                <a:latin typeface="Calibri"/>
              </a:rPr>
              <a:t>Đối tượng, mức thuế, cách thu do các luật thuế của Nhà nước quy định cụ thể.</a:t>
            </a:r>
          </a:p>
        </p:txBody>
      </p:sp>
      <p:sp>
        <p:nvSpPr>
          <p:cNvPr id="21" name="Rectangle 2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Khám phá</a:t>
            </a:r>
          </a:p>
        </p:txBody>
      </p:sp>
      <p:sp>
        <p:nvSpPr>
          <p:cNvPr id="23" name="TextBox 2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KHÁM PHÁ 2 · ĐẶC ĐIỂM</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Bốn đặc điểm cơ bản của thuế</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5394960" cy="160020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14600"/>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7" name="TextBox 6"/>
          <p:cNvSpPr txBox="1"/>
          <p:nvPr/>
        </p:nvSpPr>
        <p:spPr>
          <a:xfrm>
            <a:off x="731520" y="3008376"/>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Tính bắt buộc</a:t>
            </a:r>
          </a:p>
        </p:txBody>
      </p:sp>
      <p:sp>
        <p:nvSpPr>
          <p:cNvPr id="8" name="TextBox 7"/>
          <p:cNvSpPr txBox="1"/>
          <p:nvPr/>
        </p:nvSpPr>
        <p:spPr>
          <a:xfrm>
            <a:off x="731520" y="3355848"/>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Được bảo đảm thực hiện bằng quyền lực nhà nước (mang tính cưỡng chế).</a:t>
            </a:r>
          </a:p>
        </p:txBody>
      </p:sp>
      <p:sp>
        <p:nvSpPr>
          <p:cNvPr id="9" name="Rounded Rectangle 8"/>
          <p:cNvSpPr/>
          <p:nvPr/>
        </p:nvSpPr>
        <p:spPr>
          <a:xfrm>
            <a:off x="6245352" y="2331720"/>
            <a:ext cx="5394960" cy="160020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28232" y="2514600"/>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11" name="TextBox 10"/>
          <p:cNvSpPr txBox="1"/>
          <p:nvPr/>
        </p:nvSpPr>
        <p:spPr>
          <a:xfrm>
            <a:off x="6428232" y="3008376"/>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Không hoàn trả trực tiếp</a:t>
            </a:r>
          </a:p>
        </p:txBody>
      </p:sp>
      <p:sp>
        <p:nvSpPr>
          <p:cNvPr id="12" name="TextBox 11"/>
          <p:cNvSpPr txBox="1"/>
          <p:nvPr/>
        </p:nvSpPr>
        <p:spPr>
          <a:xfrm>
            <a:off x="6428232" y="3355848"/>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Người nộp thuế không nhận lại trực tiếp khoản lợi ích tương ứng số thuế đã nộp.</a:t>
            </a:r>
          </a:p>
        </p:txBody>
      </p:sp>
      <p:sp>
        <p:nvSpPr>
          <p:cNvPr id="13" name="Rounded Rectangle 12"/>
          <p:cNvSpPr/>
          <p:nvPr/>
        </p:nvSpPr>
        <p:spPr>
          <a:xfrm>
            <a:off x="548640" y="4233672"/>
            <a:ext cx="5394960" cy="160020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4416552"/>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15" name="TextBox 14"/>
          <p:cNvSpPr txBox="1"/>
          <p:nvPr/>
        </p:nvSpPr>
        <p:spPr>
          <a:xfrm>
            <a:off x="731520" y="4910328"/>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Tính pháp lí cao</a:t>
            </a:r>
          </a:p>
        </p:txBody>
      </p:sp>
      <p:sp>
        <p:nvSpPr>
          <p:cNvPr id="16" name="TextBox 15"/>
          <p:cNvSpPr txBox="1"/>
          <p:nvPr/>
        </p:nvSpPr>
        <p:spPr>
          <a:xfrm>
            <a:off x="731520" y="5257800"/>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Chỉ được ban hành, sửa đổi bởi cơ quan nhà nước có thẩm quyền (Quốc hội) qua luật, pháp lệnh.</a:t>
            </a:r>
          </a:p>
        </p:txBody>
      </p:sp>
      <p:sp>
        <p:nvSpPr>
          <p:cNvPr id="17" name="Rounded Rectangle 16"/>
          <p:cNvSpPr/>
          <p:nvPr/>
        </p:nvSpPr>
        <p:spPr>
          <a:xfrm>
            <a:off x="6245352" y="4233672"/>
            <a:ext cx="5394960" cy="160020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28232" y="4416552"/>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19" name="TextBox 18"/>
          <p:cNvSpPr txBox="1"/>
          <p:nvPr/>
        </p:nvSpPr>
        <p:spPr>
          <a:xfrm>
            <a:off x="6428232" y="4910328"/>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Gắn với hoạt động kinh tế</a:t>
            </a:r>
          </a:p>
        </p:txBody>
      </p:sp>
      <p:sp>
        <p:nvSpPr>
          <p:cNvPr id="20" name="TextBox 19"/>
          <p:cNvSpPr txBox="1"/>
          <p:nvPr/>
        </p:nvSpPr>
        <p:spPr>
          <a:xfrm>
            <a:off x="6428232" y="5257800"/>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Phát sinh từ hoạt động sản xuất, kinh doanh, thu nhập, tiêu dùng, sử dụng tài sản...</a:t>
            </a:r>
          </a:p>
        </p:txBody>
      </p:sp>
      <p:sp>
        <p:nvSpPr>
          <p:cNvPr id="21" name="Rectangle 2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Khám phá</a:t>
            </a:r>
          </a:p>
        </p:txBody>
      </p:sp>
      <p:sp>
        <p:nvSpPr>
          <p:cNvPr id="23" name="TextBox 2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KHÁM PHÁ 3 · TÌNH HUỐNG</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Đọc tình huống và trả lời</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11091672" cy="196596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52374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8C2F39"/>
                </a:solidFill>
                <a:latin typeface="Calibri"/>
              </a:rPr>
              <a:t>TÌNH HUỐNG</a:t>
            </a:r>
          </a:p>
        </p:txBody>
      </p:sp>
      <p:sp>
        <p:nvSpPr>
          <p:cNvPr id="7" name="TextBox 6"/>
          <p:cNvSpPr txBox="1"/>
          <p:nvPr/>
        </p:nvSpPr>
        <p:spPr>
          <a:xfrm>
            <a:off x="786384" y="2834640"/>
            <a:ext cx="10616184" cy="1362456"/>
          </a:xfrm>
          <a:prstGeom prst="rect">
            <a:avLst/>
          </a:prstGeom>
          <a:noFill/>
        </p:spPr>
        <p:txBody>
          <a:bodyPr wrap="square" anchor="t" lIns="0" rIns="0" tIns="0" bIns="0">
            <a:spAutoFit/>
          </a:bodyPr>
          <a:lstStyle/>
          <a:p>
            <a:pPr algn="l">
              <a:lnSpc>
                <a:spcPct val="116000"/>
              </a:lnSpc>
              <a:spcAft>
                <a:spcPts val="0"/>
              </a:spcAft>
            </a:pPr>
            <a:r>
              <a:rPr sz="1500" b="0" i="0">
                <a:solidFill>
                  <a:srgbClr val="2A2522"/>
                </a:solidFill>
                <a:latin typeface="Calibri"/>
              </a:rPr>
              <a:t>Anh M mở cửa hàng kinh doanh quần áo. Mỗi tháng, anh M đều kê khai và nộp thuế giá trị gia tăng, thuế thu nhập cá nhân theo quy định, dù anh không trực tiếp nhận lại con đường, trường học hay bệnh viện nào được xây dựng từ số tiền đó.</a:t>
            </a:r>
          </a:p>
        </p:txBody>
      </p:sp>
      <p:sp>
        <p:nvSpPr>
          <p:cNvPr id="8" name="TextBox 7"/>
          <p:cNvSpPr txBox="1"/>
          <p:nvPr/>
        </p:nvSpPr>
        <p:spPr>
          <a:xfrm>
            <a:off x="548640" y="4572000"/>
            <a:ext cx="11091672" cy="1645920"/>
          </a:xfrm>
          <a:prstGeom prst="rect">
            <a:avLst/>
          </a:prstGeom>
          <a:noFill/>
        </p:spPr>
        <p:txBody>
          <a:bodyPr wrap="square" lIns="0" rIns="0" tIns="0" bIns="0">
            <a:spAutoFit/>
          </a:bodyPr>
          <a:lstStyle/>
          <a:p>
            <a:pPr>
              <a:lnSpc>
                <a:spcPct val="112000"/>
              </a:lnSpc>
              <a:spcAft>
                <a:spcPts val="800"/>
              </a:spcAft>
            </a:pPr>
            <a:r>
              <a:rPr sz="1450" b="1">
                <a:solidFill>
                  <a:srgbClr val="1F3B57"/>
                </a:solidFill>
                <a:latin typeface="Calibri"/>
              </a:rPr>
              <a:t>▪  </a:t>
            </a:r>
            <a:r>
              <a:rPr sz="1450">
                <a:solidFill>
                  <a:srgbClr val="2A2522"/>
                </a:solidFill>
                <a:latin typeface="Calibri"/>
              </a:rPr>
              <a:t>Việc nộp thuế của anh M thể hiện những đặc điểm nào của thuế?</a:t>
            </a:r>
          </a:p>
          <a:p>
            <a:pPr>
              <a:lnSpc>
                <a:spcPct val="112000"/>
              </a:lnSpc>
              <a:spcAft>
                <a:spcPts val="800"/>
              </a:spcAft>
            </a:pPr>
            <a:r>
              <a:rPr sz="1450" b="1">
                <a:solidFill>
                  <a:srgbClr val="1F3B57"/>
                </a:solidFill>
                <a:latin typeface="Calibri"/>
              </a:rPr>
              <a:t>▪  </a:t>
            </a:r>
            <a:r>
              <a:rPr sz="1450">
                <a:solidFill>
                  <a:srgbClr val="2A2522"/>
                </a:solidFill>
                <a:latin typeface="Calibri"/>
              </a:rPr>
              <a:t>Vì sao anh M vẫn phải nộp thuế dù không được hưởng lợi ích ngay lập tức, trực tiếp?</a:t>
            </a:r>
          </a:p>
        </p:txBody>
      </p:sp>
      <p:sp>
        <p:nvSpPr>
          <p:cNvPr id="9" name="Rectangle 8"/>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Khám phá</a:t>
            </a:r>
          </a:p>
        </p:txBody>
      </p:sp>
      <p:sp>
        <p:nvSpPr>
          <p:cNvPr id="11" name="TextBox 10"/>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KHÁM PHÁ 4 · VAI TRÒ (1)</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Thuế – nguồn thu chủ yếu của ngân sách nhà nước</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5394960" cy="338328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60320"/>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7" name="TextBox 6"/>
          <p:cNvSpPr txBox="1"/>
          <p:nvPr/>
        </p:nvSpPr>
        <p:spPr>
          <a:xfrm>
            <a:off x="731520" y="3054096"/>
            <a:ext cx="50292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1F3B57"/>
                </a:solidFill>
                <a:latin typeface="Calibri"/>
              </a:rPr>
              <a:t>Nguồn thu chủ yếu, ổn định</a:t>
            </a:r>
          </a:p>
        </p:txBody>
      </p:sp>
      <p:sp>
        <p:nvSpPr>
          <p:cNvPr id="8" name="TextBox 7"/>
          <p:cNvSpPr txBox="1"/>
          <p:nvPr/>
        </p:nvSpPr>
        <p:spPr>
          <a:xfrm>
            <a:off x="731520" y="3401568"/>
            <a:ext cx="5029200" cy="2295144"/>
          </a:xfrm>
          <a:prstGeom prst="rect">
            <a:avLst/>
          </a:prstGeom>
          <a:noFill/>
        </p:spPr>
        <p:txBody>
          <a:bodyPr wrap="square" anchor="t" lIns="0" rIns="0" tIns="0" bIns="0">
            <a:spAutoFit/>
          </a:bodyPr>
          <a:lstStyle/>
          <a:p>
            <a:pPr algn="l">
              <a:lnSpc>
                <a:spcPct val="108000"/>
              </a:lnSpc>
              <a:spcAft>
                <a:spcPts val="0"/>
              </a:spcAft>
            </a:pPr>
            <a:r>
              <a:rPr sz="1300" b="0" i="0">
                <a:solidFill>
                  <a:srgbClr val="2A2522"/>
                </a:solidFill>
                <a:latin typeface="Calibri"/>
              </a:rPr>
              <a:t>Thuế là nguồn thu chủ yếu của ngân sách nhà nước, bảo đảm nguồn lực chi cho quốc phòng – an ninh, giáo dục, y tế, an sinh xã hội, đầu tư cơ sở hạ tầng...</a:t>
            </a:r>
          </a:p>
        </p:txBody>
      </p:sp>
      <p:sp>
        <p:nvSpPr>
          <p:cNvPr id="9" name="Rounded Rectangle 8"/>
          <p:cNvSpPr/>
          <p:nvPr/>
        </p:nvSpPr>
        <p:spPr>
          <a:xfrm>
            <a:off x="6245352" y="2377440"/>
            <a:ext cx="5394960" cy="338328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28232" y="2560320"/>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11" name="TextBox 10"/>
          <p:cNvSpPr txBox="1"/>
          <p:nvPr/>
        </p:nvSpPr>
        <p:spPr>
          <a:xfrm>
            <a:off x="6428232" y="3054096"/>
            <a:ext cx="50292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1F3B57"/>
                </a:solidFill>
                <a:latin typeface="Calibri"/>
              </a:rPr>
              <a:t>Công cụ điều tiết vĩ mô</a:t>
            </a:r>
          </a:p>
        </p:txBody>
      </p:sp>
      <p:sp>
        <p:nvSpPr>
          <p:cNvPr id="12" name="TextBox 11"/>
          <p:cNvSpPr txBox="1"/>
          <p:nvPr/>
        </p:nvSpPr>
        <p:spPr>
          <a:xfrm>
            <a:off x="6428232" y="3401568"/>
            <a:ext cx="5029200" cy="2295144"/>
          </a:xfrm>
          <a:prstGeom prst="rect">
            <a:avLst/>
          </a:prstGeom>
          <a:noFill/>
        </p:spPr>
        <p:txBody>
          <a:bodyPr wrap="square" anchor="t" lIns="0" rIns="0" tIns="0" bIns="0">
            <a:spAutoFit/>
          </a:bodyPr>
          <a:lstStyle/>
          <a:p>
            <a:pPr algn="l">
              <a:lnSpc>
                <a:spcPct val="108000"/>
              </a:lnSpc>
              <a:spcAft>
                <a:spcPts val="0"/>
              </a:spcAft>
            </a:pPr>
            <a:r>
              <a:rPr sz="1300" b="0" i="0">
                <a:solidFill>
                  <a:srgbClr val="2A2522"/>
                </a:solidFill>
                <a:latin typeface="Calibri"/>
              </a:rPr>
              <a:t>Nhà nước sử dụng thuế (tăng/giảm thuế suất, miễn giảm thuế) để điều tiết sản xuất, khuyến khích hoặc hạn chế tiêu dùng một số hàng hoá, dịch vụ.</a:t>
            </a:r>
          </a:p>
        </p:txBody>
      </p:sp>
      <p:sp>
        <p:nvSpPr>
          <p:cNvPr id="13" name="Rectangle 12"/>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Khám phá</a:t>
            </a:r>
          </a:p>
        </p:txBody>
      </p:sp>
      <p:sp>
        <p:nvSpPr>
          <p:cNvPr id="15" name="TextBox 14"/>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KHÁM PHÁ 5 · VAI TRÒ (2)</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Thuế góp phần bảo đảm công bằng xã hội</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23160"/>
            <a:ext cx="11091672" cy="3566160"/>
          </a:xfrm>
          <a:prstGeom prst="rect">
            <a:avLst/>
          </a:prstGeom>
          <a:noFill/>
        </p:spPr>
        <p:txBody>
          <a:bodyPr wrap="square" lIns="0" rIns="0" tIns="0" bIns="0">
            <a:spAutoFit/>
          </a:bodyPr>
          <a:lstStyle/>
          <a:p>
            <a:pPr>
              <a:lnSpc>
                <a:spcPct val="112000"/>
              </a:lnSpc>
              <a:spcAft>
                <a:spcPts val="1400"/>
              </a:spcAft>
            </a:pPr>
            <a:r>
              <a:rPr sz="1500" b="1">
                <a:solidFill>
                  <a:srgbClr val="1F3B57"/>
                </a:solidFill>
                <a:latin typeface="Calibri"/>
              </a:rPr>
              <a:t>▪  </a:t>
            </a:r>
            <a:r>
              <a:rPr sz="1500" b="1">
                <a:solidFill>
                  <a:srgbClr val="2A2522"/>
                </a:solidFill>
                <a:latin typeface="Calibri"/>
              </a:rPr>
              <a:t>Điều tiết thu nhập: </a:t>
            </a:r>
            <a:r>
              <a:rPr sz="1500">
                <a:solidFill>
                  <a:srgbClr val="2A2522"/>
                </a:solidFill>
                <a:latin typeface="Calibri"/>
              </a:rPr>
              <a:t>thuế thu nhập cá nhân áp dụng biểu thuế luỹ tiến từng phần – thu nhập càng cao, thuế suất càng cao – góp phần thu hẹp khoảng cách giàu nghèo.</a:t>
            </a:r>
          </a:p>
          <a:p>
            <a:pPr>
              <a:lnSpc>
                <a:spcPct val="112000"/>
              </a:lnSpc>
              <a:spcAft>
                <a:spcPts val="1400"/>
              </a:spcAft>
            </a:pPr>
            <a:r>
              <a:rPr sz="1500" b="1">
                <a:solidFill>
                  <a:srgbClr val="1F3B57"/>
                </a:solidFill>
                <a:latin typeface="Calibri"/>
              </a:rPr>
              <a:t>▪  </a:t>
            </a:r>
            <a:r>
              <a:rPr sz="1500" b="1">
                <a:solidFill>
                  <a:srgbClr val="2A2522"/>
                </a:solidFill>
                <a:latin typeface="Calibri"/>
              </a:rPr>
              <a:t>Hướng dẫn tiêu dùng, bảo vệ sản xuất trong nước: </a:t>
            </a:r>
            <a:r>
              <a:rPr sz="1500">
                <a:solidFill>
                  <a:srgbClr val="2A2522"/>
                </a:solidFill>
                <a:latin typeface="Calibri"/>
              </a:rPr>
              <a:t>đánh thuế cao hơn với hàng hoá cần hạn chế (thuốc lá, rượu bia...), hỗ trợ thuế với hàng hoá cần khuyến khích.</a:t>
            </a:r>
          </a:p>
          <a:p>
            <a:pPr>
              <a:lnSpc>
                <a:spcPct val="112000"/>
              </a:lnSpc>
              <a:spcAft>
                <a:spcPts val="1400"/>
              </a:spcAft>
            </a:pPr>
            <a:r>
              <a:rPr sz="1500" b="1">
                <a:solidFill>
                  <a:srgbClr val="1F3B57"/>
                </a:solidFill>
                <a:latin typeface="Calibri"/>
              </a:rPr>
              <a:t>▪  </a:t>
            </a:r>
            <a:r>
              <a:rPr sz="1500" b="1">
                <a:solidFill>
                  <a:srgbClr val="2A2522"/>
                </a:solidFill>
                <a:latin typeface="Calibri"/>
              </a:rPr>
              <a:t>Bảo vệ lợi ích quốc gia, môi trường: </a:t>
            </a:r>
            <a:r>
              <a:rPr sz="1500">
                <a:solidFill>
                  <a:srgbClr val="2A2522"/>
                </a:solidFill>
                <a:latin typeface="Calibri"/>
              </a:rPr>
              <a:t>thông qua thuế xuất – nhập khẩu, thuế bảo vệ môi trường, góp phần bảo vệ sản xuất trong nước và tài nguyên, môi trường.</a:t>
            </a:r>
          </a:p>
        </p:txBody>
      </p:sp>
      <p:sp>
        <p:nvSpPr>
          <p:cNvPr id="6" name="Rectangle 5"/>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Khám phá</a:t>
            </a:r>
          </a:p>
        </p:txBody>
      </p:sp>
      <p:sp>
        <p:nvSpPr>
          <p:cNvPr id="8" name="TextBox 7"/>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78A2E"/>
                </a:solidFill>
                <a:latin typeface="Calibri"/>
              </a:rPr>
              <a:t>TỔNG KẾT NHANH</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Sơ đồ tư duy: Thuế là gì?</a:t>
            </a:r>
          </a:p>
        </p:txBody>
      </p:sp>
      <p:sp>
        <p:nvSpPr>
          <p:cNvPr id="4" name="Rectangle 3"/>
          <p:cNvSpPr/>
          <p:nvPr/>
        </p:nvSpPr>
        <p:spPr>
          <a:xfrm>
            <a:off x="548640" y="1472184"/>
            <a:ext cx="822960" cy="4064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3538728" cy="329184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60320"/>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7" name="TextBox 6"/>
          <p:cNvSpPr txBox="1"/>
          <p:nvPr/>
        </p:nvSpPr>
        <p:spPr>
          <a:xfrm>
            <a:off x="731520" y="305409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KHÁI NIỆM</a:t>
            </a:r>
          </a:p>
        </p:txBody>
      </p:sp>
      <p:sp>
        <p:nvSpPr>
          <p:cNvPr id="8" name="TextBox 7"/>
          <p:cNvSpPr txBox="1"/>
          <p:nvPr/>
        </p:nvSpPr>
        <p:spPr>
          <a:xfrm>
            <a:off x="731520" y="3401568"/>
            <a:ext cx="3172968" cy="22037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Khoản thu bắt buộc vào ngân sách nhà nước của tổ chức, cá nhân theo quy định của luật thuế.</a:t>
            </a:r>
          </a:p>
        </p:txBody>
      </p:sp>
      <p:sp>
        <p:nvSpPr>
          <p:cNvPr id="9" name="Rounded Rectangle 8"/>
          <p:cNvSpPr/>
          <p:nvPr/>
        </p:nvSpPr>
        <p:spPr>
          <a:xfrm>
            <a:off x="4315968" y="2377440"/>
            <a:ext cx="3538728" cy="329184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98848" y="256032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11" name="TextBox 10"/>
          <p:cNvSpPr txBox="1"/>
          <p:nvPr/>
        </p:nvSpPr>
        <p:spPr>
          <a:xfrm>
            <a:off x="4498848" y="305409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ĐẶC ĐIỂM</a:t>
            </a:r>
          </a:p>
        </p:txBody>
      </p:sp>
      <p:sp>
        <p:nvSpPr>
          <p:cNvPr id="12" name="TextBox 11"/>
          <p:cNvSpPr txBox="1"/>
          <p:nvPr/>
        </p:nvSpPr>
        <p:spPr>
          <a:xfrm>
            <a:off x="4498848" y="3401568"/>
            <a:ext cx="3172968" cy="22037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Bắt buộc – không hoàn trả trực tiếp – tính pháp lí cao – gắn liền với hoạt động kinh tế.</a:t>
            </a:r>
          </a:p>
        </p:txBody>
      </p:sp>
      <p:sp>
        <p:nvSpPr>
          <p:cNvPr id="13" name="Rounded Rectangle 12"/>
          <p:cNvSpPr/>
          <p:nvPr/>
        </p:nvSpPr>
        <p:spPr>
          <a:xfrm>
            <a:off x="8083296" y="2377440"/>
            <a:ext cx="3557016" cy="32918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66176" y="2560320"/>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15" name="TextBox 14"/>
          <p:cNvSpPr txBox="1"/>
          <p:nvPr/>
        </p:nvSpPr>
        <p:spPr>
          <a:xfrm>
            <a:off x="8266176" y="3054096"/>
            <a:ext cx="3191256"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VAI TRÒ</a:t>
            </a:r>
          </a:p>
        </p:txBody>
      </p:sp>
      <p:sp>
        <p:nvSpPr>
          <p:cNvPr id="16" name="TextBox 15"/>
          <p:cNvSpPr txBox="1"/>
          <p:nvPr/>
        </p:nvSpPr>
        <p:spPr>
          <a:xfrm>
            <a:off x="8266176" y="3401568"/>
            <a:ext cx="3191256" cy="22037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Nguồn thu chủ yếu của NSNN – công cụ điều tiết vĩ mô – bảo đảm công bằng xã hội.</a:t>
            </a:r>
          </a:p>
        </p:txBody>
      </p:sp>
      <p:sp>
        <p:nvSpPr>
          <p:cNvPr id="17" name="Rectangle 16"/>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Tổng kết</a:t>
            </a:r>
          </a:p>
        </p:txBody>
      </p:sp>
      <p:sp>
        <p:nvSpPr>
          <p:cNvPr id="19" name="TextBox 18"/>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LUYỆN TẬP · TRẮC NGHIỆM</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Khoanh vào chữ cái trước đáp án đúng</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82880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45973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1. Khoản thu nào sau đây được xem là thuế?</a:t>
            </a:r>
          </a:p>
        </p:txBody>
      </p:sp>
      <p:sp>
        <p:nvSpPr>
          <p:cNvPr id="7" name="TextBox 6"/>
          <p:cNvSpPr txBox="1"/>
          <p:nvPr/>
        </p:nvSpPr>
        <p:spPr>
          <a:xfrm>
            <a:off x="749808" y="299008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Tiền phạt vi phạm giao thông</a:t>
            </a:r>
          </a:p>
        </p:txBody>
      </p:sp>
      <p:sp>
        <p:nvSpPr>
          <p:cNvPr id="8" name="TextBox 7"/>
          <p:cNvSpPr txBox="1"/>
          <p:nvPr/>
        </p:nvSpPr>
        <p:spPr>
          <a:xfrm>
            <a:off x="6094476" y="299008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B. Thuế giá trị gia tăng khi mua hàng hoá</a:t>
            </a:r>
          </a:p>
        </p:txBody>
      </p:sp>
      <p:sp>
        <p:nvSpPr>
          <p:cNvPr id="9" name="TextBox 8"/>
          <p:cNvSpPr txBox="1"/>
          <p:nvPr/>
        </p:nvSpPr>
        <p:spPr>
          <a:xfrm>
            <a:off x="749808"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Tiền quyên góp từ thiện</a:t>
            </a:r>
          </a:p>
        </p:txBody>
      </p:sp>
      <p:sp>
        <p:nvSpPr>
          <p:cNvPr id="10" name="TextBox 9"/>
          <p:cNvSpPr txBox="1"/>
          <p:nvPr/>
        </p:nvSpPr>
        <p:spPr>
          <a:xfrm>
            <a:off x="6094476"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Học phí trường tư thục</a:t>
            </a:r>
          </a:p>
        </p:txBody>
      </p:sp>
      <p:sp>
        <p:nvSpPr>
          <p:cNvPr id="11" name="Rounded Rectangle 10"/>
          <p:cNvSpPr/>
          <p:nvPr/>
        </p:nvSpPr>
        <p:spPr>
          <a:xfrm>
            <a:off x="548640" y="4343400"/>
            <a:ext cx="11091672" cy="182880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47141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2. Đặc điểm nào sau đây KHÔNG đúng với thuế?</a:t>
            </a:r>
          </a:p>
        </p:txBody>
      </p:sp>
      <p:sp>
        <p:nvSpPr>
          <p:cNvPr id="13" name="TextBox 12"/>
          <p:cNvSpPr txBox="1"/>
          <p:nvPr/>
        </p:nvSpPr>
        <p:spPr>
          <a:xfrm>
            <a:off x="749808" y="50017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Mang tính bắt buộc</a:t>
            </a:r>
          </a:p>
        </p:txBody>
      </p:sp>
      <p:sp>
        <p:nvSpPr>
          <p:cNvPr id="14" name="TextBox 13"/>
          <p:cNvSpPr txBox="1"/>
          <p:nvPr/>
        </p:nvSpPr>
        <p:spPr>
          <a:xfrm>
            <a:off x="6094476" y="50017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B. Người nộp thuế được hoàn trả trực tiếp tương ứng số tiền đã nộp</a:t>
            </a:r>
          </a:p>
        </p:txBody>
      </p:sp>
      <p:sp>
        <p:nvSpPr>
          <p:cNvPr id="15" name="TextBox 14"/>
          <p:cNvSpPr txBox="1"/>
          <p:nvPr/>
        </p:nvSpPr>
        <p:spPr>
          <a:xfrm>
            <a:off x="749808" y="536752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Do cơ quan nhà nước có thẩm quyền quy định</a:t>
            </a:r>
          </a:p>
        </p:txBody>
      </p:sp>
      <p:sp>
        <p:nvSpPr>
          <p:cNvPr id="16" name="TextBox 15"/>
          <p:cNvSpPr txBox="1"/>
          <p:nvPr/>
        </p:nvSpPr>
        <p:spPr>
          <a:xfrm>
            <a:off x="6094476" y="536752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Gắn liền với các hoạt động kinh tế</a:t>
            </a:r>
          </a:p>
        </p:txBody>
      </p:sp>
      <p:sp>
        <p:nvSpPr>
          <p:cNvPr id="17" name="Rectangle 16"/>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Luyện tập</a:t>
            </a:r>
          </a:p>
        </p:txBody>
      </p:sp>
      <p:sp>
        <p:nvSpPr>
          <p:cNvPr id="19" name="TextBox 18"/>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LUYỆN TẬP · TRẮC NGHIỆM</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Khoanh vào chữ cái trước đáp án đúng</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69164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45973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3. Việc Nhà nước tăng thuế tiêu thụ đặc biệt với thuốc lá chủ yếu nhằm mục đích gì?</a:t>
            </a:r>
          </a:p>
        </p:txBody>
      </p:sp>
      <p:sp>
        <p:nvSpPr>
          <p:cNvPr id="7" name="TextBox 6"/>
          <p:cNvSpPr txBox="1"/>
          <p:nvPr/>
        </p:nvSpPr>
        <p:spPr>
          <a:xfrm>
            <a:off x="749808" y="299008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Tăng lợi nhuận cho doanh nghiệp thuốc lá</a:t>
            </a:r>
          </a:p>
        </p:txBody>
      </p:sp>
      <p:sp>
        <p:nvSpPr>
          <p:cNvPr id="8" name="TextBox 7"/>
          <p:cNvSpPr txBox="1"/>
          <p:nvPr/>
        </p:nvSpPr>
        <p:spPr>
          <a:xfrm>
            <a:off x="6094476" y="2990088"/>
            <a:ext cx="5253228" cy="329184"/>
          </a:xfrm>
          <a:prstGeom prst="rect">
            <a:avLst/>
          </a:prstGeom>
          <a:noFill/>
        </p:spPr>
        <p:txBody>
          <a:bodyPr wrap="square" anchor="t" lIns="0" rIns="0" tIns="0" bIns="0">
            <a:spAutoFit/>
          </a:bodyPr>
          <a:lstStyle/>
          <a:p>
            <a:pPr algn="l">
              <a:lnSpc>
                <a:spcPct val="100000"/>
              </a:lnSpc>
              <a:spcAft>
                <a:spcPts val="0"/>
              </a:spcAft>
            </a:pPr>
            <a:r>
              <a:rPr sz="1200" b="1" i="0">
                <a:solidFill>
                  <a:srgbClr val="6C222A"/>
                </a:solidFill>
                <a:latin typeface="Calibri"/>
              </a:rPr>
              <a:t>B. Hạn chế tiêu dùng mặt hàng có hại cho sức khoẻ  ✓</a:t>
            </a:r>
          </a:p>
        </p:txBody>
      </p:sp>
      <p:sp>
        <p:nvSpPr>
          <p:cNvPr id="9" name="TextBox 8"/>
          <p:cNvSpPr txBox="1"/>
          <p:nvPr/>
        </p:nvSpPr>
        <p:spPr>
          <a:xfrm>
            <a:off x="749808"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Giảm giá bán thuốc lá</a:t>
            </a:r>
          </a:p>
        </p:txBody>
      </p:sp>
      <p:sp>
        <p:nvSpPr>
          <p:cNvPr id="10" name="TextBox 9"/>
          <p:cNvSpPr txBox="1"/>
          <p:nvPr/>
        </p:nvSpPr>
        <p:spPr>
          <a:xfrm>
            <a:off x="6094476"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Khuyến khích xuất khẩu thuốc lá</a:t>
            </a:r>
          </a:p>
        </p:txBody>
      </p:sp>
      <p:sp>
        <p:nvSpPr>
          <p:cNvPr id="11" name="Rounded Rectangle 10"/>
          <p:cNvSpPr/>
          <p:nvPr/>
        </p:nvSpPr>
        <p:spPr>
          <a:xfrm>
            <a:off x="548640" y="4206240"/>
            <a:ext cx="11091672" cy="169164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33425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4. Ngân sách nhà nước chi cho giáo dục, y tế, quốc phòng... chủ yếu hình thành từ nguồn nào?</a:t>
            </a:r>
          </a:p>
        </p:txBody>
      </p:sp>
      <p:sp>
        <p:nvSpPr>
          <p:cNvPr id="13" name="TextBox 12"/>
          <p:cNvSpPr txBox="1"/>
          <p:nvPr/>
        </p:nvSpPr>
        <p:spPr>
          <a:xfrm>
            <a:off x="749808" y="486460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Vay nợ nước ngoài</a:t>
            </a:r>
          </a:p>
        </p:txBody>
      </p:sp>
      <p:sp>
        <p:nvSpPr>
          <p:cNvPr id="14" name="TextBox 13"/>
          <p:cNvSpPr txBox="1"/>
          <p:nvPr/>
        </p:nvSpPr>
        <p:spPr>
          <a:xfrm>
            <a:off x="6094476" y="4864608"/>
            <a:ext cx="5253228" cy="329184"/>
          </a:xfrm>
          <a:prstGeom prst="rect">
            <a:avLst/>
          </a:prstGeom>
          <a:noFill/>
        </p:spPr>
        <p:txBody>
          <a:bodyPr wrap="square" anchor="t" lIns="0" rIns="0" tIns="0" bIns="0">
            <a:spAutoFit/>
          </a:bodyPr>
          <a:lstStyle/>
          <a:p>
            <a:pPr algn="l">
              <a:lnSpc>
                <a:spcPct val="100000"/>
              </a:lnSpc>
              <a:spcAft>
                <a:spcPts val="0"/>
              </a:spcAft>
            </a:pPr>
            <a:r>
              <a:rPr sz="1200" b="1" i="0">
                <a:solidFill>
                  <a:srgbClr val="6C222A"/>
                </a:solidFill>
                <a:latin typeface="Calibri"/>
              </a:rPr>
              <a:t>B. Thuế  ✓</a:t>
            </a:r>
          </a:p>
        </p:txBody>
      </p:sp>
      <p:sp>
        <p:nvSpPr>
          <p:cNvPr id="15" name="TextBox 14"/>
          <p:cNvSpPr txBox="1"/>
          <p:nvPr/>
        </p:nvSpPr>
        <p:spPr>
          <a:xfrm>
            <a:off x="749808" y="52303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Viện trợ quốc tế</a:t>
            </a:r>
          </a:p>
        </p:txBody>
      </p:sp>
      <p:sp>
        <p:nvSpPr>
          <p:cNvPr id="16" name="TextBox 15"/>
          <p:cNvSpPr txBox="1"/>
          <p:nvPr/>
        </p:nvSpPr>
        <p:spPr>
          <a:xfrm>
            <a:off x="6094476" y="52303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Bán tài nguyên</a:t>
            </a:r>
          </a:p>
        </p:txBody>
      </p:sp>
      <p:sp>
        <p:nvSpPr>
          <p:cNvPr id="17" name="Rounded Rectangle 16"/>
          <p:cNvSpPr/>
          <p:nvPr/>
        </p:nvSpPr>
        <p:spPr>
          <a:xfrm>
            <a:off x="548640" y="6035040"/>
            <a:ext cx="11091672" cy="384048"/>
          </a:xfrm>
          <a:prstGeom prst="roundRect">
            <a:avLst>
              <a:gd name="adj" fmla="val 6000"/>
            </a:avLst>
          </a:prstGeom>
          <a:solidFill>
            <a:srgbClr val="F6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6035040"/>
            <a:ext cx="82296" cy="384048"/>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6199632"/>
            <a:ext cx="10671048" cy="365760"/>
          </a:xfrm>
          <a:prstGeom prst="rect">
            <a:avLst/>
          </a:prstGeom>
          <a:noFill/>
        </p:spPr>
        <p:txBody>
          <a:bodyPr wrap="square" anchor="t" lIns="0" rIns="0" tIns="0" bIns="0">
            <a:spAutoFit/>
          </a:bodyPr>
          <a:lstStyle/>
          <a:p>
            <a:pPr algn="l">
              <a:lnSpc>
                <a:spcPct val="100000"/>
              </a:lnSpc>
              <a:spcAft>
                <a:spcPts val="0"/>
              </a:spcAft>
            </a:pPr>
            <a:r>
              <a:rPr sz="1500" b="1" i="0">
                <a:solidFill>
                  <a:srgbClr val="1F3B57"/>
                </a:solidFill>
                <a:latin typeface="Calibri"/>
              </a:rPr>
              <a:t/>
            </a:r>
          </a:p>
        </p:txBody>
      </p:sp>
      <p:sp>
        <p:nvSpPr>
          <p:cNvPr id="20" name="TextBox 19"/>
          <p:cNvSpPr txBox="1"/>
          <p:nvPr/>
        </p:nvSpPr>
        <p:spPr>
          <a:xfrm>
            <a:off x="786384" y="6565392"/>
            <a:ext cx="10671048" cy="-274320"/>
          </a:xfrm>
          <a:prstGeom prst="rect">
            <a:avLst/>
          </a:prstGeom>
          <a:noFill/>
        </p:spPr>
        <p:txBody>
          <a:bodyPr wrap="square" anchor="t" lIns="0" rIns="0" tIns="0" bIns="0">
            <a:spAutoFit/>
          </a:bodyPr>
          <a:lstStyle/>
          <a:p>
            <a:pPr algn="l">
              <a:lnSpc>
                <a:spcPct val="114000"/>
              </a:lnSpc>
              <a:spcAft>
                <a:spcPts val="0"/>
              </a:spcAft>
            </a:pPr>
            <a:r>
              <a:rPr sz="1250" b="0" i="0">
                <a:solidFill>
                  <a:srgbClr val="2A2522"/>
                </a:solidFill>
                <a:latin typeface="Calibri"/>
              </a:rPr>
              <a:t>Đáp án: Câu 1 – B      Câu 2 – B      Câu 3 – B      Câu 4 – B</a:t>
            </a:r>
          </a:p>
        </p:txBody>
      </p:sp>
      <p:sp>
        <p:nvSpPr>
          <p:cNvPr id="21" name="Rectangle 2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Luyện tập</a:t>
            </a:r>
          </a:p>
        </p:txBody>
      </p:sp>
      <p:sp>
        <p:nvSpPr>
          <p:cNvPr id="23" name="TextBox 2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LUYỆN TẬP · TÌNH HUỐNG</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Xử lí tình huống</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11091672" cy="155448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52374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8C2F39"/>
                </a:solidFill>
                <a:latin typeface="Calibri"/>
              </a:rPr>
              <a:t>TÌNH HUỐNG</a:t>
            </a:r>
          </a:p>
        </p:txBody>
      </p:sp>
      <p:sp>
        <p:nvSpPr>
          <p:cNvPr id="7" name="TextBox 6"/>
          <p:cNvSpPr txBox="1"/>
          <p:nvPr/>
        </p:nvSpPr>
        <p:spPr>
          <a:xfrm>
            <a:off x="786384" y="2834640"/>
            <a:ext cx="10616184" cy="950976"/>
          </a:xfrm>
          <a:prstGeom prst="rect">
            <a:avLst/>
          </a:prstGeom>
          <a:noFill/>
        </p:spPr>
        <p:txBody>
          <a:bodyPr wrap="square" anchor="t" lIns="0" rIns="0" tIns="0" bIns="0">
            <a:spAutoFit/>
          </a:bodyPr>
          <a:lstStyle/>
          <a:p>
            <a:pPr algn="l">
              <a:lnSpc>
                <a:spcPct val="116000"/>
              </a:lnSpc>
              <a:spcAft>
                <a:spcPts val="0"/>
              </a:spcAft>
            </a:pPr>
            <a:r>
              <a:rPr sz="1450" b="0" i="0">
                <a:solidFill>
                  <a:srgbClr val="2A2522"/>
                </a:solidFill>
                <a:latin typeface="Calibri"/>
              </a:rPr>
              <a:t>Cửa hàng của cô H bán được nhiều hàng nhưng cô cố tình không xuất hoá đơn để giảm bớt số thuế giá trị gia tăng và thuế thu nhập cá nhân phải nộp.</a:t>
            </a:r>
          </a:p>
        </p:txBody>
      </p:sp>
      <p:sp>
        <p:nvSpPr>
          <p:cNvPr id="8" name="TextBox 7"/>
          <p:cNvSpPr txBox="1"/>
          <p:nvPr/>
        </p:nvSpPr>
        <p:spPr>
          <a:xfrm>
            <a:off x="548640" y="4160520"/>
            <a:ext cx="11091672" cy="1005840"/>
          </a:xfrm>
          <a:prstGeom prst="rect">
            <a:avLst/>
          </a:prstGeom>
          <a:noFill/>
        </p:spPr>
        <p:txBody>
          <a:bodyPr wrap="square" lIns="0" rIns="0" tIns="0" bIns="0">
            <a:spAutoFit/>
          </a:bodyPr>
          <a:lstStyle/>
          <a:p>
            <a:pPr>
              <a:lnSpc>
                <a:spcPct val="112000"/>
              </a:lnSpc>
              <a:spcAft>
                <a:spcPts val="800"/>
              </a:spcAft>
            </a:pPr>
            <a:r>
              <a:rPr sz="1400" b="1">
                <a:solidFill>
                  <a:srgbClr val="1F3B57"/>
                </a:solidFill>
                <a:latin typeface="Calibri"/>
              </a:rPr>
              <a:t>▪  </a:t>
            </a:r>
            <a:r>
              <a:rPr sz="1400">
                <a:solidFill>
                  <a:srgbClr val="2A2522"/>
                </a:solidFill>
                <a:latin typeface="Calibri"/>
              </a:rPr>
              <a:t>Hành vi của cô H vi phạm đặc điểm nào của thuế?</a:t>
            </a:r>
          </a:p>
          <a:p>
            <a:pPr>
              <a:lnSpc>
                <a:spcPct val="112000"/>
              </a:lnSpc>
              <a:spcAft>
                <a:spcPts val="800"/>
              </a:spcAft>
            </a:pPr>
            <a:r>
              <a:rPr sz="1400" b="1">
                <a:solidFill>
                  <a:srgbClr val="1F3B57"/>
                </a:solidFill>
                <a:latin typeface="Calibri"/>
              </a:rPr>
              <a:t>▪  </a:t>
            </a:r>
            <a:r>
              <a:rPr sz="1400">
                <a:solidFill>
                  <a:srgbClr val="2A2522"/>
                </a:solidFill>
                <a:latin typeface="Calibri"/>
              </a:rPr>
              <a:t>Nếu là người thân của cô H, em sẽ khuyên cô như thế nào?</a:t>
            </a:r>
          </a:p>
        </p:txBody>
      </p:sp>
      <p:sp>
        <p:nvSpPr>
          <p:cNvPr id="9" name="Rounded Rectangle 8"/>
          <p:cNvSpPr/>
          <p:nvPr/>
        </p:nvSpPr>
        <p:spPr>
          <a:xfrm>
            <a:off x="548640" y="5257800"/>
            <a:ext cx="11091672" cy="960120"/>
          </a:xfrm>
          <a:prstGeom prst="roundRect">
            <a:avLst>
              <a:gd name="adj" fmla="val 6000"/>
            </a:avLst>
          </a:prstGeom>
          <a:solidFill>
            <a:srgbClr val="F6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5257800"/>
            <a:ext cx="82296" cy="96012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422392"/>
            <a:ext cx="10671048" cy="365760"/>
          </a:xfrm>
          <a:prstGeom prst="rect">
            <a:avLst/>
          </a:prstGeom>
          <a:noFill/>
        </p:spPr>
        <p:txBody>
          <a:bodyPr wrap="square" anchor="t" lIns="0" rIns="0" tIns="0" bIns="0">
            <a:spAutoFit/>
          </a:bodyPr>
          <a:lstStyle/>
          <a:p>
            <a:pPr algn="l">
              <a:lnSpc>
                <a:spcPct val="100000"/>
              </a:lnSpc>
              <a:spcAft>
                <a:spcPts val="0"/>
              </a:spcAft>
            </a:pPr>
            <a:r>
              <a:rPr sz="1250" b="1" i="0">
                <a:solidFill>
                  <a:srgbClr val="1F3B57"/>
                </a:solidFill>
                <a:latin typeface="Calibri"/>
              </a:rPr>
              <a:t>GỢI Ý</a:t>
            </a:r>
          </a:p>
        </p:txBody>
      </p:sp>
      <p:sp>
        <p:nvSpPr>
          <p:cNvPr id="12" name="TextBox 11"/>
          <p:cNvSpPr txBox="1"/>
          <p:nvPr/>
        </p:nvSpPr>
        <p:spPr>
          <a:xfrm>
            <a:off x="786384" y="5788152"/>
            <a:ext cx="10671048" cy="301752"/>
          </a:xfrm>
          <a:prstGeom prst="rect">
            <a:avLst/>
          </a:prstGeom>
          <a:noFill/>
        </p:spPr>
        <p:txBody>
          <a:bodyPr wrap="square" anchor="t" lIns="0" rIns="0" tIns="0" bIns="0">
            <a:spAutoFit/>
          </a:bodyPr>
          <a:lstStyle/>
          <a:p>
            <a:pPr algn="l">
              <a:lnSpc>
                <a:spcPct val="114000"/>
              </a:lnSpc>
              <a:spcAft>
                <a:spcPts val="0"/>
              </a:spcAft>
            </a:pPr>
            <a:r>
              <a:rPr sz="1200" b="0" i="0">
                <a:solidFill>
                  <a:srgbClr val="2A2522"/>
                </a:solidFill>
                <a:latin typeface="Calibri"/>
              </a:rPr>
              <a:t>Vi phạm tính bắt buộc và tính pháp lí của thuế; hành vi trốn thuế là vi phạm pháp luật, có thể bị xử phạt hành chính hoặc truy cứu trách nhiệm hình sự tuỳ mức độ.</a:t>
            </a:r>
          </a:p>
        </p:txBody>
      </p:sp>
      <p:sp>
        <p:nvSpPr>
          <p:cNvPr id="13" name="Rectangle 12"/>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Luyện tập</a:t>
            </a:r>
          </a:p>
        </p:txBody>
      </p:sp>
      <p:sp>
        <p:nvSpPr>
          <p:cNvPr id="15" name="TextBox 14"/>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VẬN DỤNG</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Nhiệm vụ 1 – Sưu tầm hoá đơn thực tế</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468880"/>
            <a:ext cx="11091672" cy="2377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468880"/>
            <a:ext cx="82296" cy="23774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633472"/>
            <a:ext cx="10671048" cy="365760"/>
          </a:xfrm>
          <a:prstGeom prst="rect">
            <a:avLst/>
          </a:prstGeom>
          <a:noFill/>
        </p:spPr>
        <p:txBody>
          <a:bodyPr wrap="square" anchor="t" lIns="0" rIns="0" tIns="0" bIns="0">
            <a:spAutoFit/>
          </a:bodyPr>
          <a:lstStyle/>
          <a:p>
            <a:pPr algn="l">
              <a:lnSpc>
                <a:spcPct val="100000"/>
              </a:lnSpc>
              <a:spcAft>
                <a:spcPts val="0"/>
              </a:spcAft>
            </a:pPr>
            <a:r>
              <a:rPr sz="1400" b="1" i="0">
                <a:solidFill>
                  <a:srgbClr val="1F3B57"/>
                </a:solidFill>
                <a:latin typeface="Calibri"/>
              </a:rPr>
              <a:t>YÊU CẦU</a:t>
            </a:r>
          </a:p>
        </p:txBody>
      </p:sp>
      <p:sp>
        <p:nvSpPr>
          <p:cNvPr id="8" name="TextBox 7"/>
          <p:cNvSpPr txBox="1"/>
          <p:nvPr/>
        </p:nvSpPr>
        <p:spPr>
          <a:xfrm>
            <a:off x="786384" y="2999232"/>
            <a:ext cx="10671048" cy="1719072"/>
          </a:xfrm>
          <a:prstGeom prst="rect">
            <a:avLst/>
          </a:prstGeom>
          <a:noFill/>
        </p:spPr>
        <p:txBody>
          <a:bodyPr wrap="square" anchor="t" lIns="0" rIns="0" tIns="0" bIns="0">
            <a:spAutoFit/>
          </a:bodyPr>
          <a:lstStyle/>
          <a:p>
            <a:pPr algn="l">
              <a:lnSpc>
                <a:spcPct val="114000"/>
              </a:lnSpc>
              <a:spcAft>
                <a:spcPts val="0"/>
              </a:spcAft>
            </a:pPr>
            <a:r>
              <a:rPr sz="1400" b="0" i="0">
                <a:solidFill>
                  <a:srgbClr val="2A2522"/>
                </a:solidFill>
                <a:latin typeface="Calibri"/>
              </a:rPr>
              <a:t>Về nhà, em xin phép người thân giữ lại 1 hoá đơn mua hàng (siêu thị, xăng dầu, ăn uống...) có ghi rõ thuế giá trị gia tăng.</a:t>
            </a:r>
          </a:p>
          <a:p>
            <a:pPr algn="l">
              <a:lnSpc>
                <a:spcPct val="114000"/>
              </a:lnSpc>
              <a:spcAft>
                <a:spcPts val="0"/>
              </a:spcAft>
            </a:pPr>
            <a:r>
              <a:rPr sz="1400" b="0" i="0">
                <a:solidFill>
                  <a:srgbClr val="2A2522"/>
                </a:solidFill>
                <a:latin typeface="Calibri"/>
              </a:rPr>
              <a:t/>
            </a:r>
          </a:p>
          <a:p>
            <a:pPr algn="l">
              <a:lnSpc>
                <a:spcPct val="114000"/>
              </a:lnSpc>
              <a:spcAft>
                <a:spcPts val="0"/>
              </a:spcAft>
            </a:pPr>
            <a:r>
              <a:rPr sz="1400" b="0" i="0">
                <a:solidFill>
                  <a:srgbClr val="2A2522"/>
                </a:solidFill>
                <a:latin typeface="Calibri"/>
              </a:rPr>
              <a:t>Hãy xác định: số tiền thuế đã nộp là bao nhiêu? Số tiền đó chiếm khoảng bao nhiêu % giá trị hàng hoá? Nộp lại phiếu quan sát vào tiết học sau.</a:t>
            </a:r>
          </a:p>
        </p:txBody>
      </p:sp>
      <p:sp>
        <p:nvSpPr>
          <p:cNvPr id="9" name="Rectangle 8"/>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Vận dụng</a:t>
            </a:r>
          </a:p>
        </p:txBody>
      </p:sp>
      <p:sp>
        <p:nvSpPr>
          <p:cNvPr id="11" name="TextBox 10"/>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VẬN DỤNG</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Nhiệm vụ 2 – Viết đoạn văn ngắn</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468880"/>
            <a:ext cx="11091672" cy="2377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468880"/>
            <a:ext cx="82296" cy="23774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633472"/>
            <a:ext cx="10671048" cy="365760"/>
          </a:xfrm>
          <a:prstGeom prst="rect">
            <a:avLst/>
          </a:prstGeom>
          <a:noFill/>
        </p:spPr>
        <p:txBody>
          <a:bodyPr wrap="square" anchor="t" lIns="0" rIns="0" tIns="0" bIns="0">
            <a:spAutoFit/>
          </a:bodyPr>
          <a:lstStyle/>
          <a:p>
            <a:pPr algn="l">
              <a:lnSpc>
                <a:spcPct val="100000"/>
              </a:lnSpc>
              <a:spcAft>
                <a:spcPts val="0"/>
              </a:spcAft>
            </a:pPr>
            <a:r>
              <a:rPr sz="1400" b="1" i="0">
                <a:solidFill>
                  <a:srgbClr val="1F3B57"/>
                </a:solidFill>
                <a:latin typeface="Calibri"/>
              </a:rPr>
              <a:t>YÊU CẦU</a:t>
            </a:r>
          </a:p>
        </p:txBody>
      </p:sp>
      <p:sp>
        <p:nvSpPr>
          <p:cNvPr id="8" name="TextBox 7"/>
          <p:cNvSpPr txBox="1"/>
          <p:nvPr/>
        </p:nvSpPr>
        <p:spPr>
          <a:xfrm>
            <a:off x="786384" y="2999232"/>
            <a:ext cx="10671048" cy="1719072"/>
          </a:xfrm>
          <a:prstGeom prst="rect">
            <a:avLst/>
          </a:prstGeom>
          <a:noFill/>
        </p:spPr>
        <p:txBody>
          <a:bodyPr wrap="square" anchor="t" lIns="0" rIns="0" tIns="0" bIns="0">
            <a:spAutoFit/>
          </a:bodyPr>
          <a:lstStyle/>
          <a:p>
            <a:pPr algn="l">
              <a:lnSpc>
                <a:spcPct val="114000"/>
              </a:lnSpc>
              <a:spcAft>
                <a:spcPts val="0"/>
              </a:spcAft>
            </a:pPr>
            <a:r>
              <a:rPr sz="1450" b="0" i="0">
                <a:solidFill>
                  <a:srgbClr val="2A2522"/>
                </a:solidFill>
                <a:latin typeface="Calibri"/>
              </a:rPr>
              <a:t>Viết một đoạn văn ngắn (5–7 câu) trình bày suy nghĩ của em về nhận định:</a:t>
            </a:r>
          </a:p>
          <a:p>
            <a:pPr algn="l">
              <a:lnSpc>
                <a:spcPct val="114000"/>
              </a:lnSpc>
              <a:spcAft>
                <a:spcPts val="0"/>
              </a:spcAft>
            </a:pPr>
            <a:r>
              <a:rPr sz="1450" b="0" i="0">
                <a:solidFill>
                  <a:srgbClr val="2A2522"/>
                </a:solidFill>
                <a:latin typeface="Calibri"/>
              </a:rPr>
              <a:t>“Nộp thuế là quyền lợi và nghĩa vụ của mỗi công dân đối với đất nước.”</a:t>
            </a:r>
          </a:p>
          <a:p>
            <a:pPr algn="l">
              <a:lnSpc>
                <a:spcPct val="114000"/>
              </a:lnSpc>
              <a:spcAft>
                <a:spcPts val="0"/>
              </a:spcAft>
            </a:pPr>
            <a:r>
              <a:rPr sz="1450" b="0" i="0">
                <a:solidFill>
                  <a:srgbClr val="2A2522"/>
                </a:solidFill>
                <a:latin typeface="Calibri"/>
              </a:rPr>
              <a:t/>
            </a:r>
          </a:p>
          <a:p>
            <a:pPr algn="l">
              <a:lnSpc>
                <a:spcPct val="114000"/>
              </a:lnSpc>
              <a:spcAft>
                <a:spcPts val="0"/>
              </a:spcAft>
            </a:pPr>
            <a:r>
              <a:rPr sz="1450" b="0" i="0">
                <a:solidFill>
                  <a:srgbClr val="2A2522"/>
                </a:solidFill>
                <a:latin typeface="Calibri"/>
              </a:rPr>
              <a:t>Nộp bài vào đầu tiết học sau.</a:t>
            </a:r>
          </a:p>
        </p:txBody>
      </p:sp>
      <p:sp>
        <p:nvSpPr>
          <p:cNvPr id="9" name="Rectangle 8"/>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Vận dụng</a:t>
            </a:r>
          </a:p>
        </p:txBody>
      </p:sp>
      <p:sp>
        <p:nvSpPr>
          <p:cNvPr id="11" name="TextBox 10"/>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GHI NHỚ</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Tổng kết Tiết 1</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23160"/>
            <a:ext cx="11091672" cy="3108960"/>
          </a:xfrm>
          <a:prstGeom prst="rect">
            <a:avLst/>
          </a:prstGeom>
          <a:noFill/>
        </p:spPr>
        <p:txBody>
          <a:bodyPr wrap="square" lIns="0" rIns="0" tIns="0" bIns="0">
            <a:spAutoFit/>
          </a:bodyPr>
          <a:lstStyle/>
          <a:p>
            <a:pPr>
              <a:lnSpc>
                <a:spcPct val="112000"/>
              </a:lnSpc>
              <a:spcAft>
                <a:spcPts val="1600"/>
              </a:spcAft>
            </a:pPr>
            <a:r>
              <a:rPr sz="1600" b="1">
                <a:solidFill>
                  <a:srgbClr val="1F3B57"/>
                </a:solidFill>
                <a:latin typeface="Calibri"/>
              </a:rPr>
              <a:t>▪  </a:t>
            </a:r>
            <a:r>
              <a:rPr sz="1600" b="1">
                <a:solidFill>
                  <a:srgbClr val="2A2522"/>
                </a:solidFill>
                <a:latin typeface="Calibri"/>
              </a:rPr>
              <a:t>Khái niệm: </a:t>
            </a:r>
            <a:r>
              <a:rPr sz="1600">
                <a:solidFill>
                  <a:srgbClr val="2A2522"/>
                </a:solidFill>
                <a:latin typeface="Calibri"/>
              </a:rPr>
              <a:t>Thuế là khoản thu bắt buộc vào ngân sách nhà nước theo luật định, không hoàn trả trực tiếp.</a:t>
            </a:r>
          </a:p>
          <a:p>
            <a:pPr>
              <a:lnSpc>
                <a:spcPct val="112000"/>
              </a:lnSpc>
              <a:spcAft>
                <a:spcPts val="1600"/>
              </a:spcAft>
            </a:pPr>
            <a:r>
              <a:rPr sz="1600" b="1">
                <a:solidFill>
                  <a:srgbClr val="1F3B57"/>
                </a:solidFill>
                <a:latin typeface="Calibri"/>
              </a:rPr>
              <a:t>▪  </a:t>
            </a:r>
            <a:r>
              <a:rPr sz="1600" b="1">
                <a:solidFill>
                  <a:srgbClr val="2A2522"/>
                </a:solidFill>
                <a:latin typeface="Calibri"/>
              </a:rPr>
              <a:t>Đặc điểm: </a:t>
            </a:r>
            <a:r>
              <a:rPr sz="1600">
                <a:solidFill>
                  <a:srgbClr val="2A2522"/>
                </a:solidFill>
                <a:latin typeface="Calibri"/>
              </a:rPr>
              <a:t>bắt buộc – không hoàn trả trực tiếp – tính pháp lí cao – gắn với hoạt động kinh tế.</a:t>
            </a:r>
          </a:p>
          <a:p>
            <a:pPr>
              <a:lnSpc>
                <a:spcPct val="112000"/>
              </a:lnSpc>
              <a:spcAft>
                <a:spcPts val="1600"/>
              </a:spcAft>
            </a:pPr>
            <a:r>
              <a:rPr sz="1600" b="1">
                <a:solidFill>
                  <a:srgbClr val="1F3B57"/>
                </a:solidFill>
                <a:latin typeface="Calibri"/>
              </a:rPr>
              <a:t>▪  </a:t>
            </a:r>
            <a:r>
              <a:rPr sz="1600" b="1">
                <a:solidFill>
                  <a:srgbClr val="2A2522"/>
                </a:solidFill>
                <a:latin typeface="Calibri"/>
              </a:rPr>
              <a:t>Vai trò: </a:t>
            </a:r>
            <a:r>
              <a:rPr sz="1600">
                <a:solidFill>
                  <a:srgbClr val="2A2522"/>
                </a:solidFill>
                <a:latin typeface="Calibri"/>
              </a:rPr>
              <a:t>nguồn thu chủ yếu của NSNN, công cụ điều tiết vĩ mô nền kinh tế, bảo đảm công bằng xã hội.</a:t>
            </a:r>
          </a:p>
        </p:txBody>
      </p:sp>
      <p:sp>
        <p:nvSpPr>
          <p:cNvPr id="6" name="Rounded Rectangle 5"/>
          <p:cNvSpPr/>
          <p:nvPr/>
        </p:nvSpPr>
        <p:spPr>
          <a:xfrm>
            <a:off x="548640" y="5349240"/>
            <a:ext cx="11091672" cy="77724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349240"/>
            <a:ext cx="82296" cy="77724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513832"/>
            <a:ext cx="10671048" cy="365760"/>
          </a:xfrm>
          <a:prstGeom prst="rect">
            <a:avLst/>
          </a:prstGeom>
          <a:noFill/>
        </p:spPr>
        <p:txBody>
          <a:bodyPr wrap="square" anchor="t" lIns="0" rIns="0" tIns="0" bIns="0">
            <a:spAutoFit/>
          </a:bodyPr>
          <a:lstStyle/>
          <a:p>
            <a:pPr algn="l">
              <a:lnSpc>
                <a:spcPct val="100000"/>
              </a:lnSpc>
              <a:spcAft>
                <a:spcPts val="0"/>
              </a:spcAft>
            </a:pPr>
            <a:r>
              <a:rPr sz="100" b="1" i="0">
                <a:solidFill>
                  <a:srgbClr val="1F3B57"/>
                </a:solidFill>
                <a:latin typeface="Calibri"/>
              </a:rPr>
              <a:t/>
            </a:r>
          </a:p>
        </p:txBody>
      </p:sp>
      <p:sp>
        <p:nvSpPr>
          <p:cNvPr id="9" name="TextBox 8"/>
          <p:cNvSpPr txBox="1"/>
          <p:nvPr/>
        </p:nvSpPr>
        <p:spPr>
          <a:xfrm>
            <a:off x="786384" y="5879592"/>
            <a:ext cx="10671048" cy="118872"/>
          </a:xfrm>
          <a:prstGeom prst="rect">
            <a:avLst/>
          </a:prstGeom>
          <a:noFill/>
        </p:spPr>
        <p:txBody>
          <a:bodyPr wrap="square" anchor="t" lIns="0" rIns="0" tIns="0" bIns="0">
            <a:spAutoFit/>
          </a:bodyPr>
          <a:lstStyle/>
          <a:p>
            <a:pPr algn="l">
              <a:lnSpc>
                <a:spcPct val="114000"/>
              </a:lnSpc>
              <a:spcAft>
                <a:spcPts val="0"/>
              </a:spcAft>
            </a:pPr>
            <a:r>
              <a:rPr sz="1400" b="0" i="0">
                <a:solidFill>
                  <a:srgbClr val="2A2522"/>
                </a:solidFill>
                <a:latin typeface="Calibri"/>
              </a:rPr>
              <a:t>Hẹn gặp lại các em ở Tiết 2: Các loại thuế – Quyền và nghĩa vụ của công dân về thuế.</a:t>
            </a:r>
          </a:p>
        </p:txBody>
      </p:sp>
      <p:sp>
        <p:nvSpPr>
          <p:cNvPr id="10" name="Rectangle 9"/>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Tổng kết</a:t>
            </a:r>
          </a:p>
        </p:txBody>
      </p:sp>
      <p:sp>
        <p:nvSpPr>
          <p:cNvPr id="12" name="TextBox 11"/>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3344"/>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224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E8C97A"/>
                </a:solidFill>
                <a:latin typeface="Calibri"/>
              </a:rPr>
              <a:t>TIẾT 2 · 45 PHÚT</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3600" b="1" i="0">
                <a:solidFill>
                  <a:srgbClr val="FFFFFF"/>
                </a:solidFill>
                <a:latin typeface="Georgia"/>
              </a:rPr>
              <a:t>Các loại thuế – Quyền và</a:t>
            </a:r>
          </a:p>
          <a:p>
            <a:pPr algn="l">
              <a:lnSpc>
                <a:spcPct val="103000"/>
              </a:lnSpc>
              <a:spcAft>
                <a:spcPts val="0"/>
              </a:spcAft>
            </a:pPr>
            <a:r>
              <a:rPr sz="3600" b="1" i="0">
                <a:solidFill>
                  <a:srgbClr val="FFFFFF"/>
                </a:solidFill>
                <a:latin typeface="Georgia"/>
              </a:rPr>
              <a:t>nghĩa vụ của công dân</a:t>
            </a:r>
          </a:p>
        </p:txBody>
      </p:sp>
      <p:sp>
        <p:nvSpPr>
          <p:cNvPr id="6" name="TextBox 5"/>
          <p:cNvSpPr txBox="1"/>
          <p:nvPr/>
        </p:nvSpPr>
        <p:spPr>
          <a:xfrm>
            <a:off x="822960" y="3749039"/>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Vì sao mua rượu, mua xăng lại phải trả thêm nhiều thuế hơn mua rau, mua gạo?</a:t>
            </a:r>
          </a:p>
        </p:txBody>
      </p:sp>
      <p:sp>
        <p:nvSpPr>
          <p:cNvPr id="7" name="Rectangle 6"/>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GDKTPL 10 – Bài 6: Thuế | Tiết 2</a:t>
            </a:r>
          </a:p>
        </p:txBody>
      </p:sp>
      <p:sp>
        <p:nvSpPr>
          <p:cNvPr id="9" name="TextBox 8"/>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6C222A"/>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F3D3C9"/>
                </a:solidFill>
                <a:latin typeface="Calibri"/>
              </a:rPr>
              <a:t>KHỞI ĐỘNG · 10 PHÚT</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3800" b="1" i="0">
                <a:solidFill>
                  <a:srgbClr val="FFFFFF"/>
                </a:solidFill>
                <a:latin typeface="Georgia"/>
              </a:rPr>
              <a:t>Trò chơi:</a:t>
            </a:r>
          </a:p>
          <a:p>
            <a:pPr algn="l">
              <a:lnSpc>
                <a:spcPct val="103000"/>
              </a:lnSpc>
              <a:spcAft>
                <a:spcPts val="0"/>
              </a:spcAft>
            </a:pPr>
            <a:r>
              <a:rPr sz="3800" b="1" i="0">
                <a:solidFill>
                  <a:srgbClr val="FFFFFF"/>
                </a:solidFill>
                <a:latin typeface="Georgia"/>
              </a:rPr>
              <a:t>“HỘP QUÀ MAY MẮN”</a:t>
            </a:r>
          </a:p>
        </p:txBody>
      </p:sp>
      <p:sp>
        <p:nvSpPr>
          <p:cNvPr id="6" name="TextBox 5"/>
          <p:cNvSpPr txBox="1"/>
          <p:nvPr/>
        </p:nvSpPr>
        <p:spPr>
          <a:xfrm>
            <a:off x="822960" y="3246120"/>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Đi tìm các loại thuế quen thuộc trong đời sống</a:t>
            </a:r>
          </a:p>
        </p:txBody>
      </p:sp>
      <p:sp>
        <p:nvSpPr>
          <p:cNvPr id="7" name="Rectangle 6"/>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GDKTPL 10 – Bài 6: Thuế | Tiết 2 – Khởi động</a:t>
            </a:r>
          </a:p>
        </p:txBody>
      </p:sp>
      <p:sp>
        <p:nvSpPr>
          <p:cNvPr id="9" name="TextBox 8"/>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KHỞI ĐỘNG · LUẬT CHƠI</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Cách chơi trò “Hộp quà may mắn”</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5394960" cy="160020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14600"/>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7" name="TextBox 6"/>
          <p:cNvSpPr txBox="1"/>
          <p:nvPr/>
        </p:nvSpPr>
        <p:spPr>
          <a:xfrm>
            <a:off x="731520" y="3008376"/>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Chuẩn bị</a:t>
            </a:r>
          </a:p>
        </p:txBody>
      </p:sp>
      <p:sp>
        <p:nvSpPr>
          <p:cNvPr id="8" name="TextBox 7"/>
          <p:cNvSpPr txBox="1"/>
          <p:nvPr/>
        </p:nvSpPr>
        <p:spPr>
          <a:xfrm>
            <a:off x="731520" y="3355848"/>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Lớp chia thành 4 đội. Trên màn hình có 5 “hộp quà” được đánh số từ 1 đến 5.</a:t>
            </a:r>
          </a:p>
        </p:txBody>
      </p:sp>
      <p:sp>
        <p:nvSpPr>
          <p:cNvPr id="9" name="Rounded Rectangle 8"/>
          <p:cNvSpPr/>
          <p:nvPr/>
        </p:nvSpPr>
        <p:spPr>
          <a:xfrm>
            <a:off x="6245352" y="2331720"/>
            <a:ext cx="5394960" cy="160020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28232" y="2514600"/>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11" name="TextBox 10"/>
          <p:cNvSpPr txBox="1"/>
          <p:nvPr/>
        </p:nvSpPr>
        <p:spPr>
          <a:xfrm>
            <a:off x="6428232" y="3008376"/>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Chọn hộp</a:t>
            </a:r>
          </a:p>
        </p:txBody>
      </p:sp>
      <p:sp>
        <p:nvSpPr>
          <p:cNvPr id="12" name="TextBox 11"/>
          <p:cNvSpPr txBox="1"/>
          <p:nvPr/>
        </p:nvSpPr>
        <p:spPr>
          <a:xfrm>
            <a:off x="6428232" y="3355848"/>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Lần lượt đại diện từng đội chọn 1 hộp quà; GV mở hộp, cả lớp cùng đọc câu hỏi bên trong.</a:t>
            </a:r>
          </a:p>
        </p:txBody>
      </p:sp>
      <p:sp>
        <p:nvSpPr>
          <p:cNvPr id="13" name="Rounded Rectangle 12"/>
          <p:cNvSpPr/>
          <p:nvPr/>
        </p:nvSpPr>
        <p:spPr>
          <a:xfrm>
            <a:off x="548640" y="4233672"/>
            <a:ext cx="5394960" cy="160020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4416552"/>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15" name="TextBox 14"/>
          <p:cNvSpPr txBox="1"/>
          <p:nvPr/>
        </p:nvSpPr>
        <p:spPr>
          <a:xfrm>
            <a:off x="731520" y="4910328"/>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Trả lời</a:t>
            </a:r>
          </a:p>
        </p:txBody>
      </p:sp>
      <p:sp>
        <p:nvSpPr>
          <p:cNvPr id="16" name="TextBox 15"/>
          <p:cNvSpPr txBox="1"/>
          <p:nvPr/>
        </p:nvSpPr>
        <p:spPr>
          <a:xfrm>
            <a:off x="731520" y="5257800"/>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Đội chọn hộp có 10 giây để trả lời; nếu trả lời sai, đội khác được quyền giành trả lời.</a:t>
            </a:r>
          </a:p>
        </p:txBody>
      </p:sp>
      <p:sp>
        <p:nvSpPr>
          <p:cNvPr id="17" name="Rounded Rectangle 16"/>
          <p:cNvSpPr/>
          <p:nvPr/>
        </p:nvSpPr>
        <p:spPr>
          <a:xfrm>
            <a:off x="6245352" y="4233672"/>
            <a:ext cx="5394960" cy="160020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28232" y="4416552"/>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19" name="TextBox 18"/>
          <p:cNvSpPr txBox="1"/>
          <p:nvPr/>
        </p:nvSpPr>
        <p:spPr>
          <a:xfrm>
            <a:off x="6428232" y="4910328"/>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Nhận quà</a:t>
            </a:r>
          </a:p>
        </p:txBody>
      </p:sp>
      <p:sp>
        <p:nvSpPr>
          <p:cNvPr id="20" name="TextBox 19"/>
          <p:cNvSpPr txBox="1"/>
          <p:nvPr/>
        </p:nvSpPr>
        <p:spPr>
          <a:xfrm>
            <a:off x="6428232" y="5257800"/>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Trả lời đúng, đội được cộng số điểm ngẫu nhiên ghi trong hộp (5–20 điểm). Đội cao điểm nhất sau 5 hộp thắng cuộc.</a:t>
            </a:r>
          </a:p>
        </p:txBody>
      </p:sp>
      <p:sp>
        <p:nvSpPr>
          <p:cNvPr id="21" name="Rectangle 2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Khởi động</a:t>
            </a:r>
          </a:p>
        </p:txBody>
      </p:sp>
      <p:sp>
        <p:nvSpPr>
          <p:cNvPr id="23" name="TextBox 2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KHỞI ĐỘNG · HỘP QUÀ</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Hộp quà số 1 – 2 – 3</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234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47802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6C222A"/>
                </a:solidFill>
                <a:latin typeface="Calibri"/>
              </a:rPr>
              <a:t>HỘP QUÀ 1</a:t>
            </a:r>
          </a:p>
        </p:txBody>
      </p:sp>
      <p:sp>
        <p:nvSpPr>
          <p:cNvPr id="7" name="TextBox 6"/>
          <p:cNvSpPr txBox="1"/>
          <p:nvPr/>
        </p:nvSpPr>
        <p:spPr>
          <a:xfrm>
            <a:off x="786384" y="2788920"/>
            <a:ext cx="10616184" cy="630936"/>
          </a:xfrm>
          <a:prstGeom prst="rect">
            <a:avLst/>
          </a:prstGeom>
          <a:noFill/>
        </p:spPr>
        <p:txBody>
          <a:bodyPr wrap="square" anchor="t" lIns="0" rIns="0" tIns="0" bIns="0">
            <a:spAutoFit/>
          </a:bodyPr>
          <a:lstStyle/>
          <a:p>
            <a:pPr algn="l">
              <a:lnSpc>
                <a:spcPct val="116000"/>
              </a:lnSpc>
              <a:spcAft>
                <a:spcPts val="0"/>
              </a:spcAft>
            </a:pPr>
            <a:r>
              <a:rPr sz="1400" b="0" i="0">
                <a:solidFill>
                  <a:srgbClr val="2A2522"/>
                </a:solidFill>
                <a:latin typeface="Calibri"/>
              </a:rPr>
              <a:t>Loại thuế đánh trực tiếp vào thu nhập của cá nhân được gọi là gì?</a:t>
            </a:r>
          </a:p>
        </p:txBody>
      </p:sp>
      <p:sp>
        <p:nvSpPr>
          <p:cNvPr id="8" name="Rounded Rectangle 7"/>
          <p:cNvSpPr/>
          <p:nvPr/>
        </p:nvSpPr>
        <p:spPr>
          <a:xfrm>
            <a:off x="548640" y="3685032"/>
            <a:ext cx="11091672" cy="1234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3831336"/>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6C222A"/>
                </a:solidFill>
                <a:latin typeface="Calibri"/>
              </a:rPr>
              <a:t>HỘP QUÀ 2</a:t>
            </a:r>
          </a:p>
        </p:txBody>
      </p:sp>
      <p:sp>
        <p:nvSpPr>
          <p:cNvPr id="10" name="TextBox 9"/>
          <p:cNvSpPr txBox="1"/>
          <p:nvPr/>
        </p:nvSpPr>
        <p:spPr>
          <a:xfrm>
            <a:off x="786384" y="4142232"/>
            <a:ext cx="10616184" cy="630936"/>
          </a:xfrm>
          <a:prstGeom prst="rect">
            <a:avLst/>
          </a:prstGeom>
          <a:noFill/>
        </p:spPr>
        <p:txBody>
          <a:bodyPr wrap="square" anchor="t" lIns="0" rIns="0" tIns="0" bIns="0">
            <a:spAutoFit/>
          </a:bodyPr>
          <a:lstStyle/>
          <a:p>
            <a:pPr algn="l">
              <a:lnSpc>
                <a:spcPct val="116000"/>
              </a:lnSpc>
              <a:spcAft>
                <a:spcPts val="0"/>
              </a:spcAft>
            </a:pPr>
            <a:r>
              <a:rPr sz="1400" b="0" i="0">
                <a:solidFill>
                  <a:srgbClr val="2A2522"/>
                </a:solidFill>
                <a:latin typeface="Calibri"/>
              </a:rPr>
              <a:t>Loại thuế mà người bán “cộng hộ” vào giá bán để người mua gánh chịu là thuế gì?</a:t>
            </a:r>
          </a:p>
        </p:txBody>
      </p:sp>
      <p:sp>
        <p:nvSpPr>
          <p:cNvPr id="11" name="Rounded Rectangle 10"/>
          <p:cNvSpPr/>
          <p:nvPr/>
        </p:nvSpPr>
        <p:spPr>
          <a:xfrm>
            <a:off x="548640" y="5038344"/>
            <a:ext cx="11091672" cy="1234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5184648"/>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6C222A"/>
                </a:solidFill>
                <a:latin typeface="Calibri"/>
              </a:rPr>
              <a:t>HỘP QUÀ 3</a:t>
            </a:r>
          </a:p>
        </p:txBody>
      </p:sp>
      <p:sp>
        <p:nvSpPr>
          <p:cNvPr id="13" name="TextBox 12"/>
          <p:cNvSpPr txBox="1"/>
          <p:nvPr/>
        </p:nvSpPr>
        <p:spPr>
          <a:xfrm>
            <a:off x="786384" y="5495544"/>
            <a:ext cx="10616184" cy="630936"/>
          </a:xfrm>
          <a:prstGeom prst="rect">
            <a:avLst/>
          </a:prstGeom>
          <a:noFill/>
        </p:spPr>
        <p:txBody>
          <a:bodyPr wrap="square" anchor="t" lIns="0" rIns="0" tIns="0" bIns="0">
            <a:spAutoFit/>
          </a:bodyPr>
          <a:lstStyle/>
          <a:p>
            <a:pPr algn="l">
              <a:lnSpc>
                <a:spcPct val="116000"/>
              </a:lnSpc>
              <a:spcAft>
                <a:spcPts val="0"/>
              </a:spcAft>
            </a:pPr>
            <a:r>
              <a:rPr sz="1400" b="0" i="0">
                <a:solidFill>
                  <a:srgbClr val="2A2522"/>
                </a:solidFill>
                <a:latin typeface="Calibri"/>
              </a:rPr>
              <a:t>Kể tên loại thuế đánh vào các mặt hàng như rượu, bia, thuốc lá, ô tô?</a:t>
            </a:r>
          </a:p>
        </p:txBody>
      </p:sp>
      <p:sp>
        <p:nvSpPr>
          <p:cNvPr id="14" name="Rectangle 13"/>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Khởi động</a:t>
            </a:r>
          </a:p>
        </p:txBody>
      </p:sp>
      <p:sp>
        <p:nvSpPr>
          <p:cNvPr id="16" name="TextBox 15"/>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KHỞI ĐỘNG · HỘP QUÀ</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Hộp quà số 4 – 5 và đáp án</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05156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47802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6C222A"/>
                </a:solidFill>
                <a:latin typeface="Calibri"/>
              </a:rPr>
              <a:t>HỘP QUÀ 4</a:t>
            </a:r>
          </a:p>
        </p:txBody>
      </p:sp>
      <p:sp>
        <p:nvSpPr>
          <p:cNvPr id="7" name="TextBox 6"/>
          <p:cNvSpPr txBox="1"/>
          <p:nvPr/>
        </p:nvSpPr>
        <p:spPr>
          <a:xfrm>
            <a:off x="786384" y="2788920"/>
            <a:ext cx="10616184" cy="448056"/>
          </a:xfrm>
          <a:prstGeom prst="rect">
            <a:avLst/>
          </a:prstGeom>
          <a:noFill/>
        </p:spPr>
        <p:txBody>
          <a:bodyPr wrap="square" anchor="t" lIns="0" rIns="0" tIns="0" bIns="0">
            <a:spAutoFit/>
          </a:bodyPr>
          <a:lstStyle/>
          <a:p>
            <a:pPr algn="l">
              <a:lnSpc>
                <a:spcPct val="116000"/>
              </a:lnSpc>
              <a:spcAft>
                <a:spcPts val="0"/>
              </a:spcAft>
            </a:pPr>
            <a:r>
              <a:rPr sz="1400" b="0" i="0">
                <a:solidFill>
                  <a:srgbClr val="2A2522"/>
                </a:solidFill>
                <a:latin typeface="Calibri"/>
              </a:rPr>
              <a:t>Doanh nghiệp phải nộp thuế nào tính trên phần lợi nhuận thu được sau khi kinh doanh?</a:t>
            </a:r>
          </a:p>
        </p:txBody>
      </p:sp>
      <p:sp>
        <p:nvSpPr>
          <p:cNvPr id="8" name="Rounded Rectangle 7"/>
          <p:cNvSpPr/>
          <p:nvPr/>
        </p:nvSpPr>
        <p:spPr>
          <a:xfrm>
            <a:off x="548640" y="3520440"/>
            <a:ext cx="11091672" cy="105156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366674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6C222A"/>
                </a:solidFill>
                <a:latin typeface="Calibri"/>
              </a:rPr>
              <a:t>HỘP QUÀ 5</a:t>
            </a:r>
          </a:p>
        </p:txBody>
      </p:sp>
      <p:sp>
        <p:nvSpPr>
          <p:cNvPr id="10" name="TextBox 9"/>
          <p:cNvSpPr txBox="1"/>
          <p:nvPr/>
        </p:nvSpPr>
        <p:spPr>
          <a:xfrm>
            <a:off x="786384" y="3977640"/>
            <a:ext cx="10616184" cy="448056"/>
          </a:xfrm>
          <a:prstGeom prst="rect">
            <a:avLst/>
          </a:prstGeom>
          <a:noFill/>
        </p:spPr>
        <p:txBody>
          <a:bodyPr wrap="square" anchor="t" lIns="0" rIns="0" tIns="0" bIns="0">
            <a:spAutoFit/>
          </a:bodyPr>
          <a:lstStyle/>
          <a:p>
            <a:pPr algn="l">
              <a:lnSpc>
                <a:spcPct val="116000"/>
              </a:lnSpc>
              <a:spcAft>
                <a:spcPts val="0"/>
              </a:spcAft>
            </a:pPr>
            <a:r>
              <a:rPr sz="1400" b="0" i="0">
                <a:solidFill>
                  <a:srgbClr val="2A2522"/>
                </a:solidFill>
                <a:latin typeface="Calibri"/>
              </a:rPr>
              <a:t>Ai là người có nghĩa vụ phải nộp thuế theo quy định của pháp luật?</a:t>
            </a:r>
          </a:p>
        </p:txBody>
      </p:sp>
      <p:sp>
        <p:nvSpPr>
          <p:cNvPr id="11" name="Rounded Rectangle 10"/>
          <p:cNvSpPr/>
          <p:nvPr/>
        </p:nvSpPr>
        <p:spPr>
          <a:xfrm>
            <a:off x="548640" y="4709160"/>
            <a:ext cx="11091672" cy="1417320"/>
          </a:xfrm>
          <a:prstGeom prst="roundRect">
            <a:avLst>
              <a:gd name="adj" fmla="val 6000"/>
            </a:avLst>
          </a:prstGeom>
          <a:solidFill>
            <a:srgbClr val="F6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709160"/>
            <a:ext cx="82296" cy="141732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4873752"/>
            <a:ext cx="10671048" cy="365760"/>
          </a:xfrm>
          <a:prstGeom prst="rect">
            <a:avLst/>
          </a:prstGeom>
          <a:noFill/>
        </p:spPr>
        <p:txBody>
          <a:bodyPr wrap="square" anchor="t" lIns="0" rIns="0" tIns="0" bIns="0">
            <a:spAutoFit/>
          </a:bodyPr>
          <a:lstStyle/>
          <a:p>
            <a:pPr algn="l">
              <a:lnSpc>
                <a:spcPct val="100000"/>
              </a:lnSpc>
              <a:spcAft>
                <a:spcPts val="0"/>
              </a:spcAft>
            </a:pPr>
            <a:r>
              <a:rPr sz="1300" b="1" i="0">
                <a:solidFill>
                  <a:srgbClr val="1F3B57"/>
                </a:solidFill>
                <a:latin typeface="Calibri"/>
              </a:rPr>
              <a:t>ĐÁP ÁN 5 HỘP QUÀ</a:t>
            </a:r>
          </a:p>
        </p:txBody>
      </p:sp>
      <p:sp>
        <p:nvSpPr>
          <p:cNvPr id="14" name="TextBox 13"/>
          <p:cNvSpPr txBox="1"/>
          <p:nvPr/>
        </p:nvSpPr>
        <p:spPr>
          <a:xfrm>
            <a:off x="786384" y="5239512"/>
            <a:ext cx="10671048" cy="758952"/>
          </a:xfrm>
          <a:prstGeom prst="rect">
            <a:avLst/>
          </a:prstGeom>
          <a:noFill/>
        </p:spPr>
        <p:txBody>
          <a:bodyPr wrap="square" anchor="t" lIns="0" rIns="0" tIns="0" bIns="0">
            <a:spAutoFit/>
          </a:bodyPr>
          <a:lstStyle/>
          <a:p>
            <a:pPr algn="l">
              <a:lnSpc>
                <a:spcPct val="114000"/>
              </a:lnSpc>
              <a:spcAft>
                <a:spcPts val="0"/>
              </a:spcAft>
            </a:pPr>
            <a:r>
              <a:rPr sz="1250" b="0" i="0">
                <a:solidFill>
                  <a:srgbClr val="2A2522"/>
                </a:solidFill>
                <a:latin typeface="Calibri"/>
              </a:rPr>
              <a:t>1) Thuế thu nhập cá nhân   2) Thuế gián thu (VD: thuế GTGT)   3) Thuế tiêu thụ đặc biệt</a:t>
            </a:r>
          </a:p>
          <a:p>
            <a:pPr algn="l">
              <a:lnSpc>
                <a:spcPct val="114000"/>
              </a:lnSpc>
              <a:spcAft>
                <a:spcPts val="0"/>
              </a:spcAft>
            </a:pPr>
            <a:r>
              <a:rPr sz="1250" b="0" i="0">
                <a:solidFill>
                  <a:srgbClr val="2A2522"/>
                </a:solidFill>
                <a:latin typeface="Calibri"/>
              </a:rPr>
              <a:t>4) Thuế thu nhập doanh nghiệp   5) Tổ chức, hộ gia đình, hộ kinh doanh, cá nhân có thu nhập/hoạt động kinh doanh, tiêu dùng thuộc đối tượng chịu thuế.</a:t>
            </a:r>
          </a:p>
        </p:txBody>
      </p:sp>
      <p:sp>
        <p:nvSpPr>
          <p:cNvPr id="15" name="Rectangle 14"/>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Khởi động</a:t>
            </a:r>
          </a:p>
        </p:txBody>
      </p:sp>
      <p:sp>
        <p:nvSpPr>
          <p:cNvPr id="17" name="TextBox 16"/>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73344"/>
                </a:solidFill>
                <a:latin typeface="Calibri"/>
              </a:rPr>
              <a:t>GỢI MỞ</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Vì sao mỗi loại hàng hoá lại “gánh” thuế khác nhau?</a:t>
            </a:r>
          </a:p>
        </p:txBody>
      </p:sp>
      <p:sp>
        <p:nvSpPr>
          <p:cNvPr id="4" name="Rectangle 3"/>
          <p:cNvSpPr/>
          <p:nvPr/>
        </p:nvSpPr>
        <p:spPr>
          <a:xfrm>
            <a:off x="548640" y="1472184"/>
            <a:ext cx="822960" cy="40640"/>
          </a:xfrm>
          <a:prstGeom prst="rect">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64592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532888"/>
            <a:ext cx="548640" cy="548640"/>
          </a:xfrm>
          <a:prstGeom prst="rect">
            <a:avLst/>
          </a:prstGeom>
          <a:noFill/>
        </p:spPr>
        <p:txBody>
          <a:bodyPr wrap="square" anchor="t" lIns="0" rIns="0" tIns="0" bIns="0">
            <a:spAutoFit/>
          </a:bodyPr>
          <a:lstStyle/>
          <a:p>
            <a:pPr algn="l">
              <a:lnSpc>
                <a:spcPct val="100000"/>
              </a:lnSpc>
              <a:spcAft>
                <a:spcPts val="0"/>
              </a:spcAft>
            </a:pPr>
            <a:r>
              <a:rPr sz="4400" b="1" i="0">
                <a:solidFill>
                  <a:srgbClr val="C78A2E"/>
                </a:solidFill>
                <a:latin typeface="Georgia"/>
              </a:rPr>
              <a:t>“</a:t>
            </a:r>
          </a:p>
        </p:txBody>
      </p:sp>
      <p:sp>
        <p:nvSpPr>
          <p:cNvPr id="7" name="TextBox 6"/>
          <p:cNvSpPr txBox="1"/>
          <p:nvPr/>
        </p:nvSpPr>
        <p:spPr>
          <a:xfrm>
            <a:off x="1371600" y="2587752"/>
            <a:ext cx="9902952" cy="822960"/>
          </a:xfrm>
          <a:prstGeom prst="rect">
            <a:avLst/>
          </a:prstGeom>
          <a:noFill/>
        </p:spPr>
        <p:txBody>
          <a:bodyPr wrap="square" anchor="t" lIns="0" rIns="0" tIns="0" bIns="0">
            <a:spAutoFit/>
          </a:bodyPr>
          <a:lstStyle/>
          <a:p>
            <a:pPr algn="l">
              <a:lnSpc>
                <a:spcPct val="115000"/>
              </a:lnSpc>
              <a:spcAft>
                <a:spcPts val="0"/>
              </a:spcAft>
            </a:pPr>
            <a:r>
              <a:rPr sz="1700" b="0" i="1">
                <a:solidFill>
                  <a:srgbClr val="1F3B57"/>
                </a:solidFill>
                <a:latin typeface="Georgia"/>
              </a:rPr>
              <a:t>Ở Tiết 1, chúng ta đã biết: Thuế là khoản thu bắt buộc vào ngân sách nhà nước theo luật định. Nhưng vì sao mua rượu, mua xăng lại phải trả thêm nhiều thuế hơn mua rau, mua gạo? Và nếu một người cố tình không khai báo thu nhập để trốn thuế thì điều gì sẽ xảy ra?</a:t>
            </a:r>
          </a:p>
        </p:txBody>
      </p:sp>
      <p:sp>
        <p:nvSpPr>
          <p:cNvPr id="8" name="TextBox 7"/>
          <p:cNvSpPr txBox="1"/>
          <p:nvPr/>
        </p:nvSpPr>
        <p:spPr>
          <a:xfrm>
            <a:off x="1371600" y="3520440"/>
            <a:ext cx="9902952" cy="320040"/>
          </a:xfrm>
          <a:prstGeom prst="rect">
            <a:avLst/>
          </a:prstGeom>
          <a:noFill/>
        </p:spPr>
        <p:txBody>
          <a:bodyPr wrap="square" anchor="t" lIns="0" rIns="0" tIns="0" bIns="0">
            <a:spAutoFit/>
          </a:bodyPr>
          <a:lstStyle/>
          <a:p>
            <a:pPr algn="l">
              <a:lnSpc>
                <a:spcPct val="100000"/>
              </a:lnSpc>
              <a:spcAft>
                <a:spcPts val="0"/>
              </a:spcAft>
            </a:pPr>
            <a:r>
              <a:rPr sz="1250" b="1" i="0">
                <a:solidFill>
                  <a:srgbClr val="5B554E"/>
                </a:solidFill>
                <a:latin typeface="Calibri"/>
              </a:rPr>
              <a:t>— Dẫn vào nội dung Tiết 2</a:t>
            </a:r>
          </a:p>
        </p:txBody>
      </p:sp>
      <p:sp>
        <p:nvSpPr>
          <p:cNvPr id="9" name="TextBox 8"/>
          <p:cNvSpPr txBox="1"/>
          <p:nvPr/>
        </p:nvSpPr>
        <p:spPr>
          <a:xfrm>
            <a:off x="548640" y="4251960"/>
            <a:ext cx="11091672" cy="1737360"/>
          </a:xfrm>
          <a:prstGeom prst="rect">
            <a:avLst/>
          </a:prstGeom>
          <a:noFill/>
        </p:spPr>
        <p:txBody>
          <a:bodyPr wrap="square" lIns="0" rIns="0" tIns="0" bIns="0">
            <a:spAutoFit/>
          </a:bodyPr>
          <a:lstStyle/>
          <a:p>
            <a:pPr>
              <a:lnSpc>
                <a:spcPct val="112000"/>
              </a:lnSpc>
              <a:spcAft>
                <a:spcPts val="800"/>
              </a:spcAft>
            </a:pPr>
            <a:r>
              <a:rPr sz="1500" b="1">
                <a:solidFill>
                  <a:srgbClr val="173344"/>
                </a:solidFill>
                <a:latin typeface="Calibri"/>
              </a:rPr>
              <a:t>▪  </a:t>
            </a:r>
            <a:r>
              <a:rPr sz="1500">
                <a:solidFill>
                  <a:srgbClr val="2A2522"/>
                </a:solidFill>
                <a:latin typeface="Calibri"/>
              </a:rPr>
              <a:t>Có bao nhiêu cách phân loại thuế mà em biết?</a:t>
            </a:r>
          </a:p>
          <a:p>
            <a:pPr>
              <a:lnSpc>
                <a:spcPct val="112000"/>
              </a:lnSpc>
              <a:spcAft>
                <a:spcPts val="800"/>
              </a:spcAft>
            </a:pPr>
            <a:r>
              <a:rPr sz="1500" b="1">
                <a:solidFill>
                  <a:srgbClr val="173344"/>
                </a:solidFill>
                <a:latin typeface="Calibri"/>
              </a:rPr>
              <a:t>▪  </a:t>
            </a:r>
            <a:r>
              <a:rPr sz="1500">
                <a:solidFill>
                  <a:srgbClr val="2A2522"/>
                </a:solidFill>
                <a:latin typeface="Calibri"/>
              </a:rPr>
              <a:t>Công dân có những quyền và nghĩa vụ gì khi thực hiện pháp luật về thuế?</a:t>
            </a:r>
          </a:p>
        </p:txBody>
      </p:sp>
      <p:sp>
        <p:nvSpPr>
          <p:cNvPr id="10" name="Rectangle 9"/>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Gợi mở</a:t>
            </a:r>
          </a:p>
        </p:txBody>
      </p:sp>
      <p:sp>
        <p:nvSpPr>
          <p:cNvPr id="12" name="TextBox 11"/>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3263A"/>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224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C78A2E"/>
                </a:solidFill>
                <a:latin typeface="Calibri"/>
              </a:rPr>
              <a:t>BÀI 6 (TIẾP THEO)</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5400" b="1" i="0">
                <a:solidFill>
                  <a:srgbClr val="FFFFFF"/>
                </a:solidFill>
                <a:latin typeface="Georgia"/>
              </a:rPr>
              <a:t>THUẾ</a:t>
            </a:r>
          </a:p>
        </p:txBody>
      </p:sp>
      <p:sp>
        <p:nvSpPr>
          <p:cNvPr id="6" name="TextBox 5"/>
          <p:cNvSpPr txBox="1"/>
          <p:nvPr/>
        </p:nvSpPr>
        <p:spPr>
          <a:xfrm>
            <a:off x="822960" y="3246120"/>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Tiết 2: Các loại thuế – Quyền và nghĩa vụ của công dân</a:t>
            </a:r>
          </a:p>
        </p:txBody>
      </p:sp>
      <p:sp>
        <p:nvSpPr>
          <p:cNvPr id="7" name="Rectangle 6"/>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GDKTPL 10 – Bài 6: Thuế | Tiết 2</a:t>
            </a:r>
          </a:p>
        </p:txBody>
      </p:sp>
      <p:sp>
        <p:nvSpPr>
          <p:cNvPr id="9" name="TextBox 8"/>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73344"/>
                </a:solidFill>
                <a:latin typeface="Calibri"/>
              </a:rPr>
              <a:t>MỤC TIÊU BÀI HỌC · TIẾT 2</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Sau tiết học, em sẽ...</a:t>
            </a:r>
          </a:p>
        </p:txBody>
      </p:sp>
      <p:sp>
        <p:nvSpPr>
          <p:cNvPr id="4" name="Rectangle 3"/>
          <p:cNvSpPr/>
          <p:nvPr/>
        </p:nvSpPr>
        <p:spPr>
          <a:xfrm>
            <a:off x="548640" y="1472184"/>
            <a:ext cx="822960" cy="40640"/>
          </a:xfrm>
          <a:prstGeom prst="rect">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3538728" cy="352044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14600"/>
            <a:ext cx="420624" cy="420624"/>
          </a:xfrm>
          <a:prstGeom prst="ellipse">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KT</a:t>
            </a:r>
          </a:p>
        </p:txBody>
      </p:sp>
      <p:sp>
        <p:nvSpPr>
          <p:cNvPr id="7" name="TextBox 6"/>
          <p:cNvSpPr txBox="1"/>
          <p:nvPr/>
        </p:nvSpPr>
        <p:spPr>
          <a:xfrm>
            <a:off x="731520" y="300837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Kiến thức</a:t>
            </a:r>
          </a:p>
        </p:txBody>
      </p:sp>
      <p:sp>
        <p:nvSpPr>
          <p:cNvPr id="8" name="TextBox 7"/>
          <p:cNvSpPr txBox="1"/>
          <p:nvPr/>
        </p:nvSpPr>
        <p:spPr>
          <a:xfrm>
            <a:off x="731520" y="3355848"/>
            <a:ext cx="3172968" cy="24323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Kể tên và phân biệt được các loại thuế phổ biến (thuế trực thu, thuế gián thu); nêu được quy định cơ bản về quyền và nghĩa vụ của công dân trong thực hiện pháp luật thuế.</a:t>
            </a:r>
          </a:p>
        </p:txBody>
      </p:sp>
      <p:sp>
        <p:nvSpPr>
          <p:cNvPr id="9" name="Rounded Rectangle 8"/>
          <p:cNvSpPr/>
          <p:nvPr/>
        </p:nvSpPr>
        <p:spPr>
          <a:xfrm>
            <a:off x="4315968" y="2331720"/>
            <a:ext cx="3538728" cy="352044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98848" y="251460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NL</a:t>
            </a:r>
          </a:p>
        </p:txBody>
      </p:sp>
      <p:sp>
        <p:nvSpPr>
          <p:cNvPr id="11" name="TextBox 10"/>
          <p:cNvSpPr txBox="1"/>
          <p:nvPr/>
        </p:nvSpPr>
        <p:spPr>
          <a:xfrm>
            <a:off x="4498848" y="300837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Năng lực</a:t>
            </a:r>
          </a:p>
        </p:txBody>
      </p:sp>
      <p:sp>
        <p:nvSpPr>
          <p:cNvPr id="12" name="TextBox 11"/>
          <p:cNvSpPr txBox="1"/>
          <p:nvPr/>
        </p:nvSpPr>
        <p:spPr>
          <a:xfrm>
            <a:off x="4498848" y="3355848"/>
            <a:ext cx="3172968" cy="24323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Điều chỉnh hành vi: ủng hộ hành vi chấp hành pháp luật thuế, phê phán hành vi trốn thuế.</a:t>
            </a:r>
          </a:p>
          <a:p>
            <a:pPr algn="l">
              <a:lnSpc>
                <a:spcPct val="108000"/>
              </a:lnSpc>
              <a:spcAft>
                <a:spcPts val="0"/>
              </a:spcAft>
            </a:pPr>
            <a:r>
              <a:rPr sz="1250" b="0" i="0">
                <a:solidFill>
                  <a:srgbClr val="2A2522"/>
                </a:solidFill>
                <a:latin typeface="Calibri"/>
              </a:rPr>
              <a:t/>
            </a:r>
          </a:p>
          <a:p>
            <a:pPr algn="l">
              <a:lnSpc>
                <a:spcPct val="108000"/>
              </a:lnSpc>
              <a:spcAft>
                <a:spcPts val="0"/>
              </a:spcAft>
            </a:pPr>
            <a:r>
              <a:rPr sz="1250" b="0" i="0">
                <a:solidFill>
                  <a:srgbClr val="2A2522"/>
                </a:solidFill>
                <a:latin typeface="Calibri"/>
              </a:rPr>
              <a:t>Tìm hiểu và tham gia hoạt động KT–XH: nhận diện các loại thuế, xử lí tình huống pháp luật thuế.</a:t>
            </a:r>
          </a:p>
        </p:txBody>
      </p:sp>
      <p:sp>
        <p:nvSpPr>
          <p:cNvPr id="13" name="Rounded Rectangle 12"/>
          <p:cNvSpPr/>
          <p:nvPr/>
        </p:nvSpPr>
        <p:spPr>
          <a:xfrm>
            <a:off x="8083296" y="2331720"/>
            <a:ext cx="3557016" cy="3520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66176" y="2514600"/>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PC</a:t>
            </a:r>
          </a:p>
        </p:txBody>
      </p:sp>
      <p:sp>
        <p:nvSpPr>
          <p:cNvPr id="15" name="TextBox 14"/>
          <p:cNvSpPr txBox="1"/>
          <p:nvPr/>
        </p:nvSpPr>
        <p:spPr>
          <a:xfrm>
            <a:off x="8266176" y="3008376"/>
            <a:ext cx="3191256"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Phẩm chất</a:t>
            </a:r>
          </a:p>
        </p:txBody>
      </p:sp>
      <p:sp>
        <p:nvSpPr>
          <p:cNvPr id="16" name="TextBox 15"/>
          <p:cNvSpPr txBox="1"/>
          <p:nvPr/>
        </p:nvSpPr>
        <p:spPr>
          <a:xfrm>
            <a:off x="8266176" y="3355848"/>
            <a:ext cx="3191256" cy="24323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Trách nhiệm, trung thực trong việc thực hiện nghĩa vụ thuế của bản thân và gia đình khi trưởng thành, tham gia lao động, kinh doanh.</a:t>
            </a:r>
          </a:p>
        </p:txBody>
      </p:sp>
      <p:sp>
        <p:nvSpPr>
          <p:cNvPr id="17" name="Rectangle 16"/>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Mục tiêu</a:t>
            </a:r>
          </a:p>
        </p:txBody>
      </p:sp>
      <p:sp>
        <p:nvSpPr>
          <p:cNvPr id="19" name="TextBox 18"/>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73344"/>
                </a:solidFill>
                <a:latin typeface="Calibri"/>
              </a:rPr>
              <a:t>KHÁM PHÁ 1 · PHÂN LOẠI THUẾ</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Thuế trực thu là gì?</a:t>
            </a:r>
          </a:p>
        </p:txBody>
      </p:sp>
      <p:sp>
        <p:nvSpPr>
          <p:cNvPr id="4" name="Rectangle 3"/>
          <p:cNvSpPr/>
          <p:nvPr/>
        </p:nvSpPr>
        <p:spPr>
          <a:xfrm>
            <a:off x="548640" y="1472184"/>
            <a:ext cx="822960" cy="40640"/>
          </a:xfrm>
          <a:prstGeom prst="rect">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11091672" cy="160020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377440"/>
            <a:ext cx="82296" cy="1600200"/>
          </a:xfrm>
          <a:prstGeom prst="rect">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542032"/>
            <a:ext cx="10671048" cy="365760"/>
          </a:xfrm>
          <a:prstGeom prst="rect">
            <a:avLst/>
          </a:prstGeom>
          <a:noFill/>
        </p:spPr>
        <p:txBody>
          <a:bodyPr wrap="square" anchor="t" lIns="0" rIns="0" tIns="0" bIns="0">
            <a:spAutoFit/>
          </a:bodyPr>
          <a:lstStyle/>
          <a:p>
            <a:pPr algn="l">
              <a:lnSpc>
                <a:spcPct val="100000"/>
              </a:lnSpc>
              <a:spcAft>
                <a:spcPts val="0"/>
              </a:spcAft>
            </a:pPr>
            <a:r>
              <a:rPr sz="1300" b="1" i="0">
                <a:solidFill>
                  <a:srgbClr val="1F3B57"/>
                </a:solidFill>
                <a:latin typeface="Calibri"/>
              </a:rPr>
              <a:t>ĐỊNH NGHĨA</a:t>
            </a:r>
          </a:p>
        </p:txBody>
      </p:sp>
      <p:sp>
        <p:nvSpPr>
          <p:cNvPr id="8" name="TextBox 7"/>
          <p:cNvSpPr txBox="1"/>
          <p:nvPr/>
        </p:nvSpPr>
        <p:spPr>
          <a:xfrm>
            <a:off x="786384" y="2907792"/>
            <a:ext cx="10671048" cy="941832"/>
          </a:xfrm>
          <a:prstGeom prst="rect">
            <a:avLst/>
          </a:prstGeom>
          <a:noFill/>
        </p:spPr>
        <p:txBody>
          <a:bodyPr wrap="square" anchor="t" lIns="0" rIns="0" tIns="0" bIns="0">
            <a:spAutoFit/>
          </a:bodyPr>
          <a:lstStyle/>
          <a:p>
            <a:pPr algn="l">
              <a:lnSpc>
                <a:spcPct val="114000"/>
              </a:lnSpc>
              <a:spcAft>
                <a:spcPts val="0"/>
              </a:spcAft>
            </a:pPr>
            <a:r>
              <a:rPr sz="1400" b="0" i="0">
                <a:solidFill>
                  <a:srgbClr val="2A2522"/>
                </a:solidFill>
                <a:latin typeface="Calibri"/>
              </a:rPr>
              <a:t>Thuế trực thu là loại thuế điều tiết trực tiếp vào thu nhập hoặc tài sản của người nộp thuế; người nộp thuế đồng thời là người chịu thuế, không thể chuyển gánh nặng thuế cho người khác.</a:t>
            </a:r>
          </a:p>
        </p:txBody>
      </p:sp>
      <p:sp>
        <p:nvSpPr>
          <p:cNvPr id="9" name="Rounded Rectangle 8"/>
          <p:cNvSpPr/>
          <p:nvPr/>
        </p:nvSpPr>
        <p:spPr>
          <a:xfrm>
            <a:off x="548640" y="4160520"/>
            <a:ext cx="11091672" cy="160020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4343400"/>
            <a:ext cx="420624" cy="420624"/>
          </a:xfrm>
          <a:prstGeom prst="ellipse">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VD</a:t>
            </a:r>
          </a:p>
        </p:txBody>
      </p:sp>
      <p:sp>
        <p:nvSpPr>
          <p:cNvPr id="11" name="TextBox 10"/>
          <p:cNvSpPr txBox="1"/>
          <p:nvPr/>
        </p:nvSpPr>
        <p:spPr>
          <a:xfrm>
            <a:off x="731520" y="4837176"/>
            <a:ext cx="10725912"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Ví dụ thường gặp</a:t>
            </a:r>
          </a:p>
        </p:txBody>
      </p:sp>
      <p:sp>
        <p:nvSpPr>
          <p:cNvPr id="12" name="TextBox 11"/>
          <p:cNvSpPr txBox="1"/>
          <p:nvPr/>
        </p:nvSpPr>
        <p:spPr>
          <a:xfrm>
            <a:off x="731520" y="5184648"/>
            <a:ext cx="10725912" cy="512064"/>
          </a:xfrm>
          <a:prstGeom prst="rect">
            <a:avLst/>
          </a:prstGeom>
          <a:noFill/>
        </p:spPr>
        <p:txBody>
          <a:bodyPr wrap="square" anchor="t" lIns="0" rIns="0" tIns="0" bIns="0">
            <a:spAutoFit/>
          </a:bodyPr>
          <a:lstStyle/>
          <a:p>
            <a:pPr algn="l">
              <a:lnSpc>
                <a:spcPct val="108000"/>
              </a:lnSpc>
              <a:spcAft>
                <a:spcPts val="0"/>
              </a:spcAft>
            </a:pPr>
            <a:r>
              <a:rPr sz="1350" b="0" i="0">
                <a:solidFill>
                  <a:srgbClr val="2A2522"/>
                </a:solidFill>
                <a:latin typeface="Calibri"/>
              </a:rPr>
              <a:t>Thuế thu nhập cá nhân (TNCN) – Thuế thu nhập doanh nghiệp (TNDN) – Thuế sử dụng đất nông nghiệp – Thuế sử dụng đất phi nông nghiệp.</a:t>
            </a:r>
          </a:p>
        </p:txBody>
      </p:sp>
      <p:sp>
        <p:nvSpPr>
          <p:cNvPr id="13" name="Rectangle 12"/>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Khám phá</a:t>
            </a:r>
          </a:p>
        </p:txBody>
      </p:sp>
      <p:sp>
        <p:nvSpPr>
          <p:cNvPr id="15" name="TextBox 14"/>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KHÁM PHÁ 2 · PHÂN LOẠI THUẾ</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Thuế gián thu là gì?</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11091672" cy="173736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377440"/>
            <a:ext cx="82296" cy="173736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542032"/>
            <a:ext cx="10671048" cy="365760"/>
          </a:xfrm>
          <a:prstGeom prst="rect">
            <a:avLst/>
          </a:prstGeom>
          <a:noFill/>
        </p:spPr>
        <p:txBody>
          <a:bodyPr wrap="square" anchor="t" lIns="0" rIns="0" tIns="0" bIns="0">
            <a:spAutoFit/>
          </a:bodyPr>
          <a:lstStyle/>
          <a:p>
            <a:pPr algn="l">
              <a:lnSpc>
                <a:spcPct val="100000"/>
              </a:lnSpc>
              <a:spcAft>
                <a:spcPts val="0"/>
              </a:spcAft>
            </a:pPr>
            <a:r>
              <a:rPr sz="1300" b="1" i="0">
                <a:solidFill>
                  <a:srgbClr val="1F3B57"/>
                </a:solidFill>
                <a:latin typeface="Calibri"/>
              </a:rPr>
              <a:t>ĐỊNH NGHĨA</a:t>
            </a:r>
          </a:p>
        </p:txBody>
      </p:sp>
      <p:sp>
        <p:nvSpPr>
          <p:cNvPr id="8" name="TextBox 7"/>
          <p:cNvSpPr txBox="1"/>
          <p:nvPr/>
        </p:nvSpPr>
        <p:spPr>
          <a:xfrm>
            <a:off x="786384" y="2907792"/>
            <a:ext cx="10671048" cy="1078992"/>
          </a:xfrm>
          <a:prstGeom prst="rect">
            <a:avLst/>
          </a:prstGeom>
          <a:noFill/>
        </p:spPr>
        <p:txBody>
          <a:bodyPr wrap="square" anchor="t" lIns="0" rIns="0" tIns="0" bIns="0">
            <a:spAutoFit/>
          </a:bodyPr>
          <a:lstStyle/>
          <a:p>
            <a:pPr algn="l">
              <a:lnSpc>
                <a:spcPct val="114000"/>
              </a:lnSpc>
              <a:spcAft>
                <a:spcPts val="0"/>
              </a:spcAft>
            </a:pPr>
            <a:r>
              <a:rPr sz="1400" b="0" i="0">
                <a:solidFill>
                  <a:srgbClr val="2A2522"/>
                </a:solidFill>
                <a:latin typeface="Calibri"/>
              </a:rPr>
              <a:t>Thuế gián thu là loại thuế không đánh trực tiếp vào thu nhập, tài sản mà đánh vào hàng hoá, dịch vụ, được cộng vào giá bán. Người tiêu dùng là người thực tế chịu thuế, còn người bán chỉ là người nộp hộ vào ngân sách nhà nước.</a:t>
            </a:r>
          </a:p>
        </p:txBody>
      </p:sp>
      <p:sp>
        <p:nvSpPr>
          <p:cNvPr id="9" name="Rounded Rectangle 8"/>
          <p:cNvSpPr/>
          <p:nvPr/>
        </p:nvSpPr>
        <p:spPr>
          <a:xfrm>
            <a:off x="548640" y="4297680"/>
            <a:ext cx="11091672" cy="160020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448056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VD</a:t>
            </a:r>
          </a:p>
        </p:txBody>
      </p:sp>
      <p:sp>
        <p:nvSpPr>
          <p:cNvPr id="11" name="TextBox 10"/>
          <p:cNvSpPr txBox="1"/>
          <p:nvPr/>
        </p:nvSpPr>
        <p:spPr>
          <a:xfrm>
            <a:off x="731520" y="4974336"/>
            <a:ext cx="10725912"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Ví dụ thường gặp</a:t>
            </a:r>
          </a:p>
        </p:txBody>
      </p:sp>
      <p:sp>
        <p:nvSpPr>
          <p:cNvPr id="12" name="TextBox 11"/>
          <p:cNvSpPr txBox="1"/>
          <p:nvPr/>
        </p:nvSpPr>
        <p:spPr>
          <a:xfrm>
            <a:off x="731520" y="5321808"/>
            <a:ext cx="10725912" cy="512064"/>
          </a:xfrm>
          <a:prstGeom prst="rect">
            <a:avLst/>
          </a:prstGeom>
          <a:noFill/>
        </p:spPr>
        <p:txBody>
          <a:bodyPr wrap="square" anchor="t" lIns="0" rIns="0" tIns="0" bIns="0">
            <a:spAutoFit/>
          </a:bodyPr>
          <a:lstStyle/>
          <a:p>
            <a:pPr algn="l">
              <a:lnSpc>
                <a:spcPct val="108000"/>
              </a:lnSpc>
              <a:spcAft>
                <a:spcPts val="0"/>
              </a:spcAft>
            </a:pPr>
            <a:r>
              <a:rPr sz="1350" b="0" i="0">
                <a:solidFill>
                  <a:srgbClr val="2A2522"/>
                </a:solidFill>
                <a:latin typeface="Calibri"/>
              </a:rPr>
              <a:t>Thuế giá trị gia tăng (GTGT) – Thuế tiêu thụ đặc biệt (TTĐB) – Thuế xuất khẩu, nhập khẩu – Thuế bảo vệ môi trường.</a:t>
            </a:r>
          </a:p>
        </p:txBody>
      </p:sp>
      <p:sp>
        <p:nvSpPr>
          <p:cNvPr id="13" name="Rectangle 12"/>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Khám phá</a:t>
            </a:r>
          </a:p>
        </p:txBody>
      </p:sp>
      <p:sp>
        <p:nvSpPr>
          <p:cNvPr id="15" name="TextBox 14"/>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KHÁM PHÁ 3 · SO SÁNH</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Thuế trực thu và thuế gián thu</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2423160"/>
          <a:ext cx="11091672" cy="3017520"/>
        </p:xfrm>
        <a:graphic>
          <a:graphicData uri="http://schemas.openxmlformats.org/drawingml/2006/table">
            <a:tbl>
              <a:tblPr firstRow="1" bandRow="1">
                <a:tableStyleId>{5C22544A-7EE6-4342-B048-85BDC9FD1C3A}</a:tableStyleId>
              </a:tblPr>
              <a:tblGrid>
                <a:gridCol w="3697224"/>
                <a:gridCol w="3697224"/>
                <a:gridCol w="3697224"/>
              </a:tblGrid>
              <a:tr h="754380">
                <a:tc>
                  <a:txBody>
                    <a:bodyPr/>
                    <a:lstStyle/>
                    <a:p>
                      <a:pPr algn="ctr"/>
                      <a:r>
                        <a:rPr b="1" sz="1400">
                          <a:solidFill>
                            <a:srgbClr val="FFFFFF"/>
                          </a:solidFill>
                          <a:latin typeface="Calibri"/>
                        </a:rPr>
                        <a:t>Tiêu chí</a:t>
                      </a:r>
                    </a:p>
                  </a:txBody>
                  <a:tcPr anchor="ctr">
                    <a:solidFill>
                      <a:srgbClr val="1F3B57"/>
                    </a:solidFill>
                  </a:tcPr>
                </a:tc>
                <a:tc>
                  <a:txBody>
                    <a:bodyPr/>
                    <a:lstStyle/>
                    <a:p>
                      <a:pPr algn="ctr"/>
                      <a:r>
                        <a:rPr b="1" sz="1400">
                          <a:solidFill>
                            <a:srgbClr val="FFFFFF"/>
                          </a:solidFill>
                          <a:latin typeface="Calibri"/>
                        </a:rPr>
                        <a:t>Thuế trực thu</a:t>
                      </a:r>
                    </a:p>
                  </a:txBody>
                  <a:tcPr anchor="ctr">
                    <a:solidFill>
                      <a:srgbClr val="1F3B57"/>
                    </a:solidFill>
                  </a:tcPr>
                </a:tc>
                <a:tc>
                  <a:txBody>
                    <a:bodyPr/>
                    <a:lstStyle/>
                    <a:p>
                      <a:pPr algn="ctr"/>
                      <a:r>
                        <a:rPr b="1" sz="1400">
                          <a:solidFill>
                            <a:srgbClr val="FFFFFF"/>
                          </a:solidFill>
                          <a:latin typeface="Calibri"/>
                        </a:rPr>
                        <a:t>Thuế gián thu</a:t>
                      </a:r>
                    </a:p>
                  </a:txBody>
                  <a:tcPr anchor="ctr">
                    <a:solidFill>
                      <a:srgbClr val="1F3B57"/>
                    </a:solidFill>
                  </a:tcPr>
                </a:tc>
              </a:tr>
              <a:tr h="754380">
                <a:tc>
                  <a:txBody>
                    <a:bodyPr/>
                    <a:lstStyle/>
                    <a:p>
                      <a:pPr algn="ctr"/>
                      <a:r>
                        <a:rPr sz="1300" b="1">
                          <a:solidFill>
                            <a:srgbClr val="2A2522"/>
                          </a:solidFill>
                          <a:latin typeface="Calibri"/>
                        </a:rPr>
                        <a:t>Đối tượng chịu thuế</a:t>
                      </a:r>
                    </a:p>
                  </a:txBody>
                  <a:tcPr anchor="ctr">
                    <a:solidFill>
                      <a:srgbClr val="FFFFFF"/>
                    </a:solidFill>
                  </a:tcPr>
                </a:tc>
                <a:tc>
                  <a:txBody>
                    <a:bodyPr/>
                    <a:lstStyle/>
                    <a:p>
                      <a:pPr algn="l"/>
                      <a:r>
                        <a:rPr sz="1300" b="0">
                          <a:solidFill>
                            <a:srgbClr val="2A2522"/>
                          </a:solidFill>
                          <a:latin typeface="Calibri"/>
                        </a:rPr>
                        <a:t>Người nộp thuế = người chịu thuế</a:t>
                      </a:r>
                    </a:p>
                  </a:txBody>
                  <a:tcPr anchor="ctr">
                    <a:solidFill>
                      <a:srgbClr val="FFFFFF"/>
                    </a:solidFill>
                  </a:tcPr>
                </a:tc>
                <a:tc>
                  <a:txBody>
                    <a:bodyPr/>
                    <a:lstStyle/>
                    <a:p>
                      <a:pPr algn="l"/>
                      <a:r>
                        <a:rPr sz="1300" b="0">
                          <a:solidFill>
                            <a:srgbClr val="2A2522"/>
                          </a:solidFill>
                          <a:latin typeface="Calibri"/>
                        </a:rPr>
                        <a:t>Người tiêu dùng chịu thuế; người bán nộp hộ</a:t>
                      </a:r>
                    </a:p>
                  </a:txBody>
                  <a:tcPr anchor="ctr">
                    <a:solidFill>
                      <a:srgbClr val="FFFFFF"/>
                    </a:solidFill>
                  </a:tcPr>
                </a:tc>
              </a:tr>
              <a:tr h="754380">
                <a:tc>
                  <a:txBody>
                    <a:bodyPr/>
                    <a:lstStyle/>
                    <a:p>
                      <a:pPr algn="ctr"/>
                      <a:r>
                        <a:rPr sz="1300" b="1">
                          <a:solidFill>
                            <a:srgbClr val="2A2522"/>
                          </a:solidFill>
                          <a:latin typeface="Calibri"/>
                        </a:rPr>
                        <a:t>Cách thu</a:t>
                      </a:r>
                    </a:p>
                  </a:txBody>
                  <a:tcPr anchor="ctr">
                    <a:solidFill>
                      <a:srgbClr val="EFE7D8"/>
                    </a:solidFill>
                  </a:tcPr>
                </a:tc>
                <a:tc>
                  <a:txBody>
                    <a:bodyPr/>
                    <a:lstStyle/>
                    <a:p>
                      <a:pPr algn="l"/>
                      <a:r>
                        <a:rPr sz="1300" b="0">
                          <a:solidFill>
                            <a:srgbClr val="2A2522"/>
                          </a:solidFill>
                          <a:latin typeface="Calibri"/>
                        </a:rPr>
                        <a:t>Đánh trực tiếp vào thu nhập, tài sản</a:t>
                      </a:r>
                    </a:p>
                  </a:txBody>
                  <a:tcPr anchor="ctr">
                    <a:solidFill>
                      <a:srgbClr val="EFE7D8"/>
                    </a:solidFill>
                  </a:tcPr>
                </a:tc>
                <a:tc>
                  <a:txBody>
                    <a:bodyPr/>
                    <a:lstStyle/>
                    <a:p>
                      <a:pPr algn="l"/>
                      <a:r>
                        <a:rPr sz="1300" b="0">
                          <a:solidFill>
                            <a:srgbClr val="2A2522"/>
                          </a:solidFill>
                          <a:latin typeface="Calibri"/>
                        </a:rPr>
                        <a:t>Cộng vào giá bán hàng hoá, dịch vụ</a:t>
                      </a:r>
                    </a:p>
                  </a:txBody>
                  <a:tcPr anchor="ctr">
                    <a:solidFill>
                      <a:srgbClr val="EFE7D8"/>
                    </a:solidFill>
                  </a:tcPr>
                </a:tc>
              </a:tr>
              <a:tr h="754380">
                <a:tc>
                  <a:txBody>
                    <a:bodyPr/>
                    <a:lstStyle/>
                    <a:p>
                      <a:pPr algn="ctr"/>
                      <a:r>
                        <a:rPr sz="1300" b="1">
                          <a:solidFill>
                            <a:srgbClr val="2A2522"/>
                          </a:solidFill>
                          <a:latin typeface="Calibri"/>
                        </a:rPr>
                        <a:t>Ví dụ</a:t>
                      </a:r>
                    </a:p>
                  </a:txBody>
                  <a:tcPr anchor="ctr">
                    <a:solidFill>
                      <a:srgbClr val="FFFFFF"/>
                    </a:solidFill>
                  </a:tcPr>
                </a:tc>
                <a:tc>
                  <a:txBody>
                    <a:bodyPr/>
                    <a:lstStyle/>
                    <a:p>
                      <a:pPr algn="l"/>
                      <a:r>
                        <a:rPr sz="1300" b="0">
                          <a:solidFill>
                            <a:srgbClr val="2A2522"/>
                          </a:solidFill>
                          <a:latin typeface="Calibri"/>
                        </a:rPr>
                        <a:t>Thuế TNCN, thuế TNDN</a:t>
                      </a:r>
                    </a:p>
                  </a:txBody>
                  <a:tcPr anchor="ctr">
                    <a:solidFill>
                      <a:srgbClr val="FFFFFF"/>
                    </a:solidFill>
                  </a:tcPr>
                </a:tc>
                <a:tc>
                  <a:txBody>
                    <a:bodyPr/>
                    <a:lstStyle/>
                    <a:p>
                      <a:pPr algn="l"/>
                      <a:r>
                        <a:rPr sz="1300" b="0">
                          <a:solidFill>
                            <a:srgbClr val="2A2522"/>
                          </a:solidFill>
                          <a:latin typeface="Calibri"/>
                        </a:rPr>
                        <a:t>Thuế GTGT, thuế TTĐB, thuế xuất – nhập khẩu</a:t>
                      </a:r>
                    </a:p>
                  </a:txBody>
                  <a:tcPr anchor="ctr">
                    <a:solidFill>
                      <a:srgbClr val="FFFFFF"/>
                    </a:solidFill>
                  </a:tcPr>
                </a:tc>
              </a:tr>
            </a:tbl>
          </a:graphicData>
        </a:graphic>
      </p:graphicFrame>
      <p:sp>
        <p:nvSpPr>
          <p:cNvPr id="6" name="Rectangle 5"/>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Khám phá</a:t>
            </a:r>
          </a:p>
        </p:txBody>
      </p:sp>
      <p:sp>
        <p:nvSpPr>
          <p:cNvPr id="8" name="TextBox 7"/>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73344"/>
                </a:solidFill>
                <a:latin typeface="Calibri"/>
              </a:rPr>
              <a:t>KHÁM PHÁ 4 · QUYỀN CÔNG DÂN</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Quyền của công dân khi thực hiện pháp luật thuế</a:t>
            </a:r>
          </a:p>
        </p:txBody>
      </p:sp>
      <p:sp>
        <p:nvSpPr>
          <p:cNvPr id="4" name="Rectangle 3"/>
          <p:cNvSpPr/>
          <p:nvPr/>
        </p:nvSpPr>
        <p:spPr>
          <a:xfrm>
            <a:off x="548640" y="1472184"/>
            <a:ext cx="822960" cy="40640"/>
          </a:xfrm>
          <a:prstGeom prst="rect">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23160"/>
            <a:ext cx="11091672" cy="3566160"/>
          </a:xfrm>
          <a:prstGeom prst="rect">
            <a:avLst/>
          </a:prstGeom>
          <a:noFill/>
        </p:spPr>
        <p:txBody>
          <a:bodyPr wrap="square" lIns="0" rIns="0" tIns="0" bIns="0">
            <a:spAutoFit/>
          </a:bodyPr>
          <a:lstStyle/>
          <a:p>
            <a:pPr>
              <a:lnSpc>
                <a:spcPct val="112000"/>
              </a:lnSpc>
              <a:spcAft>
                <a:spcPts val="1400"/>
              </a:spcAft>
            </a:pPr>
            <a:r>
              <a:rPr sz="1500" b="1">
                <a:solidFill>
                  <a:srgbClr val="173344"/>
                </a:solidFill>
                <a:latin typeface="Calibri"/>
              </a:rPr>
              <a:t>▪  </a:t>
            </a:r>
            <a:r>
              <a:rPr sz="1500" b="1">
                <a:solidFill>
                  <a:srgbClr val="2A2522"/>
                </a:solidFill>
                <a:latin typeface="Calibri"/>
              </a:rPr>
              <a:t>Được hướng dẫn, cung cấp thông tin: </a:t>
            </a:r>
            <a:r>
              <a:rPr sz="1500">
                <a:solidFill>
                  <a:srgbClr val="2A2522"/>
                </a:solidFill>
                <a:latin typeface="Calibri"/>
              </a:rPr>
              <a:t>về chính sách, thủ tục thuế; được cơ quan thuế giữ bí mật thông tin theo quy định.</a:t>
            </a:r>
          </a:p>
          <a:p>
            <a:pPr>
              <a:lnSpc>
                <a:spcPct val="112000"/>
              </a:lnSpc>
              <a:spcAft>
                <a:spcPts val="1400"/>
              </a:spcAft>
            </a:pPr>
            <a:r>
              <a:rPr sz="1500" b="1">
                <a:solidFill>
                  <a:srgbClr val="173344"/>
                </a:solidFill>
                <a:latin typeface="Calibri"/>
              </a:rPr>
              <a:t>▪  </a:t>
            </a:r>
            <a:r>
              <a:rPr sz="1500" b="1">
                <a:solidFill>
                  <a:srgbClr val="2A2522"/>
                </a:solidFill>
                <a:latin typeface="Calibri"/>
              </a:rPr>
              <a:t>Được thụ hưởng lợi ích từ ngân sách: </a:t>
            </a:r>
            <a:r>
              <a:rPr sz="1500">
                <a:solidFill>
                  <a:srgbClr val="2A2522"/>
                </a:solidFill>
                <a:latin typeface="Calibri"/>
              </a:rPr>
              <a:t>các công trình, dịch vụ công (đường sá, trường học, bệnh viện, an ninh – quốc phòng...) được đầu tư từ nguồn thu thuế.</a:t>
            </a:r>
          </a:p>
          <a:p>
            <a:pPr>
              <a:lnSpc>
                <a:spcPct val="112000"/>
              </a:lnSpc>
              <a:spcAft>
                <a:spcPts val="1400"/>
              </a:spcAft>
            </a:pPr>
            <a:r>
              <a:rPr sz="1500" b="1">
                <a:solidFill>
                  <a:srgbClr val="173344"/>
                </a:solidFill>
                <a:latin typeface="Calibri"/>
              </a:rPr>
              <a:t>▪  </a:t>
            </a:r>
            <a:r>
              <a:rPr sz="1500" b="1">
                <a:solidFill>
                  <a:srgbClr val="2A2522"/>
                </a:solidFill>
                <a:latin typeface="Calibri"/>
              </a:rPr>
              <a:t>Được khiếu nại, tố cáo, khởi kiện: </a:t>
            </a:r>
            <a:r>
              <a:rPr sz="1500">
                <a:solidFill>
                  <a:srgbClr val="2A2522"/>
                </a:solidFill>
                <a:latin typeface="Calibri"/>
              </a:rPr>
              <a:t>đối với quyết định hành chính, hành vi hành chính về thuế trái pháp luật, gây thiệt hại đến quyền và lợi ích hợp pháp.</a:t>
            </a:r>
          </a:p>
        </p:txBody>
      </p:sp>
      <p:sp>
        <p:nvSpPr>
          <p:cNvPr id="6" name="Rectangle 5"/>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Khám phá</a:t>
            </a:r>
          </a:p>
        </p:txBody>
      </p:sp>
      <p:sp>
        <p:nvSpPr>
          <p:cNvPr id="8" name="TextBox 7"/>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KHÁM PHÁ 5 · NGHĨA VỤ CÔNG DÂN</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Nghĩa vụ của công dân khi thực hiện pháp luật thuế</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377440"/>
            <a:ext cx="11091672" cy="2286000"/>
          </a:xfrm>
          <a:prstGeom prst="rect">
            <a:avLst/>
          </a:prstGeom>
          <a:noFill/>
        </p:spPr>
        <p:txBody>
          <a:bodyPr wrap="square" lIns="0" rIns="0" tIns="0" bIns="0">
            <a:spAutoFit/>
          </a:bodyPr>
          <a:lstStyle/>
          <a:p>
            <a:pPr>
              <a:lnSpc>
                <a:spcPct val="112000"/>
              </a:lnSpc>
              <a:spcAft>
                <a:spcPts val="1000"/>
              </a:spcAft>
            </a:pPr>
            <a:r>
              <a:rPr sz="1450" b="1">
                <a:solidFill>
                  <a:srgbClr val="8C2F39"/>
                </a:solidFill>
                <a:latin typeface="Calibri"/>
              </a:rPr>
              <a:t>▪  </a:t>
            </a:r>
            <a:r>
              <a:rPr sz="1450" b="1">
                <a:solidFill>
                  <a:srgbClr val="2A2522"/>
                </a:solidFill>
                <a:latin typeface="Calibri"/>
              </a:rPr>
              <a:t>Đăng kí, kê khai thuế: </a:t>
            </a:r>
            <a:r>
              <a:rPr sz="1450">
                <a:solidFill>
                  <a:srgbClr val="2A2522"/>
                </a:solidFill>
                <a:latin typeface="Calibri"/>
              </a:rPr>
              <a:t>đầy đủ, chính xác, trung thực và nộp hồ sơ thuế đúng thời hạn.</a:t>
            </a:r>
          </a:p>
          <a:p>
            <a:pPr>
              <a:lnSpc>
                <a:spcPct val="112000"/>
              </a:lnSpc>
              <a:spcAft>
                <a:spcPts val="1000"/>
              </a:spcAft>
            </a:pPr>
            <a:r>
              <a:rPr sz="1450" b="1">
                <a:solidFill>
                  <a:srgbClr val="8C2F39"/>
                </a:solidFill>
                <a:latin typeface="Calibri"/>
              </a:rPr>
              <a:t>▪  </a:t>
            </a:r>
            <a:r>
              <a:rPr sz="1450" b="1">
                <a:solidFill>
                  <a:srgbClr val="2A2522"/>
                </a:solidFill>
                <a:latin typeface="Calibri"/>
              </a:rPr>
              <a:t>Nộp thuế đầy đủ, đúng hạn: </a:t>
            </a:r>
            <a:r>
              <a:rPr sz="1450">
                <a:solidFill>
                  <a:srgbClr val="2A2522"/>
                </a:solidFill>
                <a:latin typeface="Calibri"/>
              </a:rPr>
              <a:t>đúng số tiền, đúng thời hạn, đúng địa điểm theo quy định.</a:t>
            </a:r>
          </a:p>
          <a:p>
            <a:pPr>
              <a:lnSpc>
                <a:spcPct val="112000"/>
              </a:lnSpc>
              <a:spcAft>
                <a:spcPts val="1000"/>
              </a:spcAft>
            </a:pPr>
            <a:r>
              <a:rPr sz="1450" b="1">
                <a:solidFill>
                  <a:srgbClr val="8C2F39"/>
                </a:solidFill>
                <a:latin typeface="Calibri"/>
              </a:rPr>
              <a:t>▪  </a:t>
            </a:r>
            <a:r>
              <a:rPr sz="1450" b="1">
                <a:solidFill>
                  <a:srgbClr val="2A2522"/>
                </a:solidFill>
                <a:latin typeface="Calibri"/>
              </a:rPr>
              <a:t>Chấp hành chế độ kế toán, hoá đơn, chứng từ: </a:t>
            </a:r>
            <a:r>
              <a:rPr sz="1450">
                <a:solidFill>
                  <a:srgbClr val="2A2522"/>
                </a:solidFill>
                <a:latin typeface="Calibri"/>
              </a:rPr>
              <a:t>cung cấp thông tin, tài liệu khi cơ quan thuế yêu cầu để xác định nghĩa vụ thuế.</a:t>
            </a:r>
          </a:p>
        </p:txBody>
      </p:sp>
      <p:sp>
        <p:nvSpPr>
          <p:cNvPr id="6" name="Rounded Rectangle 5"/>
          <p:cNvSpPr/>
          <p:nvPr/>
        </p:nvSpPr>
        <p:spPr>
          <a:xfrm>
            <a:off x="548640" y="5029200"/>
            <a:ext cx="11091672" cy="105156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029200"/>
            <a:ext cx="82296" cy="1051560"/>
          </a:xfrm>
          <a:prstGeom prst="rect">
            <a:avLst/>
          </a:prstGeom>
          <a:solidFill>
            <a:srgbClr val="9C49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193792"/>
            <a:ext cx="10671048" cy="365760"/>
          </a:xfrm>
          <a:prstGeom prst="rect">
            <a:avLst/>
          </a:prstGeom>
          <a:noFill/>
        </p:spPr>
        <p:txBody>
          <a:bodyPr wrap="square" anchor="t" lIns="0" rIns="0" tIns="0" bIns="0">
            <a:spAutoFit/>
          </a:bodyPr>
          <a:lstStyle/>
          <a:p>
            <a:pPr algn="l">
              <a:lnSpc>
                <a:spcPct val="100000"/>
              </a:lnSpc>
              <a:spcAft>
                <a:spcPts val="0"/>
              </a:spcAft>
            </a:pPr>
            <a:r>
              <a:rPr sz="1300" b="1" i="0">
                <a:solidFill>
                  <a:srgbClr val="1F3B57"/>
                </a:solidFill>
                <a:latin typeface="Calibri"/>
              </a:rPr>
              <a:t>LƯU Ý</a:t>
            </a:r>
          </a:p>
        </p:txBody>
      </p:sp>
      <p:sp>
        <p:nvSpPr>
          <p:cNvPr id="9" name="TextBox 8"/>
          <p:cNvSpPr txBox="1"/>
          <p:nvPr/>
        </p:nvSpPr>
        <p:spPr>
          <a:xfrm>
            <a:off x="786384" y="5559552"/>
            <a:ext cx="10671048" cy="393192"/>
          </a:xfrm>
          <a:prstGeom prst="rect">
            <a:avLst/>
          </a:prstGeom>
          <a:noFill/>
        </p:spPr>
        <p:txBody>
          <a:bodyPr wrap="square" anchor="t" lIns="0" rIns="0" tIns="0" bIns="0">
            <a:spAutoFit/>
          </a:bodyPr>
          <a:lstStyle/>
          <a:p>
            <a:pPr algn="l">
              <a:lnSpc>
                <a:spcPct val="114000"/>
              </a:lnSpc>
              <a:spcAft>
                <a:spcPts val="0"/>
              </a:spcAft>
            </a:pPr>
            <a:r>
              <a:rPr sz="1300" b="0" i="0">
                <a:solidFill>
                  <a:srgbClr val="2A2522"/>
                </a:solidFill>
                <a:latin typeface="Calibri"/>
              </a:rPr>
              <a:t>Trốn thuế, gian lận thuế là hành vi vi phạm pháp luật: tuỳ mức độ có thể bị xử phạt hành chính (phạt tiền, truy thu thuế) hoặc bị truy cứu trách nhiệm hình sự.</a:t>
            </a:r>
          </a:p>
        </p:txBody>
      </p:sp>
      <p:sp>
        <p:nvSpPr>
          <p:cNvPr id="10" name="Rectangle 9"/>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Khám phá</a:t>
            </a:r>
          </a:p>
        </p:txBody>
      </p:sp>
      <p:sp>
        <p:nvSpPr>
          <p:cNvPr id="12" name="TextBox 11"/>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78A2E"/>
                </a:solidFill>
                <a:latin typeface="Calibri"/>
              </a:rPr>
              <a:t>TỔNG KẾT NHANH</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Sơ đồ tư duy: Các loại thuế – Quyền và nghĩa vụ</a:t>
            </a:r>
          </a:p>
        </p:txBody>
      </p:sp>
      <p:sp>
        <p:nvSpPr>
          <p:cNvPr id="4" name="Rectangle 3"/>
          <p:cNvSpPr/>
          <p:nvPr/>
        </p:nvSpPr>
        <p:spPr>
          <a:xfrm>
            <a:off x="548640" y="1472184"/>
            <a:ext cx="822960" cy="4064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3538728" cy="338328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60320"/>
            <a:ext cx="420624" cy="420624"/>
          </a:xfrm>
          <a:prstGeom prst="ellipse">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TT</a:t>
            </a:r>
          </a:p>
        </p:txBody>
      </p:sp>
      <p:sp>
        <p:nvSpPr>
          <p:cNvPr id="7" name="TextBox 6"/>
          <p:cNvSpPr txBox="1"/>
          <p:nvPr/>
        </p:nvSpPr>
        <p:spPr>
          <a:xfrm>
            <a:off x="731520" y="305409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THUẾ TRỰC THU</a:t>
            </a:r>
          </a:p>
        </p:txBody>
      </p:sp>
      <p:sp>
        <p:nvSpPr>
          <p:cNvPr id="8" name="TextBox 7"/>
          <p:cNvSpPr txBox="1"/>
          <p:nvPr/>
        </p:nvSpPr>
        <p:spPr>
          <a:xfrm>
            <a:off x="731520" y="3401568"/>
            <a:ext cx="3172968" cy="229514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Người nộp = người chịu thuế.</a:t>
            </a:r>
          </a:p>
          <a:p>
            <a:pPr algn="l">
              <a:lnSpc>
                <a:spcPct val="108000"/>
              </a:lnSpc>
              <a:spcAft>
                <a:spcPts val="0"/>
              </a:spcAft>
            </a:pPr>
            <a:r>
              <a:rPr sz="1250" b="0" i="0">
                <a:solidFill>
                  <a:srgbClr val="2A2522"/>
                </a:solidFill>
                <a:latin typeface="Calibri"/>
              </a:rPr>
              <a:t>Ví dụ: thuế TNCN, thuế TNDN.</a:t>
            </a:r>
          </a:p>
        </p:txBody>
      </p:sp>
      <p:sp>
        <p:nvSpPr>
          <p:cNvPr id="9" name="Rounded Rectangle 8"/>
          <p:cNvSpPr/>
          <p:nvPr/>
        </p:nvSpPr>
        <p:spPr>
          <a:xfrm>
            <a:off x="4315968" y="2377440"/>
            <a:ext cx="3538728" cy="338328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98848" y="256032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GT</a:t>
            </a:r>
          </a:p>
        </p:txBody>
      </p:sp>
      <p:sp>
        <p:nvSpPr>
          <p:cNvPr id="11" name="TextBox 10"/>
          <p:cNvSpPr txBox="1"/>
          <p:nvPr/>
        </p:nvSpPr>
        <p:spPr>
          <a:xfrm>
            <a:off x="4498848" y="305409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THUẾ GIÁN THU</a:t>
            </a:r>
          </a:p>
        </p:txBody>
      </p:sp>
      <p:sp>
        <p:nvSpPr>
          <p:cNvPr id="12" name="TextBox 11"/>
          <p:cNvSpPr txBox="1"/>
          <p:nvPr/>
        </p:nvSpPr>
        <p:spPr>
          <a:xfrm>
            <a:off x="4498848" y="3401568"/>
            <a:ext cx="3172968" cy="229514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Cộng vào giá bán, người tiêu dùng chịu thuế.</a:t>
            </a:r>
          </a:p>
          <a:p>
            <a:pPr algn="l">
              <a:lnSpc>
                <a:spcPct val="108000"/>
              </a:lnSpc>
              <a:spcAft>
                <a:spcPts val="0"/>
              </a:spcAft>
            </a:pPr>
            <a:r>
              <a:rPr sz="1250" b="0" i="0">
                <a:solidFill>
                  <a:srgbClr val="2A2522"/>
                </a:solidFill>
                <a:latin typeface="Calibri"/>
              </a:rPr>
              <a:t>Ví dụ: thuế GTGT, TTĐB, XNK.</a:t>
            </a:r>
          </a:p>
        </p:txBody>
      </p:sp>
      <p:sp>
        <p:nvSpPr>
          <p:cNvPr id="13" name="Rounded Rectangle 12"/>
          <p:cNvSpPr/>
          <p:nvPr/>
        </p:nvSpPr>
        <p:spPr>
          <a:xfrm>
            <a:off x="8083296" y="2377440"/>
            <a:ext cx="3557016" cy="338328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66176" y="2560320"/>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CD</a:t>
            </a:r>
          </a:p>
        </p:txBody>
      </p:sp>
      <p:sp>
        <p:nvSpPr>
          <p:cNvPr id="15" name="TextBox 14"/>
          <p:cNvSpPr txBox="1"/>
          <p:nvPr/>
        </p:nvSpPr>
        <p:spPr>
          <a:xfrm>
            <a:off x="8266176" y="3054096"/>
            <a:ext cx="3191256"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CÔNG DÂN</a:t>
            </a:r>
          </a:p>
        </p:txBody>
      </p:sp>
      <p:sp>
        <p:nvSpPr>
          <p:cNvPr id="16" name="TextBox 15"/>
          <p:cNvSpPr txBox="1"/>
          <p:nvPr/>
        </p:nvSpPr>
        <p:spPr>
          <a:xfrm>
            <a:off x="8266176" y="3401568"/>
            <a:ext cx="3191256" cy="229514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Quyền: hướng dẫn, hưởng lợi, khiếu nại.</a:t>
            </a:r>
          </a:p>
          <a:p>
            <a:pPr algn="l">
              <a:lnSpc>
                <a:spcPct val="108000"/>
              </a:lnSpc>
              <a:spcAft>
                <a:spcPts val="0"/>
              </a:spcAft>
            </a:pPr>
            <a:r>
              <a:rPr sz="1250" b="0" i="0">
                <a:solidFill>
                  <a:srgbClr val="2A2522"/>
                </a:solidFill>
                <a:latin typeface="Calibri"/>
              </a:rPr>
              <a:t>Nghĩa vụ: kê khai, nộp thuế đúng – đủ – đúng hạn.</a:t>
            </a:r>
          </a:p>
        </p:txBody>
      </p:sp>
      <p:sp>
        <p:nvSpPr>
          <p:cNvPr id="17" name="Rectangle 16"/>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Tổng kết</a:t>
            </a:r>
          </a:p>
        </p:txBody>
      </p:sp>
      <p:sp>
        <p:nvSpPr>
          <p:cNvPr id="19" name="TextBox 18"/>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LUYỆN TẬP · TRẮC NGHIỆM</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Khoanh vào chữ cái trước đáp án đúng</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82880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45973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1. Thuế giá trị gia tăng (GTGT) thuộc loại thuế nào?</a:t>
            </a:r>
          </a:p>
        </p:txBody>
      </p:sp>
      <p:sp>
        <p:nvSpPr>
          <p:cNvPr id="7" name="TextBox 6"/>
          <p:cNvSpPr txBox="1"/>
          <p:nvPr/>
        </p:nvSpPr>
        <p:spPr>
          <a:xfrm>
            <a:off x="749808" y="299008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Thuế trực thu</a:t>
            </a:r>
          </a:p>
        </p:txBody>
      </p:sp>
      <p:sp>
        <p:nvSpPr>
          <p:cNvPr id="8" name="TextBox 7"/>
          <p:cNvSpPr txBox="1"/>
          <p:nvPr/>
        </p:nvSpPr>
        <p:spPr>
          <a:xfrm>
            <a:off x="6094476" y="299008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B. Thuế gián thu</a:t>
            </a:r>
          </a:p>
        </p:txBody>
      </p:sp>
      <p:sp>
        <p:nvSpPr>
          <p:cNvPr id="9" name="TextBox 8"/>
          <p:cNvSpPr txBox="1"/>
          <p:nvPr/>
        </p:nvSpPr>
        <p:spPr>
          <a:xfrm>
            <a:off x="749808"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Thuế tài sản</a:t>
            </a:r>
          </a:p>
        </p:txBody>
      </p:sp>
      <p:sp>
        <p:nvSpPr>
          <p:cNvPr id="10" name="TextBox 9"/>
          <p:cNvSpPr txBox="1"/>
          <p:nvPr/>
        </p:nvSpPr>
        <p:spPr>
          <a:xfrm>
            <a:off x="6094476"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Thuế xuất khẩu</a:t>
            </a:r>
          </a:p>
        </p:txBody>
      </p:sp>
      <p:sp>
        <p:nvSpPr>
          <p:cNvPr id="11" name="Rounded Rectangle 10"/>
          <p:cNvSpPr/>
          <p:nvPr/>
        </p:nvSpPr>
        <p:spPr>
          <a:xfrm>
            <a:off x="548640" y="4343400"/>
            <a:ext cx="11091672" cy="182880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47141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2. Người nộp thuế đồng thời là người chịu thuế, không thể chuyển gánh nặng thuế cho người khác – đây là đặc điểm của loại thuế nào?</a:t>
            </a:r>
          </a:p>
        </p:txBody>
      </p:sp>
      <p:sp>
        <p:nvSpPr>
          <p:cNvPr id="13" name="TextBox 12"/>
          <p:cNvSpPr txBox="1"/>
          <p:nvPr/>
        </p:nvSpPr>
        <p:spPr>
          <a:xfrm>
            <a:off x="749808" y="50017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Thuế trực thu</a:t>
            </a:r>
          </a:p>
        </p:txBody>
      </p:sp>
      <p:sp>
        <p:nvSpPr>
          <p:cNvPr id="14" name="TextBox 13"/>
          <p:cNvSpPr txBox="1"/>
          <p:nvPr/>
        </p:nvSpPr>
        <p:spPr>
          <a:xfrm>
            <a:off x="6094476" y="50017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B. Thuế gián thu</a:t>
            </a:r>
          </a:p>
        </p:txBody>
      </p:sp>
      <p:sp>
        <p:nvSpPr>
          <p:cNvPr id="15" name="TextBox 14"/>
          <p:cNvSpPr txBox="1"/>
          <p:nvPr/>
        </p:nvSpPr>
        <p:spPr>
          <a:xfrm>
            <a:off x="749808" y="536752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Thuế nhập khẩu</a:t>
            </a:r>
          </a:p>
        </p:txBody>
      </p:sp>
      <p:sp>
        <p:nvSpPr>
          <p:cNvPr id="16" name="TextBox 15"/>
          <p:cNvSpPr txBox="1"/>
          <p:nvPr/>
        </p:nvSpPr>
        <p:spPr>
          <a:xfrm>
            <a:off x="6094476" y="536752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Lệ phí</a:t>
            </a:r>
          </a:p>
        </p:txBody>
      </p:sp>
      <p:sp>
        <p:nvSpPr>
          <p:cNvPr id="17" name="Rectangle 16"/>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Luyện tập</a:t>
            </a:r>
          </a:p>
        </p:txBody>
      </p:sp>
      <p:sp>
        <p:nvSpPr>
          <p:cNvPr id="19" name="TextBox 18"/>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LUYỆN TẬP · TRẮC NGHIỆM</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Khoanh vào chữ cái trước đáp án đúng</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69164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45973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3. Hành vi nào sau đây vi phạm nghĩa vụ của công dân về thuế?</a:t>
            </a:r>
          </a:p>
        </p:txBody>
      </p:sp>
      <p:sp>
        <p:nvSpPr>
          <p:cNvPr id="7" name="TextBox 6"/>
          <p:cNvSpPr txBox="1"/>
          <p:nvPr/>
        </p:nvSpPr>
        <p:spPr>
          <a:xfrm>
            <a:off x="749808" y="299008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Kê khai trung thực doanh thu bán hàng</a:t>
            </a:r>
          </a:p>
        </p:txBody>
      </p:sp>
      <p:sp>
        <p:nvSpPr>
          <p:cNvPr id="8" name="TextBox 7"/>
          <p:cNvSpPr txBox="1"/>
          <p:nvPr/>
        </p:nvSpPr>
        <p:spPr>
          <a:xfrm>
            <a:off x="6094476" y="2990088"/>
            <a:ext cx="5253228" cy="329184"/>
          </a:xfrm>
          <a:prstGeom prst="rect">
            <a:avLst/>
          </a:prstGeom>
          <a:noFill/>
        </p:spPr>
        <p:txBody>
          <a:bodyPr wrap="square" anchor="t" lIns="0" rIns="0" tIns="0" bIns="0">
            <a:spAutoFit/>
          </a:bodyPr>
          <a:lstStyle/>
          <a:p>
            <a:pPr algn="l">
              <a:lnSpc>
                <a:spcPct val="100000"/>
              </a:lnSpc>
              <a:spcAft>
                <a:spcPts val="0"/>
              </a:spcAft>
            </a:pPr>
            <a:r>
              <a:rPr sz="1200" b="1" i="0">
                <a:solidFill>
                  <a:srgbClr val="6C222A"/>
                </a:solidFill>
                <a:latin typeface="Calibri"/>
              </a:rPr>
              <a:t>B. Cố tình không xuất hoá đơn để giảm số thuế phải nộp  ✓</a:t>
            </a:r>
          </a:p>
        </p:txBody>
      </p:sp>
      <p:sp>
        <p:nvSpPr>
          <p:cNvPr id="9" name="TextBox 8"/>
          <p:cNvSpPr txBox="1"/>
          <p:nvPr/>
        </p:nvSpPr>
        <p:spPr>
          <a:xfrm>
            <a:off x="749808"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Nộp thuế đúng thời hạn quy định</a:t>
            </a:r>
          </a:p>
        </p:txBody>
      </p:sp>
      <p:sp>
        <p:nvSpPr>
          <p:cNvPr id="10" name="TextBox 9"/>
          <p:cNvSpPr txBox="1"/>
          <p:nvPr/>
        </p:nvSpPr>
        <p:spPr>
          <a:xfrm>
            <a:off x="6094476"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Đề nghị cơ quan thuế hướng dẫn thủ tục kê khai</a:t>
            </a:r>
          </a:p>
        </p:txBody>
      </p:sp>
      <p:sp>
        <p:nvSpPr>
          <p:cNvPr id="11" name="Rounded Rectangle 10"/>
          <p:cNvSpPr/>
          <p:nvPr/>
        </p:nvSpPr>
        <p:spPr>
          <a:xfrm>
            <a:off x="548640" y="4206240"/>
            <a:ext cx="11091672" cy="169164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33425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4. Khi phát hiện quyết định xử phạt về thuế của cơ quan thuế là trái pháp luật, công dân có quyền gì?</a:t>
            </a:r>
          </a:p>
        </p:txBody>
      </p:sp>
      <p:sp>
        <p:nvSpPr>
          <p:cNvPr id="13" name="TextBox 12"/>
          <p:cNvSpPr txBox="1"/>
          <p:nvPr/>
        </p:nvSpPr>
        <p:spPr>
          <a:xfrm>
            <a:off x="749808" y="486460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Tự ý không nộp thuế</a:t>
            </a:r>
          </a:p>
        </p:txBody>
      </p:sp>
      <p:sp>
        <p:nvSpPr>
          <p:cNvPr id="14" name="TextBox 13"/>
          <p:cNvSpPr txBox="1"/>
          <p:nvPr/>
        </p:nvSpPr>
        <p:spPr>
          <a:xfrm>
            <a:off x="6094476" y="4864608"/>
            <a:ext cx="5253228" cy="329184"/>
          </a:xfrm>
          <a:prstGeom prst="rect">
            <a:avLst/>
          </a:prstGeom>
          <a:noFill/>
        </p:spPr>
        <p:txBody>
          <a:bodyPr wrap="square" anchor="t" lIns="0" rIns="0" tIns="0" bIns="0">
            <a:spAutoFit/>
          </a:bodyPr>
          <a:lstStyle/>
          <a:p>
            <a:pPr algn="l">
              <a:lnSpc>
                <a:spcPct val="100000"/>
              </a:lnSpc>
              <a:spcAft>
                <a:spcPts val="0"/>
              </a:spcAft>
            </a:pPr>
            <a:r>
              <a:rPr sz="1200" b="1" i="0">
                <a:solidFill>
                  <a:srgbClr val="6C222A"/>
                </a:solidFill>
                <a:latin typeface="Calibri"/>
              </a:rPr>
              <a:t>B. Khiếu nại, khởi kiện theo quy định pháp luật  ✓</a:t>
            </a:r>
          </a:p>
        </p:txBody>
      </p:sp>
      <p:sp>
        <p:nvSpPr>
          <p:cNvPr id="15" name="TextBox 14"/>
          <p:cNvSpPr txBox="1"/>
          <p:nvPr/>
        </p:nvSpPr>
        <p:spPr>
          <a:xfrm>
            <a:off x="749808" y="52303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Bỏ trốn để không bị xử phạt</a:t>
            </a:r>
          </a:p>
        </p:txBody>
      </p:sp>
      <p:sp>
        <p:nvSpPr>
          <p:cNvPr id="16" name="TextBox 15"/>
          <p:cNvSpPr txBox="1"/>
          <p:nvPr/>
        </p:nvSpPr>
        <p:spPr>
          <a:xfrm>
            <a:off x="6094476" y="52303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Nhờ người khác nộp thuế thay vĩnh viễn</a:t>
            </a:r>
          </a:p>
        </p:txBody>
      </p:sp>
      <p:sp>
        <p:nvSpPr>
          <p:cNvPr id="17" name="Rounded Rectangle 16"/>
          <p:cNvSpPr/>
          <p:nvPr/>
        </p:nvSpPr>
        <p:spPr>
          <a:xfrm>
            <a:off x="548640" y="6035040"/>
            <a:ext cx="11091672" cy="384048"/>
          </a:xfrm>
          <a:prstGeom prst="roundRect">
            <a:avLst>
              <a:gd name="adj" fmla="val 6000"/>
            </a:avLst>
          </a:prstGeom>
          <a:solidFill>
            <a:srgbClr val="F6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6035040"/>
            <a:ext cx="82296" cy="384048"/>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6199632"/>
            <a:ext cx="10671048" cy="365760"/>
          </a:xfrm>
          <a:prstGeom prst="rect">
            <a:avLst/>
          </a:prstGeom>
          <a:noFill/>
        </p:spPr>
        <p:txBody>
          <a:bodyPr wrap="square" anchor="t" lIns="0" rIns="0" tIns="0" bIns="0">
            <a:spAutoFit/>
          </a:bodyPr>
          <a:lstStyle/>
          <a:p>
            <a:pPr algn="l">
              <a:lnSpc>
                <a:spcPct val="100000"/>
              </a:lnSpc>
              <a:spcAft>
                <a:spcPts val="0"/>
              </a:spcAft>
            </a:pPr>
            <a:r>
              <a:rPr sz="1500" b="1" i="0">
                <a:solidFill>
                  <a:srgbClr val="1F3B57"/>
                </a:solidFill>
                <a:latin typeface="Calibri"/>
              </a:rPr>
              <a:t/>
            </a:r>
          </a:p>
        </p:txBody>
      </p:sp>
      <p:sp>
        <p:nvSpPr>
          <p:cNvPr id="20" name="TextBox 19"/>
          <p:cNvSpPr txBox="1"/>
          <p:nvPr/>
        </p:nvSpPr>
        <p:spPr>
          <a:xfrm>
            <a:off x="786384" y="6565392"/>
            <a:ext cx="10671048" cy="-274320"/>
          </a:xfrm>
          <a:prstGeom prst="rect">
            <a:avLst/>
          </a:prstGeom>
          <a:noFill/>
        </p:spPr>
        <p:txBody>
          <a:bodyPr wrap="square" anchor="t" lIns="0" rIns="0" tIns="0" bIns="0">
            <a:spAutoFit/>
          </a:bodyPr>
          <a:lstStyle/>
          <a:p>
            <a:pPr algn="l">
              <a:lnSpc>
                <a:spcPct val="114000"/>
              </a:lnSpc>
              <a:spcAft>
                <a:spcPts val="0"/>
              </a:spcAft>
            </a:pPr>
            <a:r>
              <a:rPr sz="1250" b="0" i="0">
                <a:solidFill>
                  <a:srgbClr val="2A2522"/>
                </a:solidFill>
                <a:latin typeface="Calibri"/>
              </a:rPr>
              <a:t>Đáp án: Câu 1 – B      Câu 2 – A      Câu 3 – B      Câu 4 – B</a:t>
            </a:r>
          </a:p>
        </p:txBody>
      </p:sp>
      <p:sp>
        <p:nvSpPr>
          <p:cNvPr id="21" name="Rectangle 2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Luyện tập</a:t>
            </a:r>
          </a:p>
        </p:txBody>
      </p:sp>
      <p:sp>
        <p:nvSpPr>
          <p:cNvPr id="23" name="TextBox 2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LUYỆN TẬP · TÌNH HUỐNG PHÁP LUẬT</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Xử lí tình huống</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11091672" cy="160020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52374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8C2F39"/>
                </a:solidFill>
                <a:latin typeface="Calibri"/>
              </a:rPr>
              <a:t>TÌNH HUỐNG</a:t>
            </a:r>
          </a:p>
        </p:txBody>
      </p:sp>
      <p:sp>
        <p:nvSpPr>
          <p:cNvPr id="7" name="TextBox 6"/>
          <p:cNvSpPr txBox="1"/>
          <p:nvPr/>
        </p:nvSpPr>
        <p:spPr>
          <a:xfrm>
            <a:off x="786384" y="2834640"/>
            <a:ext cx="10616184" cy="996696"/>
          </a:xfrm>
          <a:prstGeom prst="rect">
            <a:avLst/>
          </a:prstGeom>
          <a:noFill/>
        </p:spPr>
        <p:txBody>
          <a:bodyPr wrap="square" anchor="t" lIns="0" rIns="0" tIns="0" bIns="0">
            <a:spAutoFit/>
          </a:bodyPr>
          <a:lstStyle/>
          <a:p>
            <a:pPr algn="l">
              <a:lnSpc>
                <a:spcPct val="116000"/>
              </a:lnSpc>
              <a:spcAft>
                <a:spcPts val="0"/>
              </a:spcAft>
            </a:pPr>
            <a:r>
              <a:rPr sz="1400" b="0" i="0">
                <a:solidFill>
                  <a:srgbClr val="2A2522"/>
                </a:solidFill>
                <a:latin typeface="Calibri"/>
              </a:rPr>
              <a:t>Anh K là chủ một quán ăn đông khách. Cơ quan thuế phát hiện trong 1 năm anh K đã không kê khai gần 500 triệu đồng doanh thu, dẫn đến thiếu số thuế phải nộp hơn 80 triệu đồng.</a:t>
            </a:r>
          </a:p>
        </p:txBody>
      </p:sp>
      <p:sp>
        <p:nvSpPr>
          <p:cNvPr id="8" name="TextBox 7"/>
          <p:cNvSpPr txBox="1"/>
          <p:nvPr/>
        </p:nvSpPr>
        <p:spPr>
          <a:xfrm>
            <a:off x="548640" y="4160520"/>
            <a:ext cx="11091672" cy="1280160"/>
          </a:xfrm>
          <a:prstGeom prst="rect">
            <a:avLst/>
          </a:prstGeom>
          <a:noFill/>
        </p:spPr>
        <p:txBody>
          <a:bodyPr wrap="square" lIns="0" rIns="0" tIns="0" bIns="0">
            <a:spAutoFit/>
          </a:bodyPr>
          <a:lstStyle/>
          <a:p>
            <a:pPr>
              <a:lnSpc>
                <a:spcPct val="112000"/>
              </a:lnSpc>
              <a:spcAft>
                <a:spcPts val="600"/>
              </a:spcAft>
            </a:pPr>
            <a:r>
              <a:rPr sz="1350" b="1">
                <a:solidFill>
                  <a:srgbClr val="173344"/>
                </a:solidFill>
                <a:latin typeface="Calibri"/>
              </a:rPr>
              <a:t>▪  </a:t>
            </a:r>
            <a:r>
              <a:rPr sz="1350">
                <a:solidFill>
                  <a:srgbClr val="2A2522"/>
                </a:solidFill>
                <a:latin typeface="Calibri"/>
              </a:rPr>
              <a:t>Anh K đã vi phạm nghĩa vụ nào của công dân về thuế?</a:t>
            </a:r>
          </a:p>
          <a:p>
            <a:pPr>
              <a:lnSpc>
                <a:spcPct val="112000"/>
              </a:lnSpc>
              <a:spcAft>
                <a:spcPts val="600"/>
              </a:spcAft>
            </a:pPr>
            <a:r>
              <a:rPr sz="1350" b="1">
                <a:solidFill>
                  <a:srgbClr val="173344"/>
                </a:solidFill>
                <a:latin typeface="Calibri"/>
              </a:rPr>
              <a:t>▪  </a:t>
            </a:r>
            <a:r>
              <a:rPr sz="1350">
                <a:solidFill>
                  <a:srgbClr val="2A2522"/>
                </a:solidFill>
                <a:latin typeface="Calibri"/>
              </a:rPr>
              <a:t>Anh K có thể phải chịu những hậu quả pháp lí nào?</a:t>
            </a:r>
          </a:p>
          <a:p>
            <a:pPr>
              <a:lnSpc>
                <a:spcPct val="112000"/>
              </a:lnSpc>
              <a:spcAft>
                <a:spcPts val="600"/>
              </a:spcAft>
            </a:pPr>
            <a:r>
              <a:rPr sz="1350" b="1">
                <a:solidFill>
                  <a:srgbClr val="173344"/>
                </a:solidFill>
                <a:latin typeface="Calibri"/>
              </a:rPr>
              <a:t>▪  </a:t>
            </a:r>
            <a:r>
              <a:rPr sz="1350">
                <a:solidFill>
                  <a:srgbClr val="2A2522"/>
                </a:solidFill>
                <a:latin typeface="Calibri"/>
              </a:rPr>
              <a:t>Nếu là bạn của anh K, em sẽ góp ý gì?</a:t>
            </a:r>
          </a:p>
        </p:txBody>
      </p:sp>
      <p:sp>
        <p:nvSpPr>
          <p:cNvPr id="9" name="Rounded Rectangle 8"/>
          <p:cNvSpPr/>
          <p:nvPr/>
        </p:nvSpPr>
        <p:spPr>
          <a:xfrm>
            <a:off x="548640" y="5532120"/>
            <a:ext cx="11091672" cy="777240"/>
          </a:xfrm>
          <a:prstGeom prst="roundRect">
            <a:avLst>
              <a:gd name="adj" fmla="val 6000"/>
            </a:avLst>
          </a:prstGeom>
          <a:solidFill>
            <a:srgbClr val="F6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5532120"/>
            <a:ext cx="82296" cy="77724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696712"/>
            <a:ext cx="10671048" cy="365760"/>
          </a:xfrm>
          <a:prstGeom prst="rect">
            <a:avLst/>
          </a:prstGeom>
          <a:noFill/>
        </p:spPr>
        <p:txBody>
          <a:bodyPr wrap="square" anchor="t" lIns="0" rIns="0" tIns="0" bIns="0">
            <a:spAutoFit/>
          </a:bodyPr>
          <a:lstStyle/>
          <a:p>
            <a:pPr algn="l">
              <a:lnSpc>
                <a:spcPct val="100000"/>
              </a:lnSpc>
              <a:spcAft>
                <a:spcPts val="0"/>
              </a:spcAft>
            </a:pPr>
            <a:r>
              <a:rPr sz="1200" b="1" i="0">
                <a:solidFill>
                  <a:srgbClr val="1F3B57"/>
                </a:solidFill>
                <a:latin typeface="Calibri"/>
              </a:rPr>
              <a:t>GỢI Ý</a:t>
            </a:r>
          </a:p>
        </p:txBody>
      </p:sp>
      <p:sp>
        <p:nvSpPr>
          <p:cNvPr id="12" name="TextBox 11"/>
          <p:cNvSpPr txBox="1"/>
          <p:nvPr/>
        </p:nvSpPr>
        <p:spPr>
          <a:xfrm>
            <a:off x="786384" y="6062472"/>
            <a:ext cx="10671048" cy="118872"/>
          </a:xfrm>
          <a:prstGeom prst="rect">
            <a:avLst/>
          </a:prstGeom>
          <a:noFill/>
        </p:spPr>
        <p:txBody>
          <a:bodyPr wrap="square" anchor="t" lIns="0" rIns="0" tIns="0" bIns="0">
            <a:spAutoFit/>
          </a:bodyPr>
          <a:lstStyle/>
          <a:p>
            <a:pPr algn="l">
              <a:lnSpc>
                <a:spcPct val="114000"/>
              </a:lnSpc>
              <a:spcAft>
                <a:spcPts val="0"/>
              </a:spcAft>
            </a:pPr>
            <a:r>
              <a:rPr sz="1150" b="0" i="0">
                <a:solidFill>
                  <a:srgbClr val="2A2522"/>
                </a:solidFill>
                <a:latin typeface="Calibri"/>
              </a:rPr>
              <a:t>Vi phạm nghĩa vụ kê khai trung thực, nộp đủ thuế; có thể bị truy thu thuế, phạt tiền, thậm chí bị truy cứu trách nhiệm hình sự về tội trốn thuế nếu đủ yếu tố cấu thành theo pháp luật.</a:t>
            </a:r>
          </a:p>
        </p:txBody>
      </p:sp>
      <p:sp>
        <p:nvSpPr>
          <p:cNvPr id="13" name="Rectangle 12"/>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Luyện tập</a:t>
            </a:r>
          </a:p>
        </p:txBody>
      </p:sp>
      <p:sp>
        <p:nvSpPr>
          <p:cNvPr id="15" name="TextBox 14"/>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VẬN DỤNG</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Nhiệm vụ 1 – Phỏng vấn nhỏ</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468880"/>
            <a:ext cx="11091672" cy="2377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468880"/>
            <a:ext cx="82296" cy="23774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633472"/>
            <a:ext cx="10671048" cy="365760"/>
          </a:xfrm>
          <a:prstGeom prst="rect">
            <a:avLst/>
          </a:prstGeom>
          <a:noFill/>
        </p:spPr>
        <p:txBody>
          <a:bodyPr wrap="square" anchor="t" lIns="0" rIns="0" tIns="0" bIns="0">
            <a:spAutoFit/>
          </a:bodyPr>
          <a:lstStyle/>
          <a:p>
            <a:pPr algn="l">
              <a:lnSpc>
                <a:spcPct val="100000"/>
              </a:lnSpc>
              <a:spcAft>
                <a:spcPts val="0"/>
              </a:spcAft>
            </a:pPr>
            <a:r>
              <a:rPr sz="1400" b="1" i="0">
                <a:solidFill>
                  <a:srgbClr val="1F3B57"/>
                </a:solidFill>
                <a:latin typeface="Calibri"/>
              </a:rPr>
              <a:t>YÊU CẦU</a:t>
            </a:r>
          </a:p>
        </p:txBody>
      </p:sp>
      <p:sp>
        <p:nvSpPr>
          <p:cNvPr id="8" name="TextBox 7"/>
          <p:cNvSpPr txBox="1"/>
          <p:nvPr/>
        </p:nvSpPr>
        <p:spPr>
          <a:xfrm>
            <a:off x="786384" y="2999232"/>
            <a:ext cx="10671048" cy="1719072"/>
          </a:xfrm>
          <a:prstGeom prst="rect">
            <a:avLst/>
          </a:prstGeom>
          <a:noFill/>
        </p:spPr>
        <p:txBody>
          <a:bodyPr wrap="square" anchor="t" lIns="0" rIns="0" tIns="0" bIns="0">
            <a:spAutoFit/>
          </a:bodyPr>
          <a:lstStyle/>
          <a:p>
            <a:pPr algn="l">
              <a:lnSpc>
                <a:spcPct val="114000"/>
              </a:lnSpc>
              <a:spcAft>
                <a:spcPts val="0"/>
              </a:spcAft>
            </a:pPr>
            <a:r>
              <a:rPr sz="1400" b="0" i="0">
                <a:solidFill>
                  <a:srgbClr val="2A2522"/>
                </a:solidFill>
                <a:latin typeface="Calibri"/>
              </a:rPr>
              <a:t>Về nhà, em hãy hỏi người thân (bố, mẹ, người bán hàng...) về một loại thuế mà gia đình/cửa hàng đang phải nộp (thuế TNCN, thuế môn bài, thuế GTGT...).</a:t>
            </a:r>
          </a:p>
          <a:p>
            <a:pPr algn="l">
              <a:lnSpc>
                <a:spcPct val="114000"/>
              </a:lnSpc>
              <a:spcAft>
                <a:spcPts val="0"/>
              </a:spcAft>
            </a:pPr>
            <a:r>
              <a:rPr sz="1400" b="0" i="0">
                <a:solidFill>
                  <a:srgbClr val="2A2522"/>
                </a:solidFill>
                <a:latin typeface="Calibri"/>
              </a:rPr>
              <a:t/>
            </a:r>
          </a:p>
          <a:p>
            <a:pPr algn="l">
              <a:lnSpc>
                <a:spcPct val="114000"/>
              </a:lnSpc>
              <a:spcAft>
                <a:spcPts val="0"/>
              </a:spcAft>
            </a:pPr>
            <a:r>
              <a:rPr sz="1400" b="0" i="0">
                <a:solidFill>
                  <a:srgbClr val="2A2522"/>
                </a:solidFill>
                <a:latin typeface="Calibri"/>
              </a:rPr>
              <a:t>Ghi lại ngắn gọn: Đó là thuế trực thu hay gián thu? Vì sao em xác định như vậy?</a:t>
            </a:r>
          </a:p>
        </p:txBody>
      </p:sp>
      <p:sp>
        <p:nvSpPr>
          <p:cNvPr id="9" name="Rectangle 8"/>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Vận dụng</a:t>
            </a:r>
          </a:p>
        </p:txBody>
      </p:sp>
      <p:sp>
        <p:nvSpPr>
          <p:cNvPr id="11" name="TextBox 10"/>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VẬN DỤNG</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Nhiệm vụ 2 – Thiết kế thông điệp tuyên truyền</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468880"/>
            <a:ext cx="11091672" cy="2377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468880"/>
            <a:ext cx="82296" cy="23774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633472"/>
            <a:ext cx="10671048" cy="365760"/>
          </a:xfrm>
          <a:prstGeom prst="rect">
            <a:avLst/>
          </a:prstGeom>
          <a:noFill/>
        </p:spPr>
        <p:txBody>
          <a:bodyPr wrap="square" anchor="t" lIns="0" rIns="0" tIns="0" bIns="0">
            <a:spAutoFit/>
          </a:bodyPr>
          <a:lstStyle/>
          <a:p>
            <a:pPr algn="l">
              <a:lnSpc>
                <a:spcPct val="100000"/>
              </a:lnSpc>
              <a:spcAft>
                <a:spcPts val="0"/>
              </a:spcAft>
            </a:pPr>
            <a:r>
              <a:rPr sz="1400" b="1" i="0">
                <a:solidFill>
                  <a:srgbClr val="1F3B57"/>
                </a:solidFill>
                <a:latin typeface="Calibri"/>
              </a:rPr>
              <a:t>YÊU CẦU</a:t>
            </a:r>
          </a:p>
        </p:txBody>
      </p:sp>
      <p:sp>
        <p:nvSpPr>
          <p:cNvPr id="8" name="TextBox 7"/>
          <p:cNvSpPr txBox="1"/>
          <p:nvPr/>
        </p:nvSpPr>
        <p:spPr>
          <a:xfrm>
            <a:off x="786384" y="2999232"/>
            <a:ext cx="10671048" cy="1719072"/>
          </a:xfrm>
          <a:prstGeom prst="rect">
            <a:avLst/>
          </a:prstGeom>
          <a:noFill/>
        </p:spPr>
        <p:txBody>
          <a:bodyPr wrap="square" anchor="t" lIns="0" rIns="0" tIns="0" bIns="0">
            <a:spAutoFit/>
          </a:bodyPr>
          <a:lstStyle/>
          <a:p>
            <a:pPr algn="l">
              <a:lnSpc>
                <a:spcPct val="114000"/>
              </a:lnSpc>
              <a:spcAft>
                <a:spcPts val="0"/>
              </a:spcAft>
            </a:pPr>
            <a:r>
              <a:rPr sz="1450" b="0" i="0">
                <a:solidFill>
                  <a:srgbClr val="2A2522"/>
                </a:solidFill>
                <a:latin typeface="Calibri"/>
              </a:rPr>
              <a:t>Thiết kế một khẩu hiệu hoặc tranh cổ động (trên giấy A4) tuyên truyền về ý thức chấp hành pháp luật thuế.</a:t>
            </a:r>
          </a:p>
          <a:p>
            <a:pPr algn="l">
              <a:lnSpc>
                <a:spcPct val="114000"/>
              </a:lnSpc>
              <a:spcAft>
                <a:spcPts val="0"/>
              </a:spcAft>
            </a:pPr>
            <a:r>
              <a:rPr sz="1450" b="0" i="0">
                <a:solidFill>
                  <a:srgbClr val="2A2522"/>
                </a:solidFill>
                <a:latin typeface="Calibri"/>
              </a:rPr>
              <a:t/>
            </a:r>
          </a:p>
          <a:p>
            <a:pPr algn="l">
              <a:lnSpc>
                <a:spcPct val="114000"/>
              </a:lnSpc>
              <a:spcAft>
                <a:spcPts val="0"/>
              </a:spcAft>
            </a:pPr>
            <a:r>
              <a:rPr sz="1450" b="0" i="0">
                <a:solidFill>
                  <a:srgbClr val="2A2522"/>
                </a:solidFill>
                <a:latin typeface="Calibri"/>
              </a:rPr>
              <a:t>Nộp sản phẩm vào tiết học sau để trưng bày ở góc học tập của lớp.</a:t>
            </a:r>
          </a:p>
        </p:txBody>
      </p:sp>
      <p:sp>
        <p:nvSpPr>
          <p:cNvPr id="9" name="Rectangle 8"/>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Vận dụng</a:t>
            </a:r>
          </a:p>
        </p:txBody>
      </p:sp>
      <p:sp>
        <p:nvSpPr>
          <p:cNvPr id="11" name="TextBox 10"/>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GHI NHỚ</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Tổng kết toàn bài – Bài 6: Thuế</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331720"/>
            <a:ext cx="11091672" cy="3200400"/>
          </a:xfrm>
          <a:prstGeom prst="rect">
            <a:avLst/>
          </a:prstGeom>
          <a:noFill/>
        </p:spPr>
        <p:txBody>
          <a:bodyPr wrap="square" lIns="0" rIns="0" tIns="0" bIns="0">
            <a:spAutoFit/>
          </a:bodyPr>
          <a:lstStyle/>
          <a:p>
            <a:pPr>
              <a:lnSpc>
                <a:spcPct val="112000"/>
              </a:lnSpc>
              <a:spcAft>
                <a:spcPts val="1000"/>
              </a:spcAft>
            </a:pPr>
            <a:r>
              <a:rPr sz="1450" b="1">
                <a:solidFill>
                  <a:srgbClr val="1F3B57"/>
                </a:solidFill>
                <a:latin typeface="Calibri"/>
              </a:rPr>
              <a:t>▪  </a:t>
            </a:r>
            <a:r>
              <a:rPr sz="1450" b="1">
                <a:solidFill>
                  <a:srgbClr val="2A2522"/>
                </a:solidFill>
                <a:latin typeface="Calibri"/>
              </a:rPr>
              <a:t>Khái niệm – Đặc điểm: </a:t>
            </a:r>
            <a:r>
              <a:rPr sz="1450">
                <a:solidFill>
                  <a:srgbClr val="2A2522"/>
                </a:solidFill>
                <a:latin typeface="Calibri"/>
              </a:rPr>
              <a:t>Thuế là khoản thu bắt buộc vào NSNN theo luật định; có 4 đặc điểm: bắt buộc, không hoàn trả trực tiếp, tính pháp lí cao, gắn với hoạt động kinh tế.</a:t>
            </a:r>
          </a:p>
          <a:p>
            <a:pPr>
              <a:lnSpc>
                <a:spcPct val="112000"/>
              </a:lnSpc>
              <a:spcAft>
                <a:spcPts val="1000"/>
              </a:spcAft>
            </a:pPr>
            <a:r>
              <a:rPr sz="1450" b="1">
                <a:solidFill>
                  <a:srgbClr val="1F3B57"/>
                </a:solidFill>
                <a:latin typeface="Calibri"/>
              </a:rPr>
              <a:t>▪  </a:t>
            </a:r>
            <a:r>
              <a:rPr sz="1450" b="1">
                <a:solidFill>
                  <a:srgbClr val="2A2522"/>
                </a:solidFill>
                <a:latin typeface="Calibri"/>
              </a:rPr>
              <a:t>Vai trò: </a:t>
            </a:r>
            <a:r>
              <a:rPr sz="1450">
                <a:solidFill>
                  <a:srgbClr val="2A2522"/>
                </a:solidFill>
                <a:latin typeface="Calibri"/>
              </a:rPr>
              <a:t>nguồn thu chủ yếu của NSNN, công cụ điều tiết vĩ mô, bảo đảm công bằng xã hội.</a:t>
            </a:r>
          </a:p>
          <a:p>
            <a:pPr>
              <a:lnSpc>
                <a:spcPct val="112000"/>
              </a:lnSpc>
              <a:spcAft>
                <a:spcPts val="1000"/>
              </a:spcAft>
            </a:pPr>
            <a:r>
              <a:rPr sz="1450" b="1">
                <a:solidFill>
                  <a:srgbClr val="1F3B57"/>
                </a:solidFill>
                <a:latin typeface="Calibri"/>
              </a:rPr>
              <a:t>▪  </a:t>
            </a:r>
            <a:r>
              <a:rPr sz="1450" b="1">
                <a:solidFill>
                  <a:srgbClr val="2A2522"/>
                </a:solidFill>
                <a:latin typeface="Calibri"/>
              </a:rPr>
              <a:t>Các loại thuế: </a:t>
            </a:r>
            <a:r>
              <a:rPr sz="1450">
                <a:solidFill>
                  <a:srgbClr val="2A2522"/>
                </a:solidFill>
                <a:latin typeface="Calibri"/>
              </a:rPr>
              <a:t>thuế trực thu (TNCN, TNDN...) và thuế gián thu (GTGT, TTĐB, XNK...).</a:t>
            </a:r>
          </a:p>
          <a:p>
            <a:pPr>
              <a:lnSpc>
                <a:spcPct val="112000"/>
              </a:lnSpc>
              <a:spcAft>
                <a:spcPts val="1000"/>
              </a:spcAft>
            </a:pPr>
            <a:r>
              <a:rPr sz="1450" b="1">
                <a:solidFill>
                  <a:srgbClr val="1F3B57"/>
                </a:solidFill>
                <a:latin typeface="Calibri"/>
              </a:rPr>
              <a:t>▪  </a:t>
            </a:r>
            <a:r>
              <a:rPr sz="1450" b="1">
                <a:solidFill>
                  <a:srgbClr val="2A2522"/>
                </a:solidFill>
                <a:latin typeface="Calibri"/>
              </a:rPr>
              <a:t>Công dân: </a:t>
            </a:r>
            <a:r>
              <a:rPr sz="1450">
                <a:solidFill>
                  <a:srgbClr val="2A2522"/>
                </a:solidFill>
                <a:latin typeface="Calibri"/>
              </a:rPr>
              <a:t>có quyền và nghĩa vụ trong thực hiện pháp luật thuế; trốn thuế là vi phạm pháp luật.</a:t>
            </a:r>
          </a:p>
        </p:txBody>
      </p:sp>
      <p:sp>
        <p:nvSpPr>
          <p:cNvPr id="6" name="Rounded Rectangle 5"/>
          <p:cNvSpPr/>
          <p:nvPr/>
        </p:nvSpPr>
        <p:spPr>
          <a:xfrm>
            <a:off x="548640" y="5623560"/>
            <a:ext cx="11091672" cy="68580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623560"/>
            <a:ext cx="82296" cy="68580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788152"/>
            <a:ext cx="10671048" cy="365760"/>
          </a:xfrm>
          <a:prstGeom prst="rect">
            <a:avLst/>
          </a:prstGeom>
          <a:noFill/>
        </p:spPr>
        <p:txBody>
          <a:bodyPr wrap="square" anchor="t" lIns="0" rIns="0" tIns="0" bIns="0">
            <a:spAutoFit/>
          </a:bodyPr>
          <a:lstStyle/>
          <a:p>
            <a:pPr algn="l">
              <a:lnSpc>
                <a:spcPct val="100000"/>
              </a:lnSpc>
              <a:spcAft>
                <a:spcPts val="0"/>
              </a:spcAft>
            </a:pPr>
            <a:r>
              <a:rPr sz="100" b="1" i="0">
                <a:solidFill>
                  <a:srgbClr val="1F3B57"/>
                </a:solidFill>
                <a:latin typeface="Calibri"/>
              </a:rPr>
              <a:t/>
            </a:r>
          </a:p>
        </p:txBody>
      </p:sp>
      <p:sp>
        <p:nvSpPr>
          <p:cNvPr id="9" name="TextBox 8"/>
          <p:cNvSpPr txBox="1"/>
          <p:nvPr/>
        </p:nvSpPr>
        <p:spPr>
          <a:xfrm>
            <a:off x="786384" y="6153912"/>
            <a:ext cx="10671048" cy="27432"/>
          </a:xfrm>
          <a:prstGeom prst="rect">
            <a:avLst/>
          </a:prstGeom>
          <a:noFill/>
        </p:spPr>
        <p:txBody>
          <a:bodyPr wrap="square" anchor="t" lIns="0" rIns="0" tIns="0" bIns="0">
            <a:spAutoFit/>
          </a:bodyPr>
          <a:lstStyle/>
          <a:p>
            <a:pPr algn="l">
              <a:lnSpc>
                <a:spcPct val="114000"/>
              </a:lnSpc>
              <a:spcAft>
                <a:spcPts val="0"/>
              </a:spcAft>
            </a:pPr>
            <a:r>
              <a:rPr sz="1400" b="0" i="0">
                <a:solidFill>
                  <a:srgbClr val="2A2522"/>
                </a:solidFill>
                <a:latin typeface="Calibri"/>
              </a:rPr>
              <a:t>Cảm ơn các em đã tích cực tham gia bài học! Hẹn gặp lại ở Bài 7.</a:t>
            </a:r>
          </a:p>
        </p:txBody>
      </p:sp>
      <p:sp>
        <p:nvSpPr>
          <p:cNvPr id="10" name="Rectangle 9"/>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Tổng kết</a:t>
            </a:r>
          </a:p>
        </p:txBody>
      </p:sp>
      <p:sp>
        <p:nvSpPr>
          <p:cNvPr id="12" name="TextBox 11"/>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