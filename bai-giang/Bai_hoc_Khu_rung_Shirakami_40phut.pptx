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HỌC ĐẠO ĐỨC 40 PHÚT — "KHU RỪNG SHIRAKAMI"</a:t>
            </a:r>
          </a:p>
          <a:p>
            <a:r>
              <a:t>(Nguồn: truyện "5. Khu rừng Shirakami", chủ đề Kế thừa truyền thống và văn hóa.)</a:t>
            </a:r>
          </a:p>
          <a:p/>
          <a:p>
            <a:r>
              <a:t>Cách dạy: KHÔNG dạy "đúng – sai", mà tạo cơ hội để học sinh tự suy nghĩ về cách sống (よりよく生きることについて考える). GV nói ít, hỏi nhiều, ghi lại và nhắc lại ý HS.</a:t>
            </a:r>
          </a:p>
          <a:p/>
          <a:p>
            <a:r>
              <a:t>Lưu ý khi mở đầu: KHÔNG giới thiệu kiểu "Hôm nay chúng ta học bài…". Chỉ chiếu ảnh và bắt đầu bằng câu hỏi ở slide 4.</a:t>
            </a:r>
          </a:p>
          <a:p/>
          <a:p>
            <a:r>
              <a:t>Đối tượng đề xuất: lớp 5 (có thể điều chỉnh độ khó của câu hỏi cho lớp 4 hoặc lớp 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của giờ học không phải là HS thuộc câu "Chúng ta cần bảo vệ rừng", mà là HS suy nghĩ nhiều hơn, đặt nhiều câu hỏi hơn, nhìn vấn đề từ nhiều góc độ hơn và có thể thay đổi cách nhìn ban đầu.</a:t>
            </a:r>
          </a:p>
          <a:p/>
          <a:p>
            <a:r>
              <a:t>Chuẩn bị quan trọng nhất: chuỗi câu hỏi (slide 6, 8, 10–12, 15, 16). Có thể dành phần lớn thời gian soạn bài để thiết kế câu hỏi thay vì soạn bài giảng.</a:t>
            </a:r>
          </a:p>
          <a:p/>
          <a:p>
            <a:r>
              <a:t>Cách chia nhóm: 4 HS/nhóm, ngồi sẵn từ đầu giờ để chuyển từ cặp đôi sang nhóm nhanh (không mất quá 20 giây).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BỔ THỜI GIAN (tổng 40 phút):</a:t>
            </a:r>
          </a:p>
          <a:p>
            <a:r>
              <a:t>1. Gợi vấn đề — 3'</a:t>
            </a:r>
          </a:p>
          <a:p>
            <a:r>
              <a:t>2. Chặng 1 (đọc → dừng) — 5'</a:t>
            </a:r>
          </a:p>
          <a:p>
            <a:r>
              <a:t>3. Chặng 2 — 5'</a:t>
            </a:r>
          </a:p>
          <a:p>
            <a:r>
              <a:t>4. Chặng 3, cao trào — 12' (phần dài nhất; GV gần như chỉ điều phối, không giảng)</a:t>
            </a:r>
          </a:p>
          <a:p>
            <a:r>
              <a:t>5. Chặng 4 — 9'</a:t>
            </a:r>
          </a:p>
          <a:p>
            <a:r>
              <a:t>6. Reflection — 6'</a:t>
            </a:r>
          </a:p>
          <a:p/>
          <a:p>
            <a:r>
              <a:t>Nguyên tắc: dừng đúng khoảnh khắc nhân vật (người dân) phải lựa chọn, không dừng theo từng đoạn văn. Tránh 2 cực đoan: đọc hết rồi mới phân tích (mất hồi hộp), hoặc đọc một câu phân tích một câu (mất mạch cảm xúc).</a:t>
            </a:r>
          </a:p>
          <a:p/>
          <a:p>
            <a:r>
              <a:t>Nếu thiếu giờ: rút Chặng 4 xuống 6' (bỏ slide 14 hoặc chỉ nói lướt), tuyệt đối không cắt Chặng 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 đưa HS vào không khí của khu rừng, tạo cảm xúc trước khi có bất kỳ thông tin nào.</a:t>
            </a:r>
          </a:p>
          <a:p/>
          <a:p>
            <a:r>
              <a:t>CÁCH LÀM (3'):</a:t>
            </a:r>
          </a:p>
          <a:p>
            <a:r>
              <a:t>• Chiếu ảnh, im lặng khoảng 10–15 giây cho HS quan sát.</a:t>
            </a:r>
          </a:p>
          <a:p>
            <a:r>
              <a:t>• Hỏi câu 1: 2–3 HS nói nhanh (nhìn thấy cây cao, lá xanh, ánh sáng…; nghe thấy tiếng chim, gió, nước…). GV chỉ nhắc lại ý HS, không đánh giá.</a:t>
            </a:r>
          </a:p>
          <a:p>
            <a:r>
              <a:t>• Hỏi câu 2 để HS đoán tuổi khu rừng (có thể giơ tay theo mức: vài chục năm / vài trăm năm / vài nghìn năm).</a:t>
            </a:r>
          </a:p>
          <a:p>
            <a:r>
              <a:t>• Tiết lộ: 8.000 năm (từ thời kỳ Jomon), rộng 17.000 ha, phần trung tâm hầu như chưa từng bị con người đụng đến — đây là rừng sồi Buna ở vùng núi Shirakami (giữa tỉnh Akita và Aomori, Nhật Bản).</a:t>
            </a:r>
          </a:p>
          <a:p/>
          <a:p>
            <a:r>
              <a:t>KHÔNG nói: "Hôm nay chúng ta học bài Khu rừng Shirakami" hay nêu bài học đạo đức.</a:t>
            </a:r>
          </a:p>
          <a:p>
            <a:r>
              <a:t>Chuyển ý: "Có một câu chuyện về khu rừng này. Cô/thầy sẽ đọc từng đoạn, và chúng ta sẽ dừng lại ở những lúc quan trọng."</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TRUYỆN (đọc chậm, giọng bình tĩnh, KHÔNG nhấn giọng để dẫn HS về phía "giữ rừng"):</a:t>
            </a:r>
          </a:p>
          <a:p/>
          <a:p>
            <a:r>
              <a:t>"Môi trường tự nhiên của Nhật Bản rất đa dạng vì khí hậu ở mỗi vùng không giống nhau… Tại vùng núi Shirakami, nằm giữa tỉnh Akita và tỉnh Aomori, có một khu rừng sồi (gọi là rừng Buna) đã tồn tại từ cách đây 8.000 năm, vào thời kỳ Jomon… Năm 1978, chính quyền địa phương và các công ty xây dựng đã lên kế hoạch mở một con đường xuyên qua dãy núi Shirakami, nối tỉnh Akita và tỉnh Aomori. Con đường này được gọi là "Đường rừng xanh Aosei". Ban đầu, con đường được lên kế hoạch để vận chuyển những cây sồi Buna đã bị chặt, đồng thời giúp việc đi lại và buôn bán hàng hóa thuận tiện hơn. Việc có đường sẽ giúp di chuyển dễ dàng và buôn bán thuận lợi hơn, đem lại thu nhập cao hơn cho người dân."</a:t>
            </a:r>
          </a:p>
          <a:p/>
          <a:p>
            <a:r>
              <a:t>→ DỪNG ở đây (điểm dừng tư duy 1). Chuyển sang slide 6.</a:t>
            </a:r>
          </a:p>
          <a:p/>
          <a:p>
            <a:r>
              <a:t>Chỉ vào bản đồ để HS định vị: vùng Shirakami (tô hồng) nằm giữa Akita và Aomori.</a:t>
            </a:r>
          </a:p>
          <a:p/>
          <a:p>
            <a:r>
              <a:t>LƯU Ý: đây là phần "kế hoạch có lý do chính đáng". Cần để HS hiểu con đường mang lại lợi ích thật cho người dân — nếu không, HS sẽ thấy đây là câu hỏi quá dễ (chỉ cần "bảo vệ rừng") và không có sự giằng co thật.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TỔ CHỨC (5' cho cả chặng 1: đọc 1' + Think Time 1' + chia sẻ 2' + kết nối 1'):</a:t>
            </a:r>
          </a:p>
          <a:p>
            <a:r>
              <a:t>1. Think Time 1 phút: HS viết/vẽ vào thẻ. GV KHÔNG hỏi ngay, KHÔNG đi giảng — để có khoảng lặng.</a:t>
            </a:r>
          </a:p>
          <a:p>
            <a:r>
              <a:t>2. Chia sẻ theo cặp 30 giây, sau đó mời 3–4 HS nói. Mỗi HS nói xong, hỏi: "Tại sao em nghĩ vậy?"</a:t>
            </a:r>
          </a:p>
          <a:p>
            <a:r>
              <a:t>3. GV ghi ý chính lên bảng thành 2 cột không đặt tên (ví dụ: "đi lại dễ", "bán được hàng", "có tiền" / các ý khác).</a:t>
            </a:r>
          </a:p>
          <a:p/>
          <a:p>
            <a:r>
              <a:t>DỰ KIẾN HS TRẢ LỜI: "Để đi lại dễ dàng", "Để bán được nhiều hàng", "Để có nhiều tiền hơn", "Vì họ muốn giúp dân".</a:t>
            </a:r>
          </a:p>
          <a:p>
            <a:r>
              <a:t>PHẢN HỒI KHÔNG ÁP ĐẶT: "Ừ, đi lại thuận tiện và thu nhập cao hơn là điều rất quan trọng với người dân." — công nhận động cơ chính đáng.</a:t>
            </a:r>
          </a:p>
          <a:p>
            <a:r>
              <a:t>Nếu HS vội nói "họ chặt rừng là xấu": "Cô/thầy hiểu em lo cho khu rừng. Em thử nghĩ xem, nếu gia đình em đang khó khăn, con đường mang lại điều gì?"</a:t>
            </a:r>
          </a:p>
          <a:p/>
          <a:p>
            <a:r>
              <a:t>TRÁNH câu hỏi kiểu Ngữ văn: "Con đường tên là gì?", "Kế hoạch năm nào?", "Rừng rộng bao nhiêu hecta?".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TRUYỆN:</a:t>
            </a:r>
          </a:p>
          <a:p>
            <a:r>
              <a:t>"Thậm chí ngay từ khi kế hoạch chặt cây bắt đầu, người dân đã nhận thấy những dấu hiệu bất thường: mực nước trong các con sông giảm, nước tưới tiêu cho nông nghiệp không đủ. Khi có mưa lớn, nước tràn ra gây lũ lụt. Không chỉ vậy, số lượng cá hatahata – một loại cá nhỏ sống ở vùng biển lạnh, là đặc sản ở Hachimori, tỉnh Akita – cũng ít dần đi."</a:t>
            </a:r>
          </a:p>
          <a:p/>
          <a:p>
            <a:r>
              <a:t>→ DỪNG (điểm dừng tư duy 2). Chuyển sang slide 8.</a:t>
            </a:r>
          </a:p>
          <a:p/>
          <a:p>
            <a:r>
              <a:t>Lưu ý: trong truyện, các dấu hiệu này đã xuất hiện "ngay từ khi kế hoạch chặt cây bắt đầu". Chưa ai nói rõ nguyên nhân — HS tự dự đoán ở slide sau. GV KHÔNG giải thích rừng giữ nước ở bước này.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TỔ CHỨC (5'): Think Time 1' → chia sẻ cặp đôi 1' → 3–4 HS nói trước lớp (2') → chuyển ý 1'.</a:t>
            </a:r>
          </a:p>
          <a:p/>
          <a:p>
            <a:r>
              <a:t>DỰ KIẾN HS TRẢ LỜI: "Em sẽ báo cho chính quyền", "Em sẽ phản đối", "Em sẽ chờ xem", "Em sẽ tìm hiểu vì sao sông cạn", "Cây bị chặt nên không còn giữ nước".</a:t>
            </a:r>
          </a:p>
          <a:p>
            <a:r>
              <a:t>Nếu HS đoán ngay "rừng giữ nước": ghi nhận ("Ý em rất thú vị — các bạn khác nghĩ sao?") nhưng chưa xác nhận đúng/sai; để đoạn truyện ở Chặng 3 tự trả lời.</a:t>
            </a:r>
          </a:p>
          <a:p>
            <a:r>
              <a:t>Nếu HS đoán chưa đúng (ví dụ "do trời không mưa"): hỏi "Điều gì khiến em nghĩ vậy?" — không sửa ngay.</a:t>
            </a:r>
          </a:p>
          <a:p/>
          <a:p>
            <a:r>
              <a:t>CÂU HỎI DỰ PHÒNG: "Em sẽ cảm thấy thế nào khi thấy ruộng nhà mình thiếu nước?" (khai thác cảm xúc).</a:t>
            </a:r>
          </a:p>
          <a:p>
            <a:r>
              <a:t>Chuyển ý: "Người dân cũng đang tự hỏi như chúng ta. Hãy nghe những người sống ở đó nói gì."</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TRUYỆN (đọc từ cuối trang 2 của truyện, ngừng đúng ở lời của bác thợ săn):</a:t>
            </a:r>
          </a:p>
          <a:p>
            <a:r>
              <a:t>"Rừng sồi Buna có khả năng giữ nước rất tốt. Lá cây rụng xuống, cùng với các sinh vật nhỏ sống dưới gốc cây, đã làm đất trở nên giàu chất dinh dưỡng, giúp cây cối phát triển. Nước chảy qua vùng đất đó trở thành nguồn nước dùng cho việc trồng trọt. Từ lâu, gạo ở vùng Shirakami đã được gọi là "gạo không cần phân bón"… Một bác nông dân lớn tuổi nói: "…" Từ trên núi, dòng nước giàu dưỡng chất chảy xuống các con sông. Một bác thợ săn matagi… đã nói: "…""</a:t>
            </a:r>
          </a:p>
          <a:p/>
          <a:p>
            <a:r>
              <a:t>→ Sau khi đọc xong 2 lời nói: CHƯA đặt câu hỏi ngay. Cho khoảng lặng 5–10 giây, chuyển sang slide 10 (điểm dừng tư duy 3 — cao trào).</a:t>
            </a:r>
          </a:p>
          <a:p/>
          <a:p>
            <a:r>
              <a:t>GV có thể nhắc: đây là những người hiểu rõ nhất vẻ đẹp và giá trị của vùng đất — chính là người sống ở đó.</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KHOẢNH KHẮC QUYẾT ĐỊNH CỦA GIỜ HỌC (cao trào: 12 phút cho toàn bộ Chặng 3, gồm slide 10, 11, 12).</a:t>
            </a:r>
          </a:p>
          <a:p/>
          <a:p>
            <a:r>
              <a:t>Giá trị đạo đức thật sự của bài KHÔNG nằm ở câu "Rừng có nên được bảo vệ không?" (HS nào cũng trả lời được ngay), mà ở sự giằng co: lợi ích trước mắt (đường, thu nhập) ↔ lợi ích lâu dài (nước, sông, rừng, con cháu).</a:t>
            </a:r>
          </a:p>
          <a:p/>
          <a:p>
            <a:r>
              <a:t>CÁCH LÀM (khoảng 4'):</a:t>
            </a:r>
          </a:p>
          <a:p>
            <a:r>
              <a:t>1. Đọc câu hỏi, cho Think Time 2 phút (viết ra 1–2 suy nghĩ).</a:t>
            </a:r>
          </a:p>
          <a:p>
            <a:r>
              <a:t>2. Cặp đôi chia sẻ 1', sau đó mời 3–4 HS.</a:t>
            </a:r>
          </a:p>
          <a:p>
            <a:r>
              <a:t>3. Sau mỗi ý kiến, hỏi: "Tại sao em nghĩ người dân lại nghĩ như vậy?" / "Em thấy điều đó giống hay khác với bạn vừa nói?"</a:t>
            </a:r>
          </a:p>
          <a:p>
            <a:r>
              <a:t>4. Ghi các ý kiến lên bảng vào 2 nhóm; nếu có HS nói người dân "phân vân, lo lắng, khó chọn" — hãy nhắc lại to: "Có bạn thấy người dân đang phân vân — em nói thêm được không?"</a:t>
            </a:r>
          </a:p>
          <a:p/>
          <a:p>
            <a:r>
              <a:t>DỰ KIẾN: "Họ vừa muốn có tiền vừa lo mất rừng", "Họ sợ con cháu sau này khổ", "Họ tức giận vì chính quyền không nghe", "Họ buồn vì phải chọn".</a:t>
            </a:r>
          </a:p>
          <a:p>
            <a:r>
              <a:t>KHÔNG áp đặt kết luận "phải giữ rừng". GV nói ít, chỉ hỏi, ghi và nối các ý kiến.</a:t>
            </a:r>
          </a:p>
          <a:p/>
          <a:p>
            <a:r>
              <a:t>CÂU HỎI DỰ PHÒNG: "Nếu là người nông dân, em sợ nhất điều gì? Nếu là người dân đang thiếu tiền, em mong điều gì?"</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 giúp HS thấy vì sao bác nông dân nói "Rừng Buna chính là sự sống của chúng tôi". Đây là phần đào sâu sau khi HS đã nói cảm xúc của người dân ở slide 10 (khoảng 4').</a:t>
            </a:r>
          </a:p>
          <a:p/>
          <a:p>
            <a:r>
              <a:t>CÁCH LÀM:</a:t>
            </a:r>
          </a:p>
          <a:p>
            <a:r>
              <a:t>• Cho HS nhìn sơ đồ, KHÔNG giảng. Hỏi: "Ai đọc được sơ đồ này? Rừng nối với điều gì?" 1–2 HS kể theo mũi tên.</a:t>
            </a:r>
          </a:p>
          <a:p>
            <a:r>
              <a:t>• Câu 1: cho nhóm 4 người thảo luận 1–2 phút, có thể dùng bút màu "xóa" (gạch) các mắt xích bị ảnh hưởng trên sơ đồ in sẵn/bảng nhóm.</a:t>
            </a:r>
          </a:p>
          <a:p>
            <a:r>
              <a:t>• Câu 2: liên hệ với câu nói cuối truyện của chặng: "Nước sông lại chảy ra biển. Chính rừng Buna cũng góp phần nuôi dưỡng loài cá hatahata sống ở biển. Những ngư dân hiểu ra rằng câu nói xưa: "Muốn giữ được cá thì phải giữ được rừng" là hoàn toàn đúng. Nếu rừng chết, biển cũng sẽ chết theo."</a:t>
            </a:r>
          </a:p>
          <a:p/>
          <a:p>
            <a:r>
              <a:t>GHI NHỚ: đây là phần kiến thức HS tự nhìn ra, không phải đáp án GV "chốt". Nếu HS đã tự nói được mối liên hệ, GV chỉ cần: "Bạn nào có cách nói khác?"</a:t>
            </a:r>
          </a:p>
          <a:p/>
          <a:p>
            <a:r>
              <a:t>Nội dung theo truyện: lá cây rụng cùng sinh vật nhỏ dưới gốc cây làm đất giàu dinh dưỡng; nước chảy qua đất đó thành nguồn nước trồng trọt; từ trên núi, nước giàu dưỡng chất chảy xuống sông; nước sông chảy ra biển nuôi cá hatahata.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 đưa vào góc nhìn khác để HS cân nhắc lại (câu hỏi phản biện). Cả hai người dân đều có lý — không ai là "người xấu".</a:t>
            </a:r>
          </a:p>
          <a:p/>
          <a:p>
            <a:r>
              <a:t>CÁCH LÀM (khoảng 4–5'):</a:t>
            </a:r>
          </a:p>
          <a:p>
            <a:r>
              <a:t>1. Đọc hai lời nói. Hỏi: "Em đồng ý với người dân nào hơn?" — HS có thể đứng/giơ thẻ về 2 phía hoặc "ở giữa".</a:t>
            </a:r>
          </a:p>
          <a:p>
            <a:r>
              <a:t>2. Nhóm 4 người thảo luận 2' — mỗi bạn nói ý của mình, cả nhóm thử tìm cách để "đủ đầy mà rừng vẫn còn".</a:t>
            </a:r>
          </a:p>
          <a:p>
            <a:r>
              <a:t>3. Chia sẻ trước lớp (2'). GV liên tục hỏi: "Tại sao?", "Nếu như vậy thì điều gì có thể xảy ra?", "Bạn nào nghĩ khác?".</a:t>
            </a:r>
          </a:p>
          <a:p>
            <a:r>
              <a:t>4. Mời HS đổi ý (nếu có): "Có bạn nào lúc đầu nghĩ khác, bây giờ thay đổi ý kiến không? Điều gì khiến bạn thay đổi?" — đây là bằng chứng của tư duy.</a:t>
            </a:r>
          </a:p>
          <a:p/>
          <a:p>
            <a:r>
              <a:t>DỰ KIẾN HS ĐỀ XUẤT: "Làm đường khác, vòng ra ngoài rừng", "Bán gạo sạch, bán đặc sản, du lịch sinh thái", "Trồng lại cây", "Chỉ chặt một ít".</a:t>
            </a:r>
          </a:p>
          <a:p>
            <a:r>
              <a:t>GV KHÔNG chọn đáp án đúng. Không nói "Các em thấy chưa, phải giữ rừng." Chỉ hỏi tiếp: "Nếu cách đó… thì người dân/khu rừng sẽ ra sao?"</a:t>
            </a:r>
          </a:p>
          <a:p/>
          <a:p>
            <a:r>
              <a:t>Chuyển ý sang Chặng 4: "Người dân Shirakami đã chọn thế nào? Chúng ta cùng nghe phần còn lại của câu chuyện."</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TRUYỆN (đọc hết, giọng nhẹ nhàng):</a:t>
            </a:r>
          </a:p>
          <a:p>
            <a:r>
              <a:t>"Nước sông lại chảy ra biển. Chính rừng Buna cũng góp phần nuôi dưỡng loài cá hatahata sống ở biển… Nhờ cuộc vận động phản đối kéo dài gần 10 năm do người dân địa phương đứng đầu, kế hoạch làm con đường rừng xanh Aosei đã bị hủy bỏ. Con đường bị dừng lại ở đoạn dài khoảng 5 km từ thị trấn Hachimori (tỉnh Akita) đến gần ranh giới tỉnh. Những người dân ở đây – những người đã hiểu rõ vai trò của "nước" đối với cuộc sống – đã cùng nhau đứng lên bảo vệ rừng. Tiếng nói "Hãy bảo vệ rừng Buna" từ những người làm nông, làm rừng và đánh bắt cá ở địa phương đã lan rộng ra khắp cả nước. Người dân mong muốn giữ nguyên vẹn rừng Buna để truyền lại cho con cháu mai sau. Vì vậy, họ đã hy vọng khu rừng này sẽ được công nhận là di sản thế giới – một tài sản quý giá của đất nước. Và rồi, vào năm 1993, rừng Buna ở Shirakami đã trở thành di sản thế giới, được gọi là "Shirakami của thế giới"."</a:t>
            </a:r>
          </a:p>
          <a:p/>
          <a:p>
            <a:r>
              <a:t>CÂU HỎI (điểm dừng tư duy 4, 2'): "Điều gì bất ngờ nhất ở kết thúc?" — HS có thể bất ngờ vì: con đường bị hủy, người dân chiến thắng, mất gần 10 năm, chính người dân chứ không phải nhà nước đứng lên.</a:t>
            </a:r>
          </a:p>
          <a:p>
            <a:r>
              <a:t>Hỏi thêm: "Vì sao người dân bỏ ra gần 10 năm để giữ khu rừng?" (mang tính đào sâu).</a:t>
            </a:r>
          </a:p>
          <a:p>
            <a:r>
              <a:t>Chú giải "di sản thế giới": cho HS đọc chú thích ở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TRUYỆN (phần cuối; có thể cho HS đọc nối tiếp hoặc GV tóm lược từng ý nếu thiếu giờ):</a:t>
            </a:r>
          </a:p>
          <a:p>
            <a:r>
              <a:t>"Trong rừng Buna có rất nhiều loài động vật quý hiếm sinh sống như: dê rừng Nhật Bản (được công nhận là di tích tự nhiên đặc biệt), đại bàng vàng và chim gõ kiến đen (đều là các loài được bảo vệ). Vì hầu như không bị con người tác động nên khu rừng được gọi là "kho báu của các loài động thực vật". Sau khi được công nhận là di sản thế giới, có rất nhiều người đến Shirakami leo núi và tham quan. Nhưng cũng vì thế mà có những vấn đề xảy ra: người ta vứt rác bừa bãi, để lại dấu vết cắm trại trong rừng, câu cá ở những nơi bị cấm và làm hư hại cây cối. Một số cây ở vùng núi cao bị dẫm gãy hoặc bị nhổ cả gốc mang về. Người dân vùng Shirakami luôn suy nghĩ cách làm sao để rừng Buna được hồi phục và sống lại như ban đầu. Khi đi hái rau rừng, họ không bao giờ hái hết để cây có thể tiếp tục mọc. Ví dụ như cây dương xỉ (zenmai), khi mọc lên sẽ có 5 chồi. Họ chỉ hái 2 chồi, còn lại 3 chồi để cây tiếp tục phát triển. Sau khi hái xong, họ sẽ không quay lại hái ở chỗ đó trong vòng 2 năm. Nấm maitake – một loại nấm rừng quý, mọc vào mùa thu – cũng thường mọc lại đúng chỗ cũ. Nhưng nếu đã hái một lần, năm sau họ sẽ không hái ở chỗ đó nữa. Ngoài ra, họ cũng biết cách chọn cây nào được phép đốn để làm củi đốt. Để bảo vệ rừng Buna, người ta còn phân chia rõ ràng khu vực nào được vào và khu vực nào không được vào. Họ chọn một phần rừng Buna làm nơi học tập và quan sát thiên nhiên. Họ xây trung tâm để mọi người cùng tìm hiểu về môi trường tự nhiên. Không chỉ người lớn, mà cả trẻ em cũng cùng tham gia nhặt rác, trồng thêm cây Buna."</a:t>
            </a:r>
          </a:p>
          <a:p/>
          <a:p>
            <a:r>
              <a:t>Ghi chú từ ngữ: "di tích tự nhiên" là những loài động vật, thực vật… được quy định bằng luật pháp là có giá trị bảo tồn cao; "di tích tự nhiên đặc biệt" là những loài được công nhận có giá trị đặc biệt cao.</a:t>
            </a:r>
          </a:p>
          <a:p/>
          <a:p>
            <a:r>
              <a:t>Sau đó chuyển sang slide 15.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TỔ CHỨC (9' cho Chặng 4 gồm slide 13, 14, 15): slide 13 ≈ 3', slide 14 ≈ 3', slide 15 ≈ 3'.</a:t>
            </a:r>
          </a:p>
          <a:p/>
          <a:p>
            <a:r>
              <a:t>Có thể cho HS chọn 1 trong 3 câu hỏi để viết vào thẻ (không bắt buộc trả lời cả 3), sau đó thảo luận nhóm 4 và mời 3–4 HS chia sẻ.</a:t>
            </a:r>
          </a:p>
          <a:p/>
          <a:p>
            <a:r>
              <a:t>DỰ KIẾN HS TRẢ LỜI:</a:t>
            </a:r>
          </a:p>
          <a:p>
            <a:r>
              <a:t>• Câu 1: "Đường bị hủy bỏ", "Người dân thắng sau 10 năm", "Rừng thành di sản thế giới".</a:t>
            </a:r>
          </a:p>
          <a:p>
            <a:r>
              <a:t>• Câu 2: "Để năm sau còn hái tiếp", "Để cây còn sống", "Để con cháu còn có", "Họ yêu rừng". Nếu HS nói "hái hết cho nhiều tiền": hỏi tiếp "Năm sau khi cây không còn chồi, điều gì sẽ xảy ra?"</a:t>
            </a:r>
          </a:p>
          <a:p>
            <a:r>
              <a:t>• Câu 3: "Đặt biển báo", "Cho phép vào một số khu vực", "Thu phí tham quan", "Dạy du khách giữ rừng".</a:t>
            </a:r>
          </a:p>
          <a:p/>
          <a:p>
            <a:r>
              <a:t>Gợi ý cho GV: câu 2 chính là điểm chạm vào giá trị "không chạy theo lợi ích trước mắt, mà biết nghĩ về cách bảo vệ vẻ đẹp của quê hương mình" — HS tự nói ra, GV không nói thay.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REFLECTION (6'): KHÔNG hỏi "Hôm nay em học được gì?" và KHÔNG chốt một bài học chung cho cả lớp.</a:t>
            </a:r>
          </a:p>
          <a:p/>
          <a:p>
            <a:r>
              <a:t>CÁCH LÀM:</a:t>
            </a:r>
          </a:p>
          <a:p>
            <a:r>
              <a:t>1. (3') HS viết phiếu: (1) Trước giờ học em nghĩ… (2) Bây giờ em nghĩ… (3) Một việc em có thể làm để giữ gìn vẻ đẹp nơi em sống. Cho khoảng lặng, không hối thúc.</a:t>
            </a:r>
          </a:p>
          <a:p>
            <a:r>
              <a:t>2. (2') Mời 3–4 HS chia sẻ tự nguyện. GV chỉ nhắc lại: "Em nói là… Cô/thầy hiểu đúng chưa?" Không nhận xét đúng/sai.</a:t>
            </a:r>
          </a:p>
          <a:p>
            <a:r>
              <a:t>3. (1') Kết bằng câu hỏi mở: "Ở quê hương mình, ở nơi em sống, có 'khu rừng Shirakami' nào — một nơi, một điều gì đó quý mà cần được giữ gìn?" (có thể là dòng sông, cây xanh ở sân trường, bãi biển, khu phố…).</a:t>
            </a:r>
          </a:p>
          <a:p/>
          <a:p>
            <a:r>
              <a:t>NẾU PHÙ HỢP, GV có thể nhẹ nhàng gợi mở (không ép): người dân Shirakami "không chạy theo lợi ích trước mắt, mà biết nghĩ về cách bảo vệ vẻ đẹp của quê hương mình. Việc làm ấy, chắc chắn cũng sẽ góp phần làm cho Trái Đất này tốt đẹp hơn."</a:t>
            </a:r>
          </a:p>
          <a:p/>
          <a:p>
            <a:r>
              <a:t>Thu phiếu để quan sát sự thay đổi trong suy nghĩ của HS (dùng cho đánh giá ở slide 18).</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SỬ DỤNG: slide này dành cho GV, không chiếu cho HS.</a:t>
            </a:r>
          </a:p>
          <a:p/>
          <a:p>
            <a:r>
              <a:t>Nguyên tắc phản hồi:</a:t>
            </a:r>
          </a:p>
          <a:p>
            <a:r>
              <a:t>• Nói ít hơn HS: chỉ hỏi, ghi lại, nhắc lại ý HS, kết nối các ý kiến.</a:t>
            </a:r>
          </a:p>
          <a:p>
            <a:r>
              <a:t>• Không có một đáp án duy nhất; không chọn ai đúng, ai sai.</a:t>
            </a:r>
          </a:p>
          <a:p>
            <a:r>
              <a:t>• Câu hỏi thường dùng: "Tại sao em nghĩ vậy?", "Nếu như vậy thì điều gì có thể xảy ra?", "Bạn nào nghĩ khác?", "Có bạn nào thay đổi suy nghĩ không?"</a:t>
            </a:r>
          </a:p>
          <a:p>
            <a:r>
              <a:t>• Khi HS trả lời rất ngắn ("Vì cần bảo vệ môi trường"), hỏi thêm: "Bảo vệ điều đó giúp ích cho ai? Cho người dân Shirakami như thế nào?"</a:t>
            </a:r>
          </a:p>
          <a:p>
            <a:r>
              <a:t>• Khi HS im lặng: giảm áp lực, cho cặp đôi nói trước rồi mới mời phát biểu.</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ĐÁNH GIÁ QUÁ TRÌNH — dựa trên tư duy của HS, không dựa trên đúng/sai:</a:t>
            </a:r>
          </a:p>
          <a:p>
            <a:r>
              <a:t>1. HS có đang suy nghĩ không? (Think Time, phiếu Reflection)</a:t>
            </a:r>
          </a:p>
          <a:p>
            <a:r>
              <a:t>2. HS có thay đổi suy nghĩ không? (so sánh "Trước…" và "Bây giờ…")</a:t>
            </a:r>
          </a:p>
          <a:p>
            <a:r>
              <a:t>3. HS có lắng nghe và cân nhắc ý kiến khác không? (quan sát ở phần cặp đôi/nhóm 4/cả lớp)</a:t>
            </a:r>
          </a:p>
          <a:p/>
          <a:p>
            <a:r>
              <a:t>Gợi ý mức độ (dùng để ghi chép, không xếp loại cứng):</a:t>
            </a:r>
          </a:p>
          <a:p>
            <a:r>
              <a:t>• Đang hình thành: nói ý của mình nhưng chưa giải thích.</a:t>
            </a:r>
          </a:p>
          <a:p>
            <a:r>
              <a:t>• Đạt: giải thích được lý do và nêu được ít nhất một góc nhìn khác.</a:t>
            </a:r>
          </a:p>
          <a:p>
            <a:r>
              <a:t>• Tốt: nêu được cả lợi ích và mất mát của hai phía, đề xuất được cách dung hòa hoặc nói được điều làm mình đổi ý.</a:t>
            </a:r>
          </a:p>
          <a:p/>
          <a:p>
            <a:r>
              <a:t>Sau giờ học, GV tự hỏi: "Học sinh có suy nghĩ nhiều hơn, đặt nhiều câu hỏi hơn, nhìn vấn đề từ nhiều góc độ hơn không?" thay vì "Mình có giảng hay không?".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538235"/>
        </a:solidFill>
        <a:effectLst/>
      </p:bgPr>
    </p:bg>
    <p:spTree>
      <p:nvGrpSpPr>
        <p:cNvPr id="1" name=""/>
        <p:cNvGrpSpPr/>
        <p:nvPr/>
      </p:nvGrpSpPr>
      <p:grpSpPr/>
      <p:sp>
        <p:nvSpPr>
          <p:cNvPr id="2" name="Oval 1"/>
          <p:cNvSpPr/>
          <p:nvPr/>
        </p:nvSpPr>
        <p:spPr>
          <a:xfrm>
            <a:off x="9692640" y="-1371600"/>
            <a:ext cx="3840480" cy="3840480"/>
          </a:xfrm>
          <a:prstGeom prst="ellipse">
            <a:avLst/>
          </a:prstGeom>
          <a:solidFill>
            <a:srgbClr val="3857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41280" y="-822960"/>
            <a:ext cx="2194560" cy="2194560"/>
          </a:xfrm>
          <a:prstGeom prst="ellipse">
            <a:avLst/>
          </a:prstGeom>
          <a:solidFill>
            <a:srgbClr val="6A93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60120"/>
            <a:ext cx="6766560" cy="320040"/>
          </a:xfrm>
          <a:prstGeom prst="rect">
            <a:avLst/>
          </a:prstGeom>
          <a:noFill/>
        </p:spPr>
        <p:txBody>
          <a:bodyPr wrap="square" lIns="0" rIns="0" tIns="0" bIns="0" anchor="t">
            <a:spAutoFit/>
          </a:bodyPr>
          <a:lstStyle/>
          <a:p>
            <a:pPr algn="l">
              <a:lnSpc>
                <a:spcPct val="108000"/>
              </a:lnSpc>
              <a:spcAft>
                <a:spcPts val="0"/>
              </a:spcAft>
            </a:pPr>
            <a:r>
              <a:rPr sz="1500" b="1" i="0" spc="300">
                <a:solidFill>
                  <a:srgbClr val="E8A03A"/>
                </a:solidFill>
                <a:latin typeface="Cambria"/>
              </a:rPr>
              <a:t>BÀI HỌC ĐẠO ĐỨC  ·  40 PHÚT</a:t>
            </a:r>
          </a:p>
        </p:txBody>
      </p:sp>
      <p:sp>
        <p:nvSpPr>
          <p:cNvPr id="5" name="TextBox 4"/>
          <p:cNvSpPr txBox="1"/>
          <p:nvPr/>
        </p:nvSpPr>
        <p:spPr>
          <a:xfrm>
            <a:off x="640080" y="1463040"/>
            <a:ext cx="6949440" cy="914400"/>
          </a:xfrm>
          <a:prstGeom prst="rect">
            <a:avLst/>
          </a:prstGeom>
          <a:noFill/>
        </p:spPr>
        <p:txBody>
          <a:bodyPr wrap="square" lIns="0" rIns="0" tIns="0" bIns="0" anchor="t">
            <a:spAutoFit/>
          </a:bodyPr>
          <a:lstStyle/>
          <a:p>
            <a:pPr algn="l">
              <a:lnSpc>
                <a:spcPct val="108000"/>
              </a:lnSpc>
              <a:spcAft>
                <a:spcPts val="0"/>
              </a:spcAft>
            </a:pPr>
            <a:r>
              <a:rPr sz="5000" b="1" i="0">
                <a:solidFill>
                  <a:srgbClr val="FFFFFF"/>
                </a:solidFill>
                <a:latin typeface="Cambria"/>
              </a:rPr>
              <a:t>Khu rừng Shirakami</a:t>
            </a:r>
          </a:p>
        </p:txBody>
      </p:sp>
      <p:sp>
        <p:nvSpPr>
          <p:cNvPr id="6" name="TextBox 5"/>
          <p:cNvSpPr txBox="1"/>
          <p:nvPr/>
        </p:nvSpPr>
        <p:spPr>
          <a:xfrm>
            <a:off x="640080" y="2514600"/>
            <a:ext cx="6766560" cy="1097280"/>
          </a:xfrm>
          <a:prstGeom prst="rect">
            <a:avLst/>
          </a:prstGeom>
          <a:noFill/>
        </p:spPr>
        <p:txBody>
          <a:bodyPr wrap="square" lIns="0" rIns="0" tIns="0" bIns="0" anchor="t">
            <a:spAutoFit/>
          </a:bodyPr>
          <a:lstStyle/>
          <a:p>
            <a:pPr algn="l">
              <a:lnSpc>
                <a:spcPct val="108000"/>
              </a:lnSpc>
              <a:spcAft>
                <a:spcPts val="0"/>
              </a:spcAft>
            </a:pPr>
            <a:r>
              <a:rPr sz="3000" b="0" i="1">
                <a:solidFill>
                  <a:srgbClr val="F4B6C2"/>
                </a:solidFill>
                <a:latin typeface="Cambria"/>
              </a:rPr>
              <a:t>Giữ rừng </a:t>
            </a:r>
            <a:r>
              <a:rPr sz="3000" b="0" i="1">
                <a:solidFill>
                  <a:srgbClr val="FFFFFF"/>
                </a:solidFill>
                <a:latin typeface="Cambria"/>
              </a:rPr>
              <a:t>hay </a:t>
            </a:r>
            <a:r>
              <a:rPr sz="3000" b="0" i="1">
                <a:solidFill>
                  <a:srgbClr val="9DC3E0"/>
                </a:solidFill>
                <a:latin typeface="Cambria"/>
              </a:rPr>
              <a:t>mở đường?</a:t>
            </a:r>
          </a:p>
        </p:txBody>
      </p:sp>
      <p:sp>
        <p:nvSpPr>
          <p:cNvPr id="7" name="TextBox 6"/>
          <p:cNvSpPr txBox="1"/>
          <p:nvPr/>
        </p:nvSpPr>
        <p:spPr>
          <a:xfrm>
            <a:off x="640080" y="3337560"/>
            <a:ext cx="6583680" cy="822960"/>
          </a:xfrm>
          <a:prstGeom prst="rect">
            <a:avLst/>
          </a:prstGeom>
          <a:noFill/>
        </p:spPr>
        <p:txBody>
          <a:bodyPr wrap="square" lIns="0" rIns="0" tIns="0" bIns="0" anchor="t">
            <a:spAutoFit/>
          </a:bodyPr>
          <a:lstStyle/>
          <a:p>
            <a:pPr algn="l">
              <a:lnSpc>
                <a:spcPct val="115000"/>
              </a:lnSpc>
              <a:spcAft>
                <a:spcPts val="0"/>
              </a:spcAft>
            </a:pPr>
            <a:r>
              <a:rPr sz="1900" b="0" i="0">
                <a:solidFill>
                  <a:srgbClr val="E4EEDA"/>
                </a:solidFill>
                <a:latin typeface="Cambria"/>
              </a:rPr>
              <a:t>Suy nghĩ về cách bảo vệ vẻ đẹp của quê hương mình</a:t>
            </a:r>
          </a:p>
        </p:txBody>
      </p:sp>
      <p:sp>
        <p:nvSpPr>
          <p:cNvPr id="8" name="Rectangle 7"/>
          <p:cNvSpPr/>
          <p:nvPr/>
        </p:nvSpPr>
        <p:spPr>
          <a:xfrm>
            <a:off x="640080" y="4434840"/>
            <a:ext cx="640080" cy="45720"/>
          </a:xfrm>
          <a:prstGeom prst="rect">
            <a:avLst/>
          </a:prstGeom>
          <a:solidFill>
            <a:srgbClr val="E8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617720"/>
            <a:ext cx="6675120" cy="1097280"/>
          </a:xfrm>
          <a:prstGeom prst="rect">
            <a:avLst/>
          </a:prstGeom>
          <a:noFill/>
        </p:spPr>
        <p:txBody>
          <a:bodyPr wrap="square" lIns="0" rIns="0" tIns="0" bIns="0" anchor="t">
            <a:spAutoFit/>
          </a:bodyPr>
          <a:lstStyle/>
          <a:p>
            <a:pPr algn="l">
              <a:lnSpc>
                <a:spcPct val="120000"/>
              </a:lnSpc>
              <a:spcAft>
                <a:spcPts val="400"/>
              </a:spcAft>
            </a:pPr>
            <a:r>
              <a:rPr sz="1400" b="0" i="0">
                <a:solidFill>
                  <a:srgbClr val="C6D9B6"/>
                </a:solidFill>
                <a:latin typeface="Cambria"/>
              </a:rPr>
              <a:t>Chủ đề: Kế thừa truyền thống và văn hóa  ·  Học sinh lớp 5</a:t>
            </a:r>
          </a:p>
          <a:p>
            <a:pPr algn="l">
              <a:lnSpc>
                <a:spcPct val="120000"/>
              </a:lnSpc>
              <a:spcAft>
                <a:spcPts val="400"/>
              </a:spcAft>
            </a:pPr>
            <a:r>
              <a:rPr sz="1400" b="0" i="0">
                <a:solidFill>
                  <a:srgbClr val="C6D9B6"/>
                </a:solidFill>
                <a:latin typeface="Cambria"/>
              </a:rPr>
              <a:t>Thiết kế theo hướng dạy Đạo đức mở: điểm dừng tư duy – Think Time – Reflection</a:t>
            </a:r>
          </a:p>
        </p:txBody>
      </p:sp>
      <p:pic>
        <p:nvPicPr>
          <p:cNvPr id="10" name="Picture 9" descr="forest.jpg"/>
          <p:cNvPicPr>
            <a:picLocks noChangeAspect="1"/>
          </p:cNvPicPr>
          <p:nvPr/>
        </p:nvPicPr>
        <p:blipFill>
          <a:blip r:embed="rId2"/>
          <a:srcRect l="9821" r="9821"/>
          <a:stretch>
            <a:fillRect/>
          </a:stretch>
        </p:blipFill>
        <p:spPr>
          <a:xfrm>
            <a:off x="7772400" y="2286000"/>
            <a:ext cx="3931920" cy="3566160"/>
          </a:xfrm>
          <a:prstGeom prst="roundRect">
            <a:avLst>
              <a:gd name="adj" fmla="val 5000"/>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74320"/>
          </a:xfrm>
          <a:prstGeom prst="rect">
            <a:avLst/>
          </a:prstGeom>
          <a:noFill/>
        </p:spPr>
        <p:txBody>
          <a:bodyPr wrap="square" lIns="0" rIns="0" tIns="0" bIns="0" anchor="t">
            <a:spAutoFit/>
          </a:bodyPr>
          <a:lstStyle/>
          <a:p>
            <a:pPr algn="l">
              <a:lnSpc>
                <a:spcPct val="108000"/>
              </a:lnSpc>
              <a:spcAft>
                <a:spcPts val="0"/>
              </a:spcAft>
            </a:pPr>
            <a:r>
              <a:rPr sz="1300" b="1" i="0" spc="200">
                <a:solidFill>
                  <a:srgbClr val="2C5A73"/>
                </a:solidFill>
                <a:latin typeface="Cambria"/>
              </a:rPr>
              <a:t>MỞ ĐẦU  ·  MỤC TIÊU &amp; CHUẨN BỊ</a:t>
            </a:r>
          </a:p>
        </p:txBody>
      </p:sp>
      <p:sp>
        <p:nvSpPr>
          <p:cNvPr id="3" name="TextBox 2"/>
          <p:cNvSpPr txBox="1"/>
          <p:nvPr/>
        </p:nvSpPr>
        <p:spPr>
          <a:xfrm>
            <a:off x="548640" y="713232"/>
            <a:ext cx="11064240" cy="640080"/>
          </a:xfrm>
          <a:prstGeom prst="rect">
            <a:avLst/>
          </a:prstGeom>
          <a:noFill/>
        </p:spPr>
        <p:txBody>
          <a:bodyPr wrap="square" lIns="0" rIns="0" tIns="0" bIns="0" anchor="t">
            <a:spAutoFit/>
          </a:bodyPr>
          <a:lstStyle/>
          <a:p>
            <a:pPr algn="l">
              <a:lnSpc>
                <a:spcPct val="108000"/>
              </a:lnSpc>
              <a:spcAft>
                <a:spcPts val="0"/>
              </a:spcAft>
            </a:pPr>
            <a:r>
              <a:rPr sz="3200" b="1" i="0">
                <a:solidFill>
                  <a:srgbClr val="2B211A"/>
                </a:solidFill>
                <a:latin typeface="Cambria"/>
              </a:rPr>
              <a:t>Sau giờ học, học sinh có thể…</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8000"/>
              </a:lnSpc>
              <a:spcAft>
                <a:spcPts val="0"/>
              </a:spcAft>
            </a:pPr>
            <a:r>
              <a:rPr sz="1000" b="0" i="0">
                <a:solidFill>
                  <a:srgbClr val="6B645C"/>
                </a:solidFill>
                <a:latin typeface="Cambria"/>
              </a:rPr>
              <a:t>Đạo đức lớp 5  |  Khu rừng Shirakami  |  40 phút</a:t>
            </a:r>
          </a:p>
        </p:txBody>
      </p:sp>
      <p:sp>
        <p:nvSpPr>
          <p:cNvPr id="5" name="TextBox 4"/>
          <p:cNvSpPr txBox="1"/>
          <p:nvPr/>
        </p:nvSpPr>
        <p:spPr>
          <a:xfrm>
            <a:off x="10698480" y="6473952"/>
            <a:ext cx="941832" cy="228600"/>
          </a:xfrm>
          <a:prstGeom prst="rect">
            <a:avLst/>
          </a:prstGeom>
          <a:noFill/>
        </p:spPr>
        <p:txBody>
          <a:bodyPr wrap="square" lIns="0" rIns="0" tIns="0" bIns="0" anchor="t">
            <a:spAutoFit/>
          </a:bodyPr>
          <a:lstStyle/>
          <a:p>
            <a:pPr algn="r">
              <a:lnSpc>
                <a:spcPct val="108000"/>
              </a:lnSpc>
              <a:spcAft>
                <a:spcPts val="0"/>
              </a:spcAft>
            </a:pPr>
            <a:r>
              <a:rPr sz="1000" b="0" i="0">
                <a:solidFill>
                  <a:srgbClr val="6B645C"/>
                </a:solidFill>
                <a:latin typeface="Cambria"/>
              </a:rPr>
              <a:t>2</a:t>
            </a:r>
          </a:p>
        </p:txBody>
      </p:sp>
      <p:sp>
        <p:nvSpPr>
          <p:cNvPr id="6" name="Rounded Rectangle 5"/>
          <p:cNvSpPr/>
          <p:nvPr/>
        </p:nvSpPr>
        <p:spPr>
          <a:xfrm>
            <a:off x="548640" y="1645920"/>
            <a:ext cx="6949440" cy="1234440"/>
          </a:xfrm>
          <a:prstGeom prst="roundRect">
            <a:avLst>
              <a:gd name="adj" fmla="val 6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947672"/>
            <a:ext cx="621792" cy="621792"/>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1</a:t>
            </a:r>
          </a:p>
        </p:txBody>
      </p:sp>
      <p:sp>
        <p:nvSpPr>
          <p:cNvPr id="8" name="TextBox 7"/>
          <p:cNvSpPr txBox="1"/>
          <p:nvPr/>
        </p:nvSpPr>
        <p:spPr>
          <a:xfrm>
            <a:off x="1645920" y="1783080"/>
            <a:ext cx="5669280" cy="274320"/>
          </a:xfrm>
          <a:prstGeom prst="rect">
            <a:avLst/>
          </a:prstGeom>
          <a:noFill/>
        </p:spPr>
        <p:txBody>
          <a:bodyPr wrap="square" lIns="0" rIns="0" tIns="0" bIns="0" anchor="t">
            <a:spAutoFit/>
          </a:bodyPr>
          <a:lstStyle/>
          <a:p>
            <a:pPr algn="l">
              <a:lnSpc>
                <a:spcPct val="108000"/>
              </a:lnSpc>
              <a:spcAft>
                <a:spcPts val="0"/>
              </a:spcAft>
            </a:pPr>
            <a:r>
              <a:rPr sz="1300" b="1" i="0" spc="200">
                <a:solidFill>
                  <a:srgbClr val="2C5A73"/>
                </a:solidFill>
                <a:latin typeface="Cambria"/>
              </a:rPr>
              <a:t>HIỂU</a:t>
            </a:r>
          </a:p>
        </p:txBody>
      </p:sp>
      <p:sp>
        <p:nvSpPr>
          <p:cNvPr id="9" name="TextBox 8"/>
          <p:cNvSpPr txBox="1"/>
          <p:nvPr/>
        </p:nvSpPr>
        <p:spPr>
          <a:xfrm>
            <a:off x="1645920" y="2075688"/>
            <a:ext cx="5669280" cy="777240"/>
          </a:xfrm>
          <a:prstGeom prst="rect">
            <a:avLst/>
          </a:prstGeom>
          <a:noFill/>
        </p:spPr>
        <p:txBody>
          <a:bodyPr wrap="square" lIns="0" rIns="0" tIns="0" bIns="0" anchor="t">
            <a:spAutoFit/>
          </a:bodyPr>
          <a:lstStyle/>
          <a:p>
            <a:pPr algn="l">
              <a:lnSpc>
                <a:spcPct val="108000"/>
              </a:lnSpc>
              <a:spcAft>
                <a:spcPts val="0"/>
              </a:spcAft>
            </a:pPr>
            <a:r>
              <a:rPr sz="1500" b="0" i="0">
                <a:solidFill>
                  <a:srgbClr val="2B211A"/>
                </a:solidFill>
                <a:latin typeface="Cambria"/>
              </a:rPr>
              <a:t>Nêu được mối liên hệ rừng – nước – ruộng lúa – sông – biển và vì sao người dân Shirakami coi rừng Buna là “sự sống”.</a:t>
            </a:r>
          </a:p>
        </p:txBody>
      </p:sp>
      <p:sp>
        <p:nvSpPr>
          <p:cNvPr id="10" name="Rounded Rectangle 9"/>
          <p:cNvSpPr/>
          <p:nvPr/>
        </p:nvSpPr>
        <p:spPr>
          <a:xfrm>
            <a:off x="548640" y="3017520"/>
            <a:ext cx="6949440" cy="1234440"/>
          </a:xfrm>
          <a:prstGeom prst="roundRect">
            <a:avLst>
              <a:gd name="adj" fmla="val 6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319272"/>
            <a:ext cx="621792" cy="621792"/>
          </a:xfrm>
          <a:prstGeom prst="ellipse">
            <a:avLst/>
          </a:prstGeom>
          <a:solidFill>
            <a:srgbClr val="E8A0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2</a:t>
            </a:r>
          </a:p>
        </p:txBody>
      </p:sp>
      <p:sp>
        <p:nvSpPr>
          <p:cNvPr id="12" name="TextBox 11"/>
          <p:cNvSpPr txBox="1"/>
          <p:nvPr/>
        </p:nvSpPr>
        <p:spPr>
          <a:xfrm>
            <a:off x="1645920" y="3154679"/>
            <a:ext cx="5669280" cy="274320"/>
          </a:xfrm>
          <a:prstGeom prst="rect">
            <a:avLst/>
          </a:prstGeom>
          <a:noFill/>
        </p:spPr>
        <p:txBody>
          <a:bodyPr wrap="square" lIns="0" rIns="0" tIns="0" bIns="0" anchor="t">
            <a:spAutoFit/>
          </a:bodyPr>
          <a:lstStyle/>
          <a:p>
            <a:pPr algn="l">
              <a:lnSpc>
                <a:spcPct val="108000"/>
              </a:lnSpc>
              <a:spcAft>
                <a:spcPts val="0"/>
              </a:spcAft>
            </a:pPr>
            <a:r>
              <a:rPr sz="1300" b="1" i="0" spc="200">
                <a:solidFill>
                  <a:srgbClr val="B87410"/>
                </a:solidFill>
                <a:latin typeface="Cambria"/>
              </a:rPr>
              <a:t>SUY NGHĨ</a:t>
            </a:r>
          </a:p>
        </p:txBody>
      </p:sp>
      <p:sp>
        <p:nvSpPr>
          <p:cNvPr id="13" name="TextBox 12"/>
          <p:cNvSpPr txBox="1"/>
          <p:nvPr/>
        </p:nvSpPr>
        <p:spPr>
          <a:xfrm>
            <a:off x="1645920" y="3447287"/>
            <a:ext cx="5669280" cy="777240"/>
          </a:xfrm>
          <a:prstGeom prst="rect">
            <a:avLst/>
          </a:prstGeom>
          <a:noFill/>
        </p:spPr>
        <p:txBody>
          <a:bodyPr wrap="square" lIns="0" rIns="0" tIns="0" bIns="0" anchor="t">
            <a:spAutoFit/>
          </a:bodyPr>
          <a:lstStyle/>
          <a:p>
            <a:pPr algn="l">
              <a:lnSpc>
                <a:spcPct val="108000"/>
              </a:lnSpc>
              <a:spcAft>
                <a:spcPts val="0"/>
              </a:spcAft>
            </a:pPr>
            <a:r>
              <a:rPr sz="1500" b="0" i="0">
                <a:solidFill>
                  <a:srgbClr val="2B211A"/>
                </a:solidFill>
                <a:latin typeface="Cambria"/>
              </a:rPr>
              <a:t>Nhận ra sự giằng co giữa lợi ích trước mắt (mở đường, thu nhập) và lợi ích lâu dài (giữ rừng); biết lắng nghe và cân nhắc ý kiến khác.</a:t>
            </a:r>
          </a:p>
        </p:txBody>
      </p:sp>
      <p:sp>
        <p:nvSpPr>
          <p:cNvPr id="14" name="Rounded Rectangle 13"/>
          <p:cNvSpPr/>
          <p:nvPr/>
        </p:nvSpPr>
        <p:spPr>
          <a:xfrm>
            <a:off x="548640" y="4389120"/>
            <a:ext cx="6949440" cy="1234440"/>
          </a:xfrm>
          <a:prstGeom prst="roundRect">
            <a:avLst>
              <a:gd name="adj" fmla="val 6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77240" y="4690872"/>
            <a:ext cx="621792" cy="621792"/>
          </a:xfrm>
          <a:prstGeom prst="ellipse">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3</a:t>
            </a:r>
          </a:p>
        </p:txBody>
      </p:sp>
      <p:sp>
        <p:nvSpPr>
          <p:cNvPr id="16" name="TextBox 15"/>
          <p:cNvSpPr txBox="1"/>
          <p:nvPr/>
        </p:nvSpPr>
        <p:spPr>
          <a:xfrm>
            <a:off x="1645920" y="4526280"/>
            <a:ext cx="5669280" cy="274320"/>
          </a:xfrm>
          <a:prstGeom prst="rect">
            <a:avLst/>
          </a:prstGeom>
          <a:noFill/>
        </p:spPr>
        <p:txBody>
          <a:bodyPr wrap="square" lIns="0" rIns="0" tIns="0" bIns="0" anchor="t">
            <a:spAutoFit/>
          </a:bodyPr>
          <a:lstStyle/>
          <a:p>
            <a:pPr algn="l">
              <a:lnSpc>
                <a:spcPct val="108000"/>
              </a:lnSpc>
              <a:spcAft>
                <a:spcPts val="0"/>
              </a:spcAft>
            </a:pPr>
            <a:r>
              <a:rPr sz="1300" b="1" i="0" spc="200">
                <a:solidFill>
                  <a:srgbClr val="538235"/>
                </a:solidFill>
                <a:latin typeface="Cambria"/>
              </a:rPr>
              <a:t>HÀNH ĐỘNG</a:t>
            </a:r>
          </a:p>
        </p:txBody>
      </p:sp>
      <p:sp>
        <p:nvSpPr>
          <p:cNvPr id="17" name="TextBox 16"/>
          <p:cNvSpPr txBox="1"/>
          <p:nvPr/>
        </p:nvSpPr>
        <p:spPr>
          <a:xfrm>
            <a:off x="1645920" y="4818888"/>
            <a:ext cx="5669280" cy="777240"/>
          </a:xfrm>
          <a:prstGeom prst="rect">
            <a:avLst/>
          </a:prstGeom>
          <a:noFill/>
        </p:spPr>
        <p:txBody>
          <a:bodyPr wrap="square" lIns="0" rIns="0" tIns="0" bIns="0" anchor="t">
            <a:spAutoFit/>
          </a:bodyPr>
          <a:lstStyle/>
          <a:p>
            <a:pPr algn="l">
              <a:lnSpc>
                <a:spcPct val="108000"/>
              </a:lnSpc>
              <a:spcAft>
                <a:spcPts val="0"/>
              </a:spcAft>
            </a:pPr>
            <a:r>
              <a:rPr sz="1500" b="0" i="0">
                <a:solidFill>
                  <a:srgbClr val="2B211A"/>
                </a:solidFill>
                <a:latin typeface="Cambria"/>
              </a:rPr>
              <a:t>Nêu được một việc làm cụ thể để giữ gìn vẻ đẹp thiên nhiên, quê hương nơi em sống.</a:t>
            </a:r>
          </a:p>
        </p:txBody>
      </p:sp>
      <p:sp>
        <p:nvSpPr>
          <p:cNvPr id="18" name="Rounded Rectangle 17"/>
          <p:cNvSpPr/>
          <p:nvPr/>
        </p:nvSpPr>
        <p:spPr>
          <a:xfrm>
            <a:off x="7863840" y="1645920"/>
            <a:ext cx="3776472" cy="3977639"/>
          </a:xfrm>
          <a:prstGeom prst="roundRect">
            <a:avLst>
              <a:gd name="adj" fmla="val 4000"/>
            </a:avLst>
          </a:prstGeom>
          <a:solidFill>
            <a:srgbClr val="2B2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83879" y="1874519"/>
            <a:ext cx="3200400" cy="274320"/>
          </a:xfrm>
          <a:prstGeom prst="rect">
            <a:avLst/>
          </a:prstGeom>
          <a:noFill/>
        </p:spPr>
        <p:txBody>
          <a:bodyPr wrap="square" lIns="0" rIns="0" tIns="0" bIns="0" anchor="t">
            <a:spAutoFit/>
          </a:bodyPr>
          <a:lstStyle/>
          <a:p>
            <a:pPr algn="l">
              <a:lnSpc>
                <a:spcPct val="108000"/>
              </a:lnSpc>
              <a:spcAft>
                <a:spcPts val="0"/>
              </a:spcAft>
            </a:pPr>
            <a:r>
              <a:rPr sz="1400" b="1" i="0" spc="250">
                <a:solidFill>
                  <a:srgbClr val="E8A03A"/>
                </a:solidFill>
                <a:latin typeface="Cambria"/>
              </a:rPr>
              <a:t>CHUẨN BỊ</a:t>
            </a:r>
          </a:p>
        </p:txBody>
      </p:sp>
      <p:sp>
        <p:nvSpPr>
          <p:cNvPr id="20" name="TextBox 19"/>
          <p:cNvSpPr txBox="1"/>
          <p:nvPr/>
        </p:nvSpPr>
        <p:spPr>
          <a:xfrm>
            <a:off x="8183879" y="2286000"/>
            <a:ext cx="3200400" cy="3291840"/>
          </a:xfrm>
          <a:prstGeom prst="rect">
            <a:avLst/>
          </a:prstGeom>
          <a:noFill/>
        </p:spPr>
        <p:txBody>
          <a:bodyPr wrap="square" lIns="0" rIns="0" tIns="0" bIns="0" anchor="t">
            <a:spAutoFit/>
          </a:bodyPr>
          <a:lstStyle/>
          <a:p>
            <a:pPr algn="l">
              <a:lnSpc>
                <a:spcPct val="115000"/>
              </a:lnSpc>
              <a:spcAft>
                <a:spcPts val="700"/>
              </a:spcAft>
            </a:pPr>
            <a:r>
              <a:rPr sz="1450" b="0" i="0">
                <a:solidFill>
                  <a:srgbClr val="FFFFFF"/>
                </a:solidFill>
                <a:latin typeface="Cambria"/>
              </a:rPr>
              <a:t>•  Bộ slide + các đoạn truyện để GV đọc</a:t>
            </a:r>
          </a:p>
          <a:p>
            <a:pPr algn="l">
              <a:lnSpc>
                <a:spcPct val="115000"/>
              </a:lnSpc>
              <a:spcAft>
                <a:spcPts val="700"/>
              </a:spcAft>
            </a:pPr>
            <a:r>
              <a:rPr sz="1450" b="0" i="0">
                <a:solidFill>
                  <a:srgbClr val="FFFFFF"/>
                </a:solidFill>
                <a:latin typeface="Cambria"/>
              </a:rPr>
              <a:t>•  Thẻ Think Time (giấy nhỏ) cho mỗi HS</a:t>
            </a:r>
          </a:p>
          <a:p>
            <a:pPr algn="l">
              <a:lnSpc>
                <a:spcPct val="115000"/>
              </a:lnSpc>
              <a:spcAft>
                <a:spcPts val="700"/>
              </a:spcAft>
            </a:pPr>
            <a:r>
              <a:rPr sz="1450" b="0" i="0">
                <a:solidFill>
                  <a:srgbClr val="FFFFFF"/>
                </a:solidFill>
                <a:latin typeface="Cambria"/>
              </a:rPr>
              <a:t>•  Bút màu, giấy dán, bảng nhóm (nhóm 4 HS)</a:t>
            </a:r>
          </a:p>
          <a:p>
            <a:pPr algn="l">
              <a:lnSpc>
                <a:spcPct val="115000"/>
              </a:lnSpc>
              <a:spcAft>
                <a:spcPts val="700"/>
              </a:spcAft>
            </a:pPr>
            <a:r>
              <a:rPr sz="1450" b="0" i="0">
                <a:solidFill>
                  <a:srgbClr val="FFFFFF"/>
                </a:solidFill>
                <a:latin typeface="Cambria"/>
              </a:rPr>
              <a:t>•  Phiếu Reflection (slide 16)</a:t>
            </a:r>
          </a:p>
          <a:p>
            <a:pPr algn="l">
              <a:lnSpc>
                <a:spcPct val="115000"/>
              </a:lnSpc>
              <a:spcAft>
                <a:spcPts val="700"/>
              </a:spcAft>
            </a:pPr>
            <a:r>
              <a:rPr sz="1450" b="0" i="0">
                <a:solidFill>
                  <a:srgbClr val="FFFFFF"/>
                </a:solidFill>
                <a:latin typeface="Cambria"/>
              </a:rPr>
              <a:t>•  Chuỗi câu hỏi đã soạn sẵn (mở đầu – đào sâu – phản biện – kết thúc)</a:t>
            </a:r>
          </a:p>
        </p:txBody>
      </p:sp>
      <p:sp>
        <p:nvSpPr>
          <p:cNvPr id="21" name="TextBox 20"/>
          <p:cNvSpPr txBox="1"/>
          <p:nvPr/>
        </p:nvSpPr>
        <p:spPr>
          <a:xfrm>
            <a:off x="548640" y="5852160"/>
            <a:ext cx="11064240" cy="457200"/>
          </a:xfrm>
          <a:prstGeom prst="rect">
            <a:avLst/>
          </a:prstGeom>
          <a:noFill/>
        </p:spPr>
        <p:txBody>
          <a:bodyPr wrap="square" lIns="0" rIns="0" tIns="0" bIns="0" anchor="t">
            <a:spAutoFit/>
          </a:bodyPr>
          <a:lstStyle/>
          <a:p>
            <a:pPr algn="l">
              <a:lnSpc>
                <a:spcPct val="108000"/>
              </a:lnSpc>
              <a:spcAft>
                <a:spcPts val="0"/>
              </a:spcAft>
            </a:pPr>
            <a:r>
              <a:rPr sz="1250" b="0" i="1">
                <a:solidFill>
                  <a:srgbClr val="6B645C"/>
                </a:solidFill>
                <a:latin typeface="Cambria"/>
              </a:rPr>
              <a:t>Phẩm chất: Trách nhiệm, Yêu nước   ·   Năng lực: Điều chỉnh hành vi; Tìm hiểu và tham gia hoạt động xã hội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74320"/>
          </a:xfrm>
          <a:prstGeom prst="rect">
            <a:avLst/>
          </a:prstGeom>
          <a:noFill/>
        </p:spPr>
        <p:txBody>
          <a:bodyPr wrap="square" lIns="0" rIns="0" tIns="0" bIns="0" anchor="t">
            <a:spAutoFit/>
          </a:bodyPr>
          <a:lstStyle/>
          <a:p>
            <a:pPr algn="l">
              <a:lnSpc>
                <a:spcPct val="108000"/>
              </a:lnSpc>
              <a:spcAft>
                <a:spcPts val="0"/>
              </a:spcAft>
            </a:pPr>
            <a:r>
              <a:rPr sz="1300" b="1" i="0" spc="200">
                <a:solidFill>
                  <a:srgbClr val="2C5A73"/>
                </a:solidFill>
                <a:latin typeface="Cambria"/>
              </a:rPr>
              <a:t>TIẾN TRÌNH</a:t>
            </a:r>
          </a:p>
        </p:txBody>
      </p:sp>
      <p:sp>
        <p:nvSpPr>
          <p:cNvPr id="3" name="TextBox 2"/>
          <p:cNvSpPr txBox="1"/>
          <p:nvPr/>
        </p:nvSpPr>
        <p:spPr>
          <a:xfrm>
            <a:off x="548640" y="713232"/>
            <a:ext cx="11064240" cy="640080"/>
          </a:xfrm>
          <a:prstGeom prst="rect">
            <a:avLst/>
          </a:prstGeom>
          <a:noFill/>
        </p:spPr>
        <p:txBody>
          <a:bodyPr wrap="square" lIns="0" rIns="0" tIns="0" bIns="0" anchor="t">
            <a:spAutoFit/>
          </a:bodyPr>
          <a:lstStyle/>
          <a:p>
            <a:pPr algn="l">
              <a:lnSpc>
                <a:spcPct val="108000"/>
              </a:lnSpc>
              <a:spcAft>
                <a:spcPts val="0"/>
              </a:spcAft>
            </a:pPr>
            <a:r>
              <a:rPr sz="3200" b="1" i="0">
                <a:solidFill>
                  <a:srgbClr val="2B211A"/>
                </a:solidFill>
                <a:latin typeface="Cambria"/>
              </a:rPr>
              <a:t>Một giờ học 40 phút với 4 “điểm dừng tư duy”</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8000"/>
              </a:lnSpc>
              <a:spcAft>
                <a:spcPts val="0"/>
              </a:spcAft>
            </a:pPr>
            <a:r>
              <a:rPr sz="1000" b="0" i="0">
                <a:solidFill>
                  <a:srgbClr val="6B645C"/>
                </a:solidFill>
                <a:latin typeface="Cambria"/>
              </a:rPr>
              <a:t>Đạo đức lớp 5  |  Khu rừng Shirakami  |  40 phút</a:t>
            </a:r>
          </a:p>
        </p:txBody>
      </p:sp>
      <p:sp>
        <p:nvSpPr>
          <p:cNvPr id="5" name="TextBox 4"/>
          <p:cNvSpPr txBox="1"/>
          <p:nvPr/>
        </p:nvSpPr>
        <p:spPr>
          <a:xfrm>
            <a:off x="10698480" y="6473952"/>
            <a:ext cx="941832" cy="228600"/>
          </a:xfrm>
          <a:prstGeom prst="rect">
            <a:avLst/>
          </a:prstGeom>
          <a:noFill/>
        </p:spPr>
        <p:txBody>
          <a:bodyPr wrap="square" lIns="0" rIns="0" tIns="0" bIns="0" anchor="t">
            <a:spAutoFit/>
          </a:bodyPr>
          <a:lstStyle/>
          <a:p>
            <a:pPr algn="r">
              <a:lnSpc>
                <a:spcPct val="108000"/>
              </a:lnSpc>
              <a:spcAft>
                <a:spcPts val="0"/>
              </a:spcAft>
            </a:pPr>
            <a:r>
              <a:rPr sz="1000" b="0" i="0">
                <a:solidFill>
                  <a:srgbClr val="6B645C"/>
                </a:solidFill>
                <a:latin typeface="Cambria"/>
              </a:rPr>
              <a:t>3</a:t>
            </a:r>
          </a:p>
        </p:txBody>
      </p:sp>
      <p:sp>
        <p:nvSpPr>
          <p:cNvPr id="6" name="Rounded Rectangle 5"/>
          <p:cNvSpPr/>
          <p:nvPr/>
        </p:nvSpPr>
        <p:spPr>
          <a:xfrm>
            <a:off x="548640" y="1600200"/>
            <a:ext cx="1691640" cy="2743200"/>
          </a:xfrm>
          <a:prstGeom prst="roundRect">
            <a:avLst>
              <a:gd name="adj" fmla="val 5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783080"/>
            <a:ext cx="457200" cy="457200"/>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1</a:t>
            </a:r>
          </a:p>
        </p:txBody>
      </p:sp>
      <p:sp>
        <p:nvSpPr>
          <p:cNvPr id="8" name="TextBox 7"/>
          <p:cNvSpPr txBox="1"/>
          <p:nvPr/>
        </p:nvSpPr>
        <p:spPr>
          <a:xfrm>
            <a:off x="731520" y="2377440"/>
            <a:ext cx="1417320" cy="457200"/>
          </a:xfrm>
          <a:prstGeom prst="rect">
            <a:avLst/>
          </a:prstGeom>
          <a:noFill/>
        </p:spPr>
        <p:txBody>
          <a:bodyPr wrap="square" lIns="0" rIns="0" tIns="0" bIns="0" anchor="t">
            <a:spAutoFit/>
          </a:bodyPr>
          <a:lstStyle/>
          <a:p>
            <a:pPr algn="l">
              <a:lnSpc>
                <a:spcPct val="108000"/>
              </a:lnSpc>
              <a:spcAft>
                <a:spcPts val="0"/>
              </a:spcAft>
            </a:pPr>
            <a:r>
              <a:rPr sz="2200" b="1" i="0">
                <a:solidFill>
                  <a:srgbClr val="A83349"/>
                </a:solidFill>
                <a:latin typeface="Cambria"/>
              </a:rPr>
              <a:t>3 phút</a:t>
            </a:r>
          </a:p>
        </p:txBody>
      </p:sp>
      <p:sp>
        <p:nvSpPr>
          <p:cNvPr id="9" name="TextBox 8"/>
          <p:cNvSpPr txBox="1"/>
          <p:nvPr/>
        </p:nvSpPr>
        <p:spPr>
          <a:xfrm>
            <a:off x="731520" y="2880360"/>
            <a:ext cx="1417320" cy="365760"/>
          </a:xfrm>
          <a:prstGeom prst="rect">
            <a:avLst/>
          </a:prstGeom>
          <a:noFill/>
        </p:spPr>
        <p:txBody>
          <a:bodyPr wrap="square" lIns="0" rIns="0" tIns="0" bIns="0" anchor="t">
            <a:spAutoFit/>
          </a:bodyPr>
          <a:lstStyle/>
          <a:p>
            <a:pPr algn="l">
              <a:lnSpc>
                <a:spcPct val="108000"/>
              </a:lnSpc>
              <a:spcAft>
                <a:spcPts val="0"/>
              </a:spcAft>
            </a:pPr>
            <a:r>
              <a:rPr sz="1600" b="1" i="0">
                <a:solidFill>
                  <a:srgbClr val="2B211A"/>
                </a:solidFill>
                <a:latin typeface="Cambria"/>
              </a:rPr>
              <a:t>Gợi vấn đề</a:t>
            </a:r>
          </a:p>
        </p:txBody>
      </p:sp>
      <p:sp>
        <p:nvSpPr>
          <p:cNvPr id="10" name="TextBox 9"/>
          <p:cNvSpPr txBox="1"/>
          <p:nvPr/>
        </p:nvSpPr>
        <p:spPr>
          <a:xfrm>
            <a:off x="731520" y="3291840"/>
            <a:ext cx="1371600" cy="1005840"/>
          </a:xfrm>
          <a:prstGeom prst="rect">
            <a:avLst/>
          </a:prstGeom>
          <a:noFill/>
        </p:spPr>
        <p:txBody>
          <a:bodyPr wrap="square" lIns="0" rIns="0" tIns="0" bIns="0" anchor="t">
            <a:spAutoFit/>
          </a:bodyPr>
          <a:lstStyle/>
          <a:p>
            <a:pPr algn="l">
              <a:lnSpc>
                <a:spcPct val="110000"/>
              </a:lnSpc>
              <a:spcAft>
                <a:spcPts val="0"/>
              </a:spcAft>
            </a:pPr>
            <a:r>
              <a:rPr sz="1200" b="0" i="0">
                <a:solidFill>
                  <a:srgbClr val="6B645C"/>
                </a:solidFill>
                <a:latin typeface="Cambria"/>
              </a:rPr>
              <a:t>Xem ảnh khu rừng, chưa giới thiệu tên bài</a:t>
            </a:r>
          </a:p>
        </p:txBody>
      </p:sp>
      <p:sp>
        <p:nvSpPr>
          <p:cNvPr id="11" name="Rounded Rectangle 10"/>
          <p:cNvSpPr/>
          <p:nvPr/>
        </p:nvSpPr>
        <p:spPr>
          <a:xfrm>
            <a:off x="2423160" y="1600200"/>
            <a:ext cx="1691640" cy="2743200"/>
          </a:xfrm>
          <a:prstGeom prst="roundRect">
            <a:avLst>
              <a:gd name="adj" fmla="val 5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606040" y="1783080"/>
            <a:ext cx="457200" cy="457200"/>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2</a:t>
            </a:r>
          </a:p>
        </p:txBody>
      </p:sp>
      <p:sp>
        <p:nvSpPr>
          <p:cNvPr id="13" name="TextBox 12"/>
          <p:cNvSpPr txBox="1"/>
          <p:nvPr/>
        </p:nvSpPr>
        <p:spPr>
          <a:xfrm>
            <a:off x="2606040" y="2377440"/>
            <a:ext cx="1417320" cy="457200"/>
          </a:xfrm>
          <a:prstGeom prst="rect">
            <a:avLst/>
          </a:prstGeom>
          <a:noFill/>
        </p:spPr>
        <p:txBody>
          <a:bodyPr wrap="square" lIns="0" rIns="0" tIns="0" bIns="0" anchor="t">
            <a:spAutoFit/>
          </a:bodyPr>
          <a:lstStyle/>
          <a:p>
            <a:pPr algn="l">
              <a:lnSpc>
                <a:spcPct val="108000"/>
              </a:lnSpc>
              <a:spcAft>
                <a:spcPts val="0"/>
              </a:spcAft>
            </a:pPr>
            <a:r>
              <a:rPr sz="2200" b="1" i="0">
                <a:solidFill>
                  <a:srgbClr val="A83349"/>
                </a:solidFill>
                <a:latin typeface="Cambria"/>
              </a:rPr>
              <a:t>5 phút</a:t>
            </a:r>
          </a:p>
        </p:txBody>
      </p:sp>
      <p:sp>
        <p:nvSpPr>
          <p:cNvPr id="14" name="TextBox 13"/>
          <p:cNvSpPr txBox="1"/>
          <p:nvPr/>
        </p:nvSpPr>
        <p:spPr>
          <a:xfrm>
            <a:off x="2606040" y="2880360"/>
            <a:ext cx="1417320" cy="365760"/>
          </a:xfrm>
          <a:prstGeom prst="rect">
            <a:avLst/>
          </a:prstGeom>
          <a:noFill/>
        </p:spPr>
        <p:txBody>
          <a:bodyPr wrap="square" lIns="0" rIns="0" tIns="0" bIns="0" anchor="t">
            <a:spAutoFit/>
          </a:bodyPr>
          <a:lstStyle/>
          <a:p>
            <a:pPr algn="l">
              <a:lnSpc>
                <a:spcPct val="108000"/>
              </a:lnSpc>
              <a:spcAft>
                <a:spcPts val="0"/>
              </a:spcAft>
            </a:pPr>
            <a:r>
              <a:rPr sz="1600" b="1" i="0">
                <a:solidFill>
                  <a:srgbClr val="2B211A"/>
                </a:solidFill>
                <a:latin typeface="Cambria"/>
              </a:rPr>
              <a:t>Chặng 1</a:t>
            </a:r>
          </a:p>
        </p:txBody>
      </p:sp>
      <p:sp>
        <p:nvSpPr>
          <p:cNvPr id="15" name="TextBox 14"/>
          <p:cNvSpPr txBox="1"/>
          <p:nvPr/>
        </p:nvSpPr>
        <p:spPr>
          <a:xfrm>
            <a:off x="2606040" y="3291840"/>
            <a:ext cx="1371600" cy="1005840"/>
          </a:xfrm>
          <a:prstGeom prst="rect">
            <a:avLst/>
          </a:prstGeom>
          <a:noFill/>
        </p:spPr>
        <p:txBody>
          <a:bodyPr wrap="square" lIns="0" rIns="0" tIns="0" bIns="0" anchor="t">
            <a:spAutoFit/>
          </a:bodyPr>
          <a:lstStyle/>
          <a:p>
            <a:pPr algn="l">
              <a:lnSpc>
                <a:spcPct val="110000"/>
              </a:lnSpc>
              <a:spcAft>
                <a:spcPts val="0"/>
              </a:spcAft>
            </a:pPr>
            <a:r>
              <a:rPr sz="1200" b="0" i="0">
                <a:solidFill>
                  <a:srgbClr val="6B645C"/>
                </a:solidFill>
                <a:latin typeface="Cambria"/>
              </a:rPr>
              <a:t>Con đường xuyên rừng – vì sao người ta muốn làm?</a:t>
            </a:r>
          </a:p>
        </p:txBody>
      </p:sp>
      <p:sp>
        <p:nvSpPr>
          <p:cNvPr id="16" name="Rounded Rectangle 15"/>
          <p:cNvSpPr/>
          <p:nvPr/>
        </p:nvSpPr>
        <p:spPr>
          <a:xfrm>
            <a:off x="4297680" y="1600200"/>
            <a:ext cx="1691640" cy="2743200"/>
          </a:xfrm>
          <a:prstGeom prst="roundRect">
            <a:avLst>
              <a:gd name="adj" fmla="val 5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80560" y="1783080"/>
            <a:ext cx="457200" cy="457200"/>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3</a:t>
            </a:r>
          </a:p>
        </p:txBody>
      </p:sp>
      <p:sp>
        <p:nvSpPr>
          <p:cNvPr id="18" name="TextBox 17"/>
          <p:cNvSpPr txBox="1"/>
          <p:nvPr/>
        </p:nvSpPr>
        <p:spPr>
          <a:xfrm>
            <a:off x="4480560" y="2377440"/>
            <a:ext cx="1417320" cy="457200"/>
          </a:xfrm>
          <a:prstGeom prst="rect">
            <a:avLst/>
          </a:prstGeom>
          <a:noFill/>
        </p:spPr>
        <p:txBody>
          <a:bodyPr wrap="square" lIns="0" rIns="0" tIns="0" bIns="0" anchor="t">
            <a:spAutoFit/>
          </a:bodyPr>
          <a:lstStyle/>
          <a:p>
            <a:pPr algn="l">
              <a:lnSpc>
                <a:spcPct val="108000"/>
              </a:lnSpc>
              <a:spcAft>
                <a:spcPts val="0"/>
              </a:spcAft>
            </a:pPr>
            <a:r>
              <a:rPr sz="2200" b="1" i="0">
                <a:solidFill>
                  <a:srgbClr val="A83349"/>
                </a:solidFill>
                <a:latin typeface="Cambria"/>
              </a:rPr>
              <a:t>5 phút</a:t>
            </a:r>
          </a:p>
        </p:txBody>
      </p:sp>
      <p:sp>
        <p:nvSpPr>
          <p:cNvPr id="19" name="TextBox 18"/>
          <p:cNvSpPr txBox="1"/>
          <p:nvPr/>
        </p:nvSpPr>
        <p:spPr>
          <a:xfrm>
            <a:off x="4480560" y="2880360"/>
            <a:ext cx="1417320" cy="365760"/>
          </a:xfrm>
          <a:prstGeom prst="rect">
            <a:avLst/>
          </a:prstGeom>
          <a:noFill/>
        </p:spPr>
        <p:txBody>
          <a:bodyPr wrap="square" lIns="0" rIns="0" tIns="0" bIns="0" anchor="t">
            <a:spAutoFit/>
          </a:bodyPr>
          <a:lstStyle/>
          <a:p>
            <a:pPr algn="l">
              <a:lnSpc>
                <a:spcPct val="108000"/>
              </a:lnSpc>
              <a:spcAft>
                <a:spcPts val="0"/>
              </a:spcAft>
            </a:pPr>
            <a:r>
              <a:rPr sz="1600" b="1" i="0">
                <a:solidFill>
                  <a:srgbClr val="2B211A"/>
                </a:solidFill>
                <a:latin typeface="Cambria"/>
              </a:rPr>
              <a:t>Chặng 2</a:t>
            </a:r>
          </a:p>
        </p:txBody>
      </p:sp>
      <p:sp>
        <p:nvSpPr>
          <p:cNvPr id="20" name="TextBox 19"/>
          <p:cNvSpPr txBox="1"/>
          <p:nvPr/>
        </p:nvSpPr>
        <p:spPr>
          <a:xfrm>
            <a:off x="4480560" y="3291840"/>
            <a:ext cx="1371600" cy="1005840"/>
          </a:xfrm>
          <a:prstGeom prst="rect">
            <a:avLst/>
          </a:prstGeom>
          <a:noFill/>
        </p:spPr>
        <p:txBody>
          <a:bodyPr wrap="square" lIns="0" rIns="0" tIns="0" bIns="0" anchor="t">
            <a:spAutoFit/>
          </a:bodyPr>
          <a:lstStyle/>
          <a:p>
            <a:pPr algn="l">
              <a:lnSpc>
                <a:spcPct val="110000"/>
              </a:lnSpc>
              <a:spcAft>
                <a:spcPts val="0"/>
              </a:spcAft>
            </a:pPr>
            <a:r>
              <a:rPr sz="1200" b="0" i="0">
                <a:solidFill>
                  <a:srgbClr val="6B645C"/>
                </a:solidFill>
                <a:latin typeface="Cambria"/>
              </a:rPr>
              <a:t>Những dấu hiệu bất thường xuất hiện</a:t>
            </a:r>
          </a:p>
        </p:txBody>
      </p:sp>
      <p:sp>
        <p:nvSpPr>
          <p:cNvPr id="21" name="Rounded Rectangle 20"/>
          <p:cNvSpPr/>
          <p:nvPr/>
        </p:nvSpPr>
        <p:spPr>
          <a:xfrm>
            <a:off x="6172200" y="1600200"/>
            <a:ext cx="1691640" cy="2743200"/>
          </a:xfrm>
          <a:prstGeom prst="roundRect">
            <a:avLst>
              <a:gd name="adj" fmla="val 5000"/>
            </a:avLst>
          </a:prstGeom>
          <a:solidFill>
            <a:srgbClr val="2B2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355080" y="1783080"/>
            <a:ext cx="457200" cy="457200"/>
          </a:xfrm>
          <a:prstGeom prst="ellipse">
            <a:avLst/>
          </a:prstGeom>
          <a:solidFill>
            <a:srgbClr val="E8A0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4</a:t>
            </a:r>
          </a:p>
        </p:txBody>
      </p:sp>
      <p:sp>
        <p:nvSpPr>
          <p:cNvPr id="23" name="TextBox 22"/>
          <p:cNvSpPr txBox="1"/>
          <p:nvPr/>
        </p:nvSpPr>
        <p:spPr>
          <a:xfrm>
            <a:off x="6355080" y="2377440"/>
            <a:ext cx="1417320" cy="457200"/>
          </a:xfrm>
          <a:prstGeom prst="rect">
            <a:avLst/>
          </a:prstGeom>
          <a:noFill/>
        </p:spPr>
        <p:txBody>
          <a:bodyPr wrap="square" lIns="0" rIns="0" tIns="0" bIns="0" anchor="t">
            <a:spAutoFit/>
          </a:bodyPr>
          <a:lstStyle/>
          <a:p>
            <a:pPr algn="l">
              <a:lnSpc>
                <a:spcPct val="108000"/>
              </a:lnSpc>
              <a:spcAft>
                <a:spcPts val="0"/>
              </a:spcAft>
            </a:pPr>
            <a:r>
              <a:rPr sz="2200" b="1" i="0">
                <a:solidFill>
                  <a:srgbClr val="E8A03A"/>
                </a:solidFill>
                <a:latin typeface="Cambria"/>
              </a:rPr>
              <a:t>12 phút</a:t>
            </a:r>
          </a:p>
        </p:txBody>
      </p:sp>
      <p:sp>
        <p:nvSpPr>
          <p:cNvPr id="24" name="TextBox 23"/>
          <p:cNvSpPr txBox="1"/>
          <p:nvPr/>
        </p:nvSpPr>
        <p:spPr>
          <a:xfrm>
            <a:off x="6355080" y="2880360"/>
            <a:ext cx="1417320" cy="365760"/>
          </a:xfrm>
          <a:prstGeom prst="rect">
            <a:avLst/>
          </a:prstGeom>
          <a:noFill/>
        </p:spPr>
        <p:txBody>
          <a:bodyPr wrap="square" lIns="0" rIns="0" tIns="0" bIns="0" anchor="t">
            <a:spAutoFit/>
          </a:bodyPr>
          <a:lstStyle/>
          <a:p>
            <a:pPr algn="l">
              <a:lnSpc>
                <a:spcPct val="108000"/>
              </a:lnSpc>
              <a:spcAft>
                <a:spcPts val="0"/>
              </a:spcAft>
            </a:pPr>
            <a:r>
              <a:rPr sz="1600" b="1" i="0">
                <a:solidFill>
                  <a:srgbClr val="FFFFFF"/>
                </a:solidFill>
                <a:latin typeface="Cambria"/>
              </a:rPr>
              <a:t>Chặng 3</a:t>
            </a:r>
          </a:p>
        </p:txBody>
      </p:sp>
      <p:sp>
        <p:nvSpPr>
          <p:cNvPr id="25" name="TextBox 24"/>
          <p:cNvSpPr txBox="1"/>
          <p:nvPr/>
        </p:nvSpPr>
        <p:spPr>
          <a:xfrm>
            <a:off x="6355080" y="3291840"/>
            <a:ext cx="1371600" cy="1005840"/>
          </a:xfrm>
          <a:prstGeom prst="rect">
            <a:avLst/>
          </a:prstGeom>
          <a:noFill/>
        </p:spPr>
        <p:txBody>
          <a:bodyPr wrap="square" lIns="0" rIns="0" tIns="0" bIns="0" anchor="t">
            <a:spAutoFit/>
          </a:bodyPr>
          <a:lstStyle/>
          <a:p>
            <a:pPr algn="l">
              <a:lnSpc>
                <a:spcPct val="110000"/>
              </a:lnSpc>
              <a:spcAft>
                <a:spcPts val="0"/>
              </a:spcAft>
            </a:pPr>
            <a:r>
              <a:rPr sz="1200" b="0" i="0">
                <a:solidFill>
                  <a:srgbClr val="E6DDD2"/>
                </a:solidFill>
                <a:latin typeface="Cambria"/>
              </a:rPr>
              <a:t>CAO TRÀO: mở đường hay giữ rừng?</a:t>
            </a:r>
          </a:p>
        </p:txBody>
      </p:sp>
      <p:sp>
        <p:nvSpPr>
          <p:cNvPr id="26" name="Rounded Rectangle 25"/>
          <p:cNvSpPr/>
          <p:nvPr/>
        </p:nvSpPr>
        <p:spPr>
          <a:xfrm>
            <a:off x="8046720" y="1600200"/>
            <a:ext cx="1691640" cy="2743200"/>
          </a:xfrm>
          <a:prstGeom prst="roundRect">
            <a:avLst>
              <a:gd name="adj" fmla="val 5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0" y="1783080"/>
            <a:ext cx="457200" cy="457200"/>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5</a:t>
            </a:r>
          </a:p>
        </p:txBody>
      </p:sp>
      <p:sp>
        <p:nvSpPr>
          <p:cNvPr id="28" name="TextBox 27"/>
          <p:cNvSpPr txBox="1"/>
          <p:nvPr/>
        </p:nvSpPr>
        <p:spPr>
          <a:xfrm>
            <a:off x="8229600" y="2377440"/>
            <a:ext cx="1417320" cy="457200"/>
          </a:xfrm>
          <a:prstGeom prst="rect">
            <a:avLst/>
          </a:prstGeom>
          <a:noFill/>
        </p:spPr>
        <p:txBody>
          <a:bodyPr wrap="square" lIns="0" rIns="0" tIns="0" bIns="0" anchor="t">
            <a:spAutoFit/>
          </a:bodyPr>
          <a:lstStyle/>
          <a:p>
            <a:pPr algn="l">
              <a:lnSpc>
                <a:spcPct val="108000"/>
              </a:lnSpc>
              <a:spcAft>
                <a:spcPts val="0"/>
              </a:spcAft>
            </a:pPr>
            <a:r>
              <a:rPr sz="2200" b="1" i="0">
                <a:solidFill>
                  <a:srgbClr val="A83349"/>
                </a:solidFill>
                <a:latin typeface="Cambria"/>
              </a:rPr>
              <a:t>9 phút</a:t>
            </a:r>
          </a:p>
        </p:txBody>
      </p:sp>
      <p:sp>
        <p:nvSpPr>
          <p:cNvPr id="29" name="TextBox 28"/>
          <p:cNvSpPr txBox="1"/>
          <p:nvPr/>
        </p:nvSpPr>
        <p:spPr>
          <a:xfrm>
            <a:off x="8229600" y="2880360"/>
            <a:ext cx="1417320" cy="365760"/>
          </a:xfrm>
          <a:prstGeom prst="rect">
            <a:avLst/>
          </a:prstGeom>
          <a:noFill/>
        </p:spPr>
        <p:txBody>
          <a:bodyPr wrap="square" lIns="0" rIns="0" tIns="0" bIns="0" anchor="t">
            <a:spAutoFit/>
          </a:bodyPr>
          <a:lstStyle/>
          <a:p>
            <a:pPr algn="l">
              <a:lnSpc>
                <a:spcPct val="108000"/>
              </a:lnSpc>
              <a:spcAft>
                <a:spcPts val="0"/>
              </a:spcAft>
            </a:pPr>
            <a:r>
              <a:rPr sz="1600" b="1" i="0">
                <a:solidFill>
                  <a:srgbClr val="2B211A"/>
                </a:solidFill>
                <a:latin typeface="Cambria"/>
              </a:rPr>
              <a:t>Chặng 4</a:t>
            </a:r>
          </a:p>
        </p:txBody>
      </p:sp>
      <p:sp>
        <p:nvSpPr>
          <p:cNvPr id="30" name="TextBox 29"/>
          <p:cNvSpPr txBox="1"/>
          <p:nvPr/>
        </p:nvSpPr>
        <p:spPr>
          <a:xfrm>
            <a:off x="8229600" y="3291840"/>
            <a:ext cx="1371600" cy="1005840"/>
          </a:xfrm>
          <a:prstGeom prst="rect">
            <a:avLst/>
          </a:prstGeom>
          <a:noFill/>
        </p:spPr>
        <p:txBody>
          <a:bodyPr wrap="square" lIns="0" rIns="0" tIns="0" bIns="0" anchor="t">
            <a:spAutoFit/>
          </a:bodyPr>
          <a:lstStyle/>
          <a:p>
            <a:pPr algn="l">
              <a:lnSpc>
                <a:spcPct val="110000"/>
              </a:lnSpc>
              <a:spcAft>
                <a:spcPts val="0"/>
              </a:spcAft>
            </a:pPr>
            <a:r>
              <a:rPr sz="1200" b="0" i="0">
                <a:solidFill>
                  <a:srgbClr val="6B645C"/>
                </a:solidFill>
                <a:latin typeface="Cambria"/>
              </a:rPr>
              <a:t>Kết thúc &amp; cách người dân giữ rừng</a:t>
            </a:r>
          </a:p>
        </p:txBody>
      </p:sp>
      <p:sp>
        <p:nvSpPr>
          <p:cNvPr id="31" name="Rounded Rectangle 30"/>
          <p:cNvSpPr/>
          <p:nvPr/>
        </p:nvSpPr>
        <p:spPr>
          <a:xfrm>
            <a:off x="9921240" y="1600200"/>
            <a:ext cx="1691640" cy="2743200"/>
          </a:xfrm>
          <a:prstGeom prst="roundRect">
            <a:avLst>
              <a:gd name="adj" fmla="val 5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04120" y="1783080"/>
            <a:ext cx="457200" cy="457200"/>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6</a:t>
            </a:r>
          </a:p>
        </p:txBody>
      </p:sp>
      <p:sp>
        <p:nvSpPr>
          <p:cNvPr id="33" name="TextBox 32"/>
          <p:cNvSpPr txBox="1"/>
          <p:nvPr/>
        </p:nvSpPr>
        <p:spPr>
          <a:xfrm>
            <a:off x="10104120" y="2377440"/>
            <a:ext cx="1417320" cy="457200"/>
          </a:xfrm>
          <a:prstGeom prst="rect">
            <a:avLst/>
          </a:prstGeom>
          <a:noFill/>
        </p:spPr>
        <p:txBody>
          <a:bodyPr wrap="square" lIns="0" rIns="0" tIns="0" bIns="0" anchor="t">
            <a:spAutoFit/>
          </a:bodyPr>
          <a:lstStyle/>
          <a:p>
            <a:pPr algn="l">
              <a:lnSpc>
                <a:spcPct val="108000"/>
              </a:lnSpc>
              <a:spcAft>
                <a:spcPts val="0"/>
              </a:spcAft>
            </a:pPr>
            <a:r>
              <a:rPr sz="2200" b="1" i="0">
                <a:solidFill>
                  <a:srgbClr val="A83349"/>
                </a:solidFill>
                <a:latin typeface="Cambria"/>
              </a:rPr>
              <a:t>6 phút</a:t>
            </a:r>
          </a:p>
        </p:txBody>
      </p:sp>
      <p:sp>
        <p:nvSpPr>
          <p:cNvPr id="34" name="TextBox 33"/>
          <p:cNvSpPr txBox="1"/>
          <p:nvPr/>
        </p:nvSpPr>
        <p:spPr>
          <a:xfrm>
            <a:off x="10104120" y="2880360"/>
            <a:ext cx="1417320" cy="365760"/>
          </a:xfrm>
          <a:prstGeom prst="rect">
            <a:avLst/>
          </a:prstGeom>
          <a:noFill/>
        </p:spPr>
        <p:txBody>
          <a:bodyPr wrap="square" lIns="0" rIns="0" tIns="0" bIns="0" anchor="t">
            <a:spAutoFit/>
          </a:bodyPr>
          <a:lstStyle/>
          <a:p>
            <a:pPr algn="l">
              <a:lnSpc>
                <a:spcPct val="108000"/>
              </a:lnSpc>
              <a:spcAft>
                <a:spcPts val="0"/>
              </a:spcAft>
            </a:pPr>
            <a:r>
              <a:rPr sz="1600" b="1" i="0">
                <a:solidFill>
                  <a:srgbClr val="2B211A"/>
                </a:solidFill>
                <a:latin typeface="Cambria"/>
              </a:rPr>
              <a:t>Reflection</a:t>
            </a:r>
          </a:p>
        </p:txBody>
      </p:sp>
      <p:sp>
        <p:nvSpPr>
          <p:cNvPr id="35" name="TextBox 34"/>
          <p:cNvSpPr txBox="1"/>
          <p:nvPr/>
        </p:nvSpPr>
        <p:spPr>
          <a:xfrm>
            <a:off x="10104120" y="3291840"/>
            <a:ext cx="1371600" cy="1005840"/>
          </a:xfrm>
          <a:prstGeom prst="rect">
            <a:avLst/>
          </a:prstGeom>
          <a:noFill/>
        </p:spPr>
        <p:txBody>
          <a:bodyPr wrap="square" lIns="0" rIns="0" tIns="0" bIns="0" anchor="t">
            <a:spAutoFit/>
          </a:bodyPr>
          <a:lstStyle/>
          <a:p>
            <a:pPr algn="l">
              <a:lnSpc>
                <a:spcPct val="110000"/>
              </a:lnSpc>
              <a:spcAft>
                <a:spcPts val="0"/>
              </a:spcAft>
            </a:pPr>
            <a:r>
              <a:rPr sz="1200" b="0" i="0">
                <a:solidFill>
                  <a:srgbClr val="6B645C"/>
                </a:solidFill>
                <a:latin typeface="Cambria"/>
              </a:rPr>
              <a:t>Điều gì khiến em suy nghĩ nhiều nhất?</a:t>
            </a:r>
          </a:p>
        </p:txBody>
      </p:sp>
      <p:sp>
        <p:nvSpPr>
          <p:cNvPr id="36" name="TextBox 35"/>
          <p:cNvSpPr txBox="1"/>
          <p:nvPr/>
        </p:nvSpPr>
        <p:spPr>
          <a:xfrm>
            <a:off x="548640" y="4663440"/>
            <a:ext cx="5486400" cy="274320"/>
          </a:xfrm>
          <a:prstGeom prst="rect">
            <a:avLst/>
          </a:prstGeom>
          <a:noFill/>
        </p:spPr>
        <p:txBody>
          <a:bodyPr wrap="square" lIns="0" rIns="0" tIns="0" bIns="0" anchor="t">
            <a:spAutoFit/>
          </a:bodyPr>
          <a:lstStyle/>
          <a:p>
            <a:pPr algn="l">
              <a:lnSpc>
                <a:spcPct val="108000"/>
              </a:lnSpc>
              <a:spcAft>
                <a:spcPts val="0"/>
              </a:spcAft>
            </a:pPr>
            <a:r>
              <a:rPr sz="1100" b="1" i="0" spc="200">
                <a:solidFill>
                  <a:srgbClr val="6B645C"/>
                </a:solidFill>
                <a:latin typeface="Cambria"/>
              </a:rPr>
              <a:t>THỜI GIAN THEO TỈ LỆ</a:t>
            </a:r>
          </a:p>
        </p:txBody>
      </p:sp>
      <p:sp>
        <p:nvSpPr>
          <p:cNvPr id="37" name="Rectangle 36"/>
          <p:cNvSpPr/>
          <p:nvPr/>
        </p:nvSpPr>
        <p:spPr>
          <a:xfrm>
            <a:off x="548640" y="4983480"/>
            <a:ext cx="795299" cy="457200"/>
          </a:xfrm>
          <a:prstGeom prst="rect">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3’</a:t>
            </a:r>
          </a:p>
        </p:txBody>
      </p:sp>
      <p:sp>
        <p:nvSpPr>
          <p:cNvPr id="38" name="Rectangle 37"/>
          <p:cNvSpPr/>
          <p:nvPr/>
        </p:nvSpPr>
        <p:spPr>
          <a:xfrm>
            <a:off x="1380515" y="4983480"/>
            <a:ext cx="1349883" cy="457200"/>
          </a:xfrm>
          <a:prstGeom prst="rect">
            <a:avLst/>
          </a:prstGeom>
          <a:solidFill>
            <a:srgbClr val="3E78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5’</a:t>
            </a:r>
          </a:p>
        </p:txBody>
      </p:sp>
      <p:sp>
        <p:nvSpPr>
          <p:cNvPr id="39" name="Rectangle 38"/>
          <p:cNvSpPr/>
          <p:nvPr/>
        </p:nvSpPr>
        <p:spPr>
          <a:xfrm>
            <a:off x="2766974" y="4983480"/>
            <a:ext cx="1349883" cy="457200"/>
          </a:xfrm>
          <a:prstGeom prst="rect">
            <a:avLst/>
          </a:prstGeom>
          <a:solidFill>
            <a:srgbClr val="4F8FA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5’</a:t>
            </a:r>
          </a:p>
        </p:txBody>
      </p:sp>
      <p:sp>
        <p:nvSpPr>
          <p:cNvPr id="40" name="Rectangle 39"/>
          <p:cNvSpPr/>
          <p:nvPr/>
        </p:nvSpPr>
        <p:spPr>
          <a:xfrm>
            <a:off x="4153433" y="4983480"/>
            <a:ext cx="3290925" cy="457200"/>
          </a:xfrm>
          <a:prstGeom prst="rect">
            <a:avLst/>
          </a:prstGeom>
          <a:solidFill>
            <a:srgbClr val="E8A0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B211A"/>
                </a:solidFill>
                <a:latin typeface="Cambria"/>
              </a:rPr>
              <a:t>12’</a:t>
            </a:r>
          </a:p>
        </p:txBody>
      </p:sp>
      <p:sp>
        <p:nvSpPr>
          <p:cNvPr id="41" name="Rectangle 40"/>
          <p:cNvSpPr/>
          <p:nvPr/>
        </p:nvSpPr>
        <p:spPr>
          <a:xfrm>
            <a:off x="7480935" y="4983480"/>
            <a:ext cx="2459050" cy="457200"/>
          </a:xfrm>
          <a:prstGeom prst="rect">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9’</a:t>
            </a:r>
          </a:p>
        </p:txBody>
      </p:sp>
      <p:sp>
        <p:nvSpPr>
          <p:cNvPr id="42" name="Rectangle 41"/>
          <p:cNvSpPr/>
          <p:nvPr/>
        </p:nvSpPr>
        <p:spPr>
          <a:xfrm>
            <a:off x="9976561" y="4983480"/>
            <a:ext cx="1627174" cy="457200"/>
          </a:xfrm>
          <a:prstGeom prst="rect">
            <a:avLst/>
          </a:prstGeom>
          <a:solidFill>
            <a:srgbClr val="A833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6’</a:t>
            </a:r>
          </a:p>
        </p:txBody>
      </p:sp>
      <p:sp>
        <p:nvSpPr>
          <p:cNvPr id="43" name="TextBox 42"/>
          <p:cNvSpPr txBox="1"/>
          <p:nvPr/>
        </p:nvSpPr>
        <p:spPr>
          <a:xfrm>
            <a:off x="548640" y="5715000"/>
            <a:ext cx="11064240" cy="548640"/>
          </a:xfrm>
          <a:prstGeom prst="rect">
            <a:avLst/>
          </a:prstGeom>
          <a:noFill/>
        </p:spPr>
        <p:txBody>
          <a:bodyPr wrap="square" lIns="0" rIns="0" tIns="0" bIns="0" anchor="t">
            <a:spAutoFit/>
          </a:bodyPr>
          <a:lstStyle/>
          <a:p>
            <a:pPr algn="l">
              <a:lnSpc>
                <a:spcPct val="108000"/>
              </a:lnSpc>
              <a:spcAft>
                <a:spcPts val="0"/>
              </a:spcAft>
            </a:pPr>
            <a:r>
              <a:rPr sz="1500" b="1" i="0">
                <a:solidFill>
                  <a:srgbClr val="2C5A73"/>
                </a:solidFill>
                <a:latin typeface="Cambria"/>
              </a:rPr>
              <a:t>Trong mỗi chặng:  </a:t>
            </a:r>
            <a:r>
              <a:rPr sz="1500" b="0" i="1">
                <a:solidFill>
                  <a:srgbClr val="2B211A"/>
                </a:solidFill>
                <a:latin typeface="Cambria"/>
              </a:rPr>
              <a:t>Đọc / xem  →  Think Time (viết, vẽ)  →  Chia sẻ cặp đôi  →  Trao đổi cả lớp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74320"/>
          </a:xfrm>
          <a:prstGeom prst="rect">
            <a:avLst/>
          </a:prstGeom>
          <a:noFill/>
        </p:spPr>
        <p:txBody>
          <a:bodyPr wrap="square" lIns="0" rIns="0" tIns="0" bIns="0" anchor="t">
            <a:spAutoFit/>
          </a:bodyPr>
          <a:lstStyle/>
          <a:p>
            <a:pPr algn="l">
              <a:lnSpc>
                <a:spcPct val="108000"/>
              </a:lnSpc>
              <a:spcAft>
                <a:spcPts val="0"/>
              </a:spcAft>
            </a:pPr>
            <a:r>
              <a:rPr sz="1300" b="1" i="0" spc="200">
                <a:solidFill>
                  <a:srgbClr val="2C5A73"/>
                </a:solidFill>
                <a:latin typeface="Cambria"/>
              </a:rPr>
              <a:t>GỢI VẤN ĐỀ  ·  3 PHÚT</a:t>
            </a:r>
          </a:p>
        </p:txBody>
      </p:sp>
      <p:sp>
        <p:nvSpPr>
          <p:cNvPr id="3" name="TextBox 2"/>
          <p:cNvSpPr txBox="1"/>
          <p:nvPr/>
        </p:nvSpPr>
        <p:spPr>
          <a:xfrm>
            <a:off x="548640" y="713232"/>
            <a:ext cx="11064240" cy="640080"/>
          </a:xfrm>
          <a:prstGeom prst="rect">
            <a:avLst/>
          </a:prstGeom>
          <a:noFill/>
        </p:spPr>
        <p:txBody>
          <a:bodyPr wrap="square" lIns="0" rIns="0" tIns="0" bIns="0" anchor="t">
            <a:spAutoFit/>
          </a:bodyPr>
          <a:lstStyle/>
          <a:p>
            <a:pPr algn="l">
              <a:lnSpc>
                <a:spcPct val="108000"/>
              </a:lnSpc>
              <a:spcAft>
                <a:spcPts val="0"/>
              </a:spcAft>
            </a:pPr>
            <a:r>
              <a:rPr sz="3200" b="1" i="0">
                <a:solidFill>
                  <a:srgbClr val="2B211A"/>
                </a:solidFill>
                <a:latin typeface="Cambria"/>
              </a:rPr>
              <a:t>Bước vào một khu rừng</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8000"/>
              </a:lnSpc>
              <a:spcAft>
                <a:spcPts val="0"/>
              </a:spcAft>
            </a:pPr>
            <a:r>
              <a:rPr sz="1000" b="0" i="0">
                <a:solidFill>
                  <a:srgbClr val="6B645C"/>
                </a:solidFill>
                <a:latin typeface="Cambria"/>
              </a:rPr>
              <a:t>Đạo đức lớp 5  |  Khu rừng Shirakami  |  40 phút</a:t>
            </a:r>
          </a:p>
        </p:txBody>
      </p:sp>
      <p:sp>
        <p:nvSpPr>
          <p:cNvPr id="5" name="TextBox 4"/>
          <p:cNvSpPr txBox="1"/>
          <p:nvPr/>
        </p:nvSpPr>
        <p:spPr>
          <a:xfrm>
            <a:off x="10698480" y="6473952"/>
            <a:ext cx="941832" cy="228600"/>
          </a:xfrm>
          <a:prstGeom prst="rect">
            <a:avLst/>
          </a:prstGeom>
          <a:noFill/>
        </p:spPr>
        <p:txBody>
          <a:bodyPr wrap="square" lIns="0" rIns="0" tIns="0" bIns="0" anchor="t">
            <a:spAutoFit/>
          </a:bodyPr>
          <a:lstStyle/>
          <a:p>
            <a:pPr algn="r">
              <a:lnSpc>
                <a:spcPct val="108000"/>
              </a:lnSpc>
              <a:spcAft>
                <a:spcPts val="0"/>
              </a:spcAft>
            </a:pPr>
            <a:r>
              <a:rPr sz="1000" b="0" i="0">
                <a:solidFill>
                  <a:srgbClr val="6B645C"/>
                </a:solidFill>
                <a:latin typeface="Cambria"/>
              </a:rPr>
              <a:t>4</a:t>
            </a:r>
          </a:p>
        </p:txBody>
      </p:sp>
      <p:pic>
        <p:nvPicPr>
          <p:cNvPr id="6" name="Picture 5" descr="forest.jpg"/>
          <p:cNvPicPr>
            <a:picLocks noChangeAspect="1"/>
          </p:cNvPicPr>
          <p:nvPr/>
        </p:nvPicPr>
        <p:blipFill>
          <a:blip r:embed="rId2"/>
          <a:srcRect l="1168" r="1168"/>
          <a:stretch>
            <a:fillRect/>
          </a:stretch>
        </p:blipFill>
        <p:spPr>
          <a:xfrm>
            <a:off x="548640" y="1600200"/>
            <a:ext cx="6126480" cy="4572000"/>
          </a:xfrm>
          <a:prstGeom prst="roundRect">
            <a:avLst>
              <a:gd name="adj" fmla="val 5000"/>
            </a:avLst>
          </a:prstGeom>
        </p:spPr>
      </p:pic>
      <p:sp>
        <p:nvSpPr>
          <p:cNvPr id="7" name="Rounded Rectangle 6"/>
          <p:cNvSpPr/>
          <p:nvPr/>
        </p:nvSpPr>
        <p:spPr>
          <a:xfrm>
            <a:off x="7040880" y="1600200"/>
            <a:ext cx="4599432" cy="2148840"/>
          </a:xfrm>
          <a:prstGeom prst="roundRect">
            <a:avLst>
              <a:gd name="adj" fmla="val 5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783080"/>
            <a:ext cx="4023360" cy="274320"/>
          </a:xfrm>
          <a:prstGeom prst="rect">
            <a:avLst/>
          </a:prstGeom>
          <a:noFill/>
        </p:spPr>
        <p:txBody>
          <a:bodyPr wrap="square" lIns="0" rIns="0" tIns="0" bIns="0" anchor="t">
            <a:spAutoFit/>
          </a:bodyPr>
          <a:lstStyle/>
          <a:p>
            <a:pPr algn="l">
              <a:lnSpc>
                <a:spcPct val="108000"/>
              </a:lnSpc>
              <a:spcAft>
                <a:spcPts val="0"/>
              </a:spcAft>
            </a:pPr>
            <a:r>
              <a:rPr sz="1200" b="1" i="0" spc="250">
                <a:solidFill>
                  <a:srgbClr val="2C5A73"/>
                </a:solidFill>
                <a:latin typeface="Cambria"/>
              </a:rPr>
              <a:t>HỎI</a:t>
            </a:r>
          </a:p>
        </p:txBody>
      </p:sp>
      <p:sp>
        <p:nvSpPr>
          <p:cNvPr id="9" name="TextBox 8"/>
          <p:cNvSpPr txBox="1"/>
          <p:nvPr/>
        </p:nvSpPr>
        <p:spPr>
          <a:xfrm>
            <a:off x="7315200" y="2103120"/>
            <a:ext cx="4114800" cy="1554480"/>
          </a:xfrm>
          <a:prstGeom prst="rect">
            <a:avLst/>
          </a:prstGeom>
          <a:noFill/>
        </p:spPr>
        <p:txBody>
          <a:bodyPr wrap="square" lIns="0" rIns="0" tIns="0" bIns="0" anchor="t">
            <a:spAutoFit/>
          </a:bodyPr>
          <a:lstStyle/>
          <a:p>
            <a:pPr algn="l">
              <a:lnSpc>
                <a:spcPct val="112000"/>
              </a:lnSpc>
              <a:spcAft>
                <a:spcPts val="800"/>
              </a:spcAft>
            </a:pPr>
            <a:r>
              <a:rPr sz="1800" b="0" i="1">
                <a:solidFill>
                  <a:srgbClr val="2B211A"/>
                </a:solidFill>
                <a:latin typeface="Cambria"/>
              </a:rPr>
              <a:t>Nếu được đứng giữa khu rừng này, em sẽ nhìn thấy, nghe thấy và cảm nhận điều gì?</a:t>
            </a:r>
          </a:p>
          <a:p>
            <a:pPr algn="l">
              <a:lnSpc>
                <a:spcPct val="112000"/>
              </a:lnSpc>
              <a:spcAft>
                <a:spcPts val="800"/>
              </a:spcAft>
            </a:pPr>
            <a:r>
              <a:rPr sz="1800" b="0" i="1">
                <a:solidFill>
                  <a:srgbClr val="2B211A"/>
                </a:solidFill>
                <a:latin typeface="Cambria"/>
              </a:rPr>
              <a:t>Theo em, khu rừng này đã sống ở đây bao lâu?</a:t>
            </a:r>
          </a:p>
        </p:txBody>
      </p:sp>
      <p:sp>
        <p:nvSpPr>
          <p:cNvPr id="10" name="TextBox 9"/>
          <p:cNvSpPr txBox="1"/>
          <p:nvPr/>
        </p:nvSpPr>
        <p:spPr>
          <a:xfrm>
            <a:off x="7040880" y="4023360"/>
            <a:ext cx="4572000" cy="274320"/>
          </a:xfrm>
          <a:prstGeom prst="rect">
            <a:avLst/>
          </a:prstGeom>
          <a:noFill/>
        </p:spPr>
        <p:txBody>
          <a:bodyPr wrap="square" lIns="0" rIns="0" tIns="0" bIns="0" anchor="t">
            <a:spAutoFit/>
          </a:bodyPr>
          <a:lstStyle/>
          <a:p>
            <a:pPr algn="l">
              <a:lnSpc>
                <a:spcPct val="108000"/>
              </a:lnSpc>
              <a:spcAft>
                <a:spcPts val="0"/>
              </a:spcAft>
            </a:pPr>
            <a:r>
              <a:rPr sz="1100" b="1" i="0" spc="200">
                <a:solidFill>
                  <a:srgbClr val="6B645C"/>
                </a:solidFill>
                <a:latin typeface="Cambria"/>
              </a:rPr>
              <a:t>GV TIẾT LỘ SAU KHI HS ĐOÁN</a:t>
            </a:r>
          </a:p>
        </p:txBody>
      </p:sp>
      <p:sp>
        <p:nvSpPr>
          <p:cNvPr id="11" name="Rounded Rectangle 10"/>
          <p:cNvSpPr/>
          <p:nvPr/>
        </p:nvSpPr>
        <p:spPr>
          <a:xfrm>
            <a:off x="7040880" y="4343400"/>
            <a:ext cx="2221992" cy="1783080"/>
          </a:xfrm>
          <a:prstGeom prst="roundRect">
            <a:avLst>
              <a:gd name="adj" fmla="val 6000"/>
            </a:avLst>
          </a:prstGeom>
          <a:solidFill>
            <a:srgbClr val="2B2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0" y="4526280"/>
            <a:ext cx="1920240" cy="548640"/>
          </a:xfrm>
          <a:prstGeom prst="rect">
            <a:avLst/>
          </a:prstGeom>
          <a:noFill/>
        </p:spPr>
        <p:txBody>
          <a:bodyPr wrap="square" lIns="0" rIns="0" tIns="0" bIns="0" anchor="t">
            <a:spAutoFit/>
          </a:bodyPr>
          <a:lstStyle/>
          <a:p>
            <a:pPr algn="l">
              <a:lnSpc>
                <a:spcPct val="108000"/>
              </a:lnSpc>
              <a:spcAft>
                <a:spcPts val="0"/>
              </a:spcAft>
            </a:pPr>
            <a:r>
              <a:rPr sz="2600" b="1" i="0">
                <a:solidFill>
                  <a:srgbClr val="E8A03A"/>
                </a:solidFill>
                <a:latin typeface="Cambria"/>
              </a:rPr>
              <a:t>8.000 năm</a:t>
            </a:r>
          </a:p>
        </p:txBody>
      </p:sp>
      <p:sp>
        <p:nvSpPr>
          <p:cNvPr id="13" name="TextBox 12"/>
          <p:cNvSpPr txBox="1"/>
          <p:nvPr/>
        </p:nvSpPr>
        <p:spPr>
          <a:xfrm>
            <a:off x="7223760" y="5166360"/>
            <a:ext cx="1920240" cy="914400"/>
          </a:xfrm>
          <a:prstGeom prst="rect">
            <a:avLst/>
          </a:prstGeom>
          <a:noFill/>
        </p:spPr>
        <p:txBody>
          <a:bodyPr wrap="square" lIns="0" rIns="0" tIns="0" bIns="0" anchor="t">
            <a:spAutoFit/>
          </a:bodyPr>
          <a:lstStyle/>
          <a:p>
            <a:pPr algn="l">
              <a:lnSpc>
                <a:spcPct val="110000"/>
              </a:lnSpc>
              <a:spcAft>
                <a:spcPts val="0"/>
              </a:spcAft>
            </a:pPr>
            <a:r>
              <a:rPr sz="1250" b="0" i="0">
                <a:solidFill>
                  <a:srgbClr val="E6DDD2"/>
                </a:solidFill>
                <a:latin typeface="Cambria"/>
              </a:rPr>
              <a:t>tuổi của rừng sồi Buna,
thời kỳ Jomon</a:t>
            </a:r>
          </a:p>
        </p:txBody>
      </p:sp>
      <p:sp>
        <p:nvSpPr>
          <p:cNvPr id="14" name="Rounded Rectangle 13"/>
          <p:cNvSpPr/>
          <p:nvPr/>
        </p:nvSpPr>
        <p:spPr>
          <a:xfrm>
            <a:off x="9418320" y="4343400"/>
            <a:ext cx="2221992" cy="1783080"/>
          </a:xfrm>
          <a:prstGeom prst="roundRect">
            <a:avLst>
              <a:gd name="adj" fmla="val 6000"/>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0" y="4526280"/>
            <a:ext cx="1920240" cy="548640"/>
          </a:xfrm>
          <a:prstGeom prst="rect">
            <a:avLst/>
          </a:prstGeom>
          <a:noFill/>
        </p:spPr>
        <p:txBody>
          <a:bodyPr wrap="square" lIns="0" rIns="0" tIns="0" bIns="0" anchor="t">
            <a:spAutoFit/>
          </a:bodyPr>
          <a:lstStyle/>
          <a:p>
            <a:pPr algn="l">
              <a:lnSpc>
                <a:spcPct val="108000"/>
              </a:lnSpc>
              <a:spcAft>
                <a:spcPts val="0"/>
              </a:spcAft>
            </a:pPr>
            <a:r>
              <a:rPr sz="2600" b="1" i="0">
                <a:solidFill>
                  <a:srgbClr val="FFFFFF"/>
                </a:solidFill>
                <a:latin typeface="Cambria"/>
              </a:rPr>
              <a:t>17.000 ha</a:t>
            </a:r>
          </a:p>
        </p:txBody>
      </p:sp>
      <p:sp>
        <p:nvSpPr>
          <p:cNvPr id="16" name="TextBox 15"/>
          <p:cNvSpPr txBox="1"/>
          <p:nvPr/>
        </p:nvSpPr>
        <p:spPr>
          <a:xfrm>
            <a:off x="9601200" y="5166360"/>
            <a:ext cx="1920240" cy="914400"/>
          </a:xfrm>
          <a:prstGeom prst="rect">
            <a:avLst/>
          </a:prstGeom>
          <a:noFill/>
        </p:spPr>
        <p:txBody>
          <a:bodyPr wrap="square" lIns="0" rIns="0" tIns="0" bIns="0" anchor="t">
            <a:spAutoFit/>
          </a:bodyPr>
          <a:lstStyle/>
          <a:p>
            <a:pPr algn="l">
              <a:lnSpc>
                <a:spcPct val="110000"/>
              </a:lnSpc>
              <a:spcAft>
                <a:spcPts val="0"/>
              </a:spcAft>
            </a:pPr>
            <a:r>
              <a:rPr sz="1250" b="0" i="0">
                <a:solidFill>
                  <a:srgbClr val="E6DDD2"/>
                </a:solidFill>
                <a:latin typeface="Cambria"/>
              </a:rPr>
              <a:t>phần trung tâm hầu như
chưa từng bị con người đụng đến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74320"/>
          </a:xfrm>
          <a:prstGeom prst="rect">
            <a:avLst/>
          </a:prstGeom>
          <a:noFill/>
        </p:spPr>
        <p:txBody>
          <a:bodyPr wrap="square" lIns="0" rIns="0" tIns="0" bIns="0" anchor="t">
            <a:spAutoFit/>
          </a:bodyPr>
          <a:lstStyle/>
          <a:p>
            <a:pPr algn="l">
              <a:lnSpc>
                <a:spcPct val="108000"/>
              </a:lnSpc>
              <a:spcAft>
                <a:spcPts val="0"/>
              </a:spcAft>
            </a:pPr>
            <a:r>
              <a:rPr sz="1300" b="1" i="0" spc="200">
                <a:solidFill>
                  <a:srgbClr val="2C5A73"/>
                </a:solidFill>
                <a:latin typeface="Cambria"/>
              </a:rPr>
              <a:t>CHẶNG 1  ·  ĐỌC VÀ DỪNG  ·  5 PHÚT</a:t>
            </a:r>
          </a:p>
        </p:txBody>
      </p:sp>
      <p:sp>
        <p:nvSpPr>
          <p:cNvPr id="3" name="TextBox 2"/>
          <p:cNvSpPr txBox="1"/>
          <p:nvPr/>
        </p:nvSpPr>
        <p:spPr>
          <a:xfrm>
            <a:off x="548640" y="713232"/>
            <a:ext cx="11064240" cy="640080"/>
          </a:xfrm>
          <a:prstGeom prst="rect">
            <a:avLst/>
          </a:prstGeom>
          <a:noFill/>
        </p:spPr>
        <p:txBody>
          <a:bodyPr wrap="square" lIns="0" rIns="0" tIns="0" bIns="0" anchor="t">
            <a:spAutoFit/>
          </a:bodyPr>
          <a:lstStyle/>
          <a:p>
            <a:pPr algn="l">
              <a:lnSpc>
                <a:spcPct val="108000"/>
              </a:lnSpc>
              <a:spcAft>
                <a:spcPts val="0"/>
              </a:spcAft>
            </a:pPr>
            <a:r>
              <a:rPr sz="3200" b="1" i="0">
                <a:solidFill>
                  <a:srgbClr val="2B211A"/>
                </a:solidFill>
                <a:latin typeface="Cambria"/>
              </a:rPr>
              <a:t>Con đường xuyên rừng</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8000"/>
              </a:lnSpc>
              <a:spcAft>
                <a:spcPts val="0"/>
              </a:spcAft>
            </a:pPr>
            <a:r>
              <a:rPr sz="1000" b="0" i="0">
                <a:solidFill>
                  <a:srgbClr val="6B645C"/>
                </a:solidFill>
                <a:latin typeface="Cambria"/>
              </a:rPr>
              <a:t>Đạo đức lớp 5  |  Khu rừng Shirakami  |  40 phút</a:t>
            </a:r>
          </a:p>
        </p:txBody>
      </p:sp>
      <p:sp>
        <p:nvSpPr>
          <p:cNvPr id="5" name="TextBox 4"/>
          <p:cNvSpPr txBox="1"/>
          <p:nvPr/>
        </p:nvSpPr>
        <p:spPr>
          <a:xfrm>
            <a:off x="10698480" y="6473952"/>
            <a:ext cx="941832" cy="228600"/>
          </a:xfrm>
          <a:prstGeom prst="rect">
            <a:avLst/>
          </a:prstGeom>
          <a:noFill/>
        </p:spPr>
        <p:txBody>
          <a:bodyPr wrap="square" lIns="0" rIns="0" tIns="0" bIns="0" anchor="t">
            <a:spAutoFit/>
          </a:bodyPr>
          <a:lstStyle/>
          <a:p>
            <a:pPr algn="r">
              <a:lnSpc>
                <a:spcPct val="108000"/>
              </a:lnSpc>
              <a:spcAft>
                <a:spcPts val="0"/>
              </a:spcAft>
            </a:pPr>
            <a:r>
              <a:rPr sz="1000" b="0" i="0">
                <a:solidFill>
                  <a:srgbClr val="6B645C"/>
                </a:solidFill>
                <a:latin typeface="Cambria"/>
              </a:rPr>
              <a:t>5</a:t>
            </a:r>
          </a:p>
        </p:txBody>
      </p:sp>
      <p:pic>
        <p:nvPicPr>
          <p:cNvPr id="6" name="Picture 5" descr="map.jpg"/>
          <p:cNvPicPr>
            <a:picLocks noChangeAspect="1"/>
          </p:cNvPicPr>
          <p:nvPr/>
        </p:nvPicPr>
        <p:blipFill>
          <a:blip r:embed="rId2"/>
          <a:srcRect l="98" r="98"/>
          <a:stretch>
            <a:fillRect/>
          </a:stretch>
        </p:blipFill>
        <p:spPr>
          <a:xfrm>
            <a:off x="548640" y="1600200"/>
            <a:ext cx="3200400" cy="4279392"/>
          </a:xfrm>
          <a:prstGeom prst="roundRect">
            <a:avLst>
              <a:gd name="adj" fmla="val 5000"/>
            </a:avLst>
          </a:prstGeom>
        </p:spPr>
      </p:pic>
      <p:sp>
        <p:nvSpPr>
          <p:cNvPr id="7" name="TextBox 6"/>
          <p:cNvSpPr txBox="1"/>
          <p:nvPr/>
        </p:nvSpPr>
        <p:spPr>
          <a:xfrm>
            <a:off x="548640" y="5943600"/>
            <a:ext cx="3200400" cy="457200"/>
          </a:xfrm>
          <a:prstGeom prst="rect">
            <a:avLst/>
          </a:prstGeom>
          <a:noFill/>
        </p:spPr>
        <p:txBody>
          <a:bodyPr wrap="square" lIns="0" rIns="0" tIns="0" bIns="0" anchor="t">
            <a:spAutoFit/>
          </a:bodyPr>
          <a:lstStyle/>
          <a:p>
            <a:pPr algn="l">
              <a:lnSpc>
                <a:spcPct val="108000"/>
              </a:lnSpc>
              <a:spcAft>
                <a:spcPts val="0"/>
              </a:spcAft>
            </a:pPr>
            <a:r>
              <a:rPr sz="1100" b="0" i="1">
                <a:solidFill>
                  <a:srgbClr val="6B645C"/>
                </a:solidFill>
                <a:latin typeface="Cambria"/>
              </a:rPr>
              <a:t>Vùng núi Shirakami nằm giữa tỉnh Akita và tỉnh Aomori.</a:t>
            </a:r>
          </a:p>
        </p:txBody>
      </p:sp>
      <p:sp>
        <p:nvSpPr>
          <p:cNvPr id="8" name="Rounded Rectangle 7"/>
          <p:cNvSpPr/>
          <p:nvPr/>
        </p:nvSpPr>
        <p:spPr>
          <a:xfrm>
            <a:off x="4114800" y="1600200"/>
            <a:ext cx="7525512" cy="3429000"/>
          </a:xfrm>
          <a:prstGeom prst="roundRect">
            <a:avLst>
              <a:gd name="adj" fmla="val 4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4840" y="1783080"/>
            <a:ext cx="2743200" cy="274320"/>
          </a:xfrm>
          <a:prstGeom prst="rect">
            <a:avLst/>
          </a:prstGeom>
          <a:noFill/>
        </p:spPr>
        <p:txBody>
          <a:bodyPr wrap="square" lIns="0" rIns="0" tIns="0" bIns="0" anchor="t">
            <a:spAutoFit/>
          </a:bodyPr>
          <a:lstStyle/>
          <a:p>
            <a:pPr algn="l">
              <a:lnSpc>
                <a:spcPct val="108000"/>
              </a:lnSpc>
              <a:spcAft>
                <a:spcPts val="0"/>
              </a:spcAft>
            </a:pPr>
            <a:r>
              <a:rPr sz="1200" b="1" i="0" spc="250">
                <a:solidFill>
                  <a:srgbClr val="2C5A73"/>
                </a:solidFill>
                <a:latin typeface="Cambria"/>
              </a:rPr>
              <a:t>GV ĐỌC</a:t>
            </a:r>
          </a:p>
        </p:txBody>
      </p:sp>
      <p:sp>
        <p:nvSpPr>
          <p:cNvPr id="10" name="TextBox 9"/>
          <p:cNvSpPr txBox="1"/>
          <p:nvPr/>
        </p:nvSpPr>
        <p:spPr>
          <a:xfrm>
            <a:off x="4434840" y="2148840"/>
            <a:ext cx="6949440" cy="2834640"/>
          </a:xfrm>
          <a:prstGeom prst="rect">
            <a:avLst/>
          </a:prstGeom>
          <a:noFill/>
        </p:spPr>
        <p:txBody>
          <a:bodyPr wrap="square" lIns="0" rIns="0" tIns="0" bIns="0" anchor="t">
            <a:spAutoFit/>
          </a:bodyPr>
          <a:lstStyle/>
          <a:p>
            <a:pPr algn="l">
              <a:lnSpc>
                <a:spcPct val="112000"/>
              </a:lnSpc>
              <a:spcAft>
                <a:spcPts val="900"/>
              </a:spcAft>
            </a:pPr>
            <a:r>
              <a:rPr sz="1700" b="1" i="0">
                <a:solidFill>
                  <a:srgbClr val="A83349"/>
                </a:solidFill>
                <a:latin typeface="Cambria"/>
              </a:rPr>
              <a:t>Năm 1978</a:t>
            </a:r>
            <a:r>
              <a:rPr sz="1700" b="0" i="0">
                <a:solidFill>
                  <a:srgbClr val="2B211A"/>
                </a:solidFill>
                <a:latin typeface="Cambria"/>
              </a:rPr>
              <a:t>, chính quyền địa phương và các công ty xây dựng lên kế hoạch mở một con đường xuyên qua dãy núi Shirakami, nối tỉnh Akita và tỉnh Aomori: </a:t>
            </a:r>
            <a:r>
              <a:rPr sz="1700" b="1" i="0">
                <a:solidFill>
                  <a:srgbClr val="2B211A"/>
                </a:solidFill>
                <a:latin typeface="Cambria"/>
              </a:rPr>
              <a:t>“Đường rừng xanh Aosei”.</a:t>
            </a:r>
          </a:p>
          <a:p>
            <a:pPr algn="l">
              <a:lnSpc>
                <a:spcPct val="112000"/>
              </a:lnSpc>
              <a:spcAft>
                <a:spcPts val="900"/>
              </a:spcAft>
            </a:pPr>
            <a:r>
              <a:rPr sz="1700" b="0" i="0">
                <a:solidFill>
                  <a:srgbClr val="2B211A"/>
                </a:solidFill>
                <a:latin typeface="Cambria"/>
              </a:rPr>
              <a:t>Con đường được lên kế hoạch để vận chuyển những cây sồi Buna đã bị chặt, đồng thời giúp việc đi lại và buôn bán hàng hóa thuận tiện hơn.</a:t>
            </a:r>
          </a:p>
          <a:p>
            <a:pPr algn="l">
              <a:lnSpc>
                <a:spcPct val="112000"/>
              </a:lnSpc>
              <a:spcAft>
                <a:spcPts val="900"/>
              </a:spcAft>
            </a:pPr>
            <a:r>
              <a:rPr sz="1700" b="0" i="0">
                <a:solidFill>
                  <a:srgbClr val="2B211A"/>
                </a:solidFill>
                <a:latin typeface="Cambria"/>
              </a:rPr>
              <a:t>Việc có đường sẽ giúp di chuyển dễ dàng và buôn bán thuận lợi hơn, đem lại thu nhập cao hơn cho người dân.</a:t>
            </a:r>
          </a:p>
        </p:txBody>
      </p:sp>
      <p:sp>
        <p:nvSpPr>
          <p:cNvPr id="11" name="Rounded Rectangle 10"/>
          <p:cNvSpPr/>
          <p:nvPr/>
        </p:nvSpPr>
        <p:spPr>
          <a:xfrm>
            <a:off x="4114800" y="5212080"/>
            <a:ext cx="7525512" cy="685800"/>
          </a:xfrm>
          <a:prstGeom prst="roundRect">
            <a:avLst>
              <a:gd name="adj" fmla="val 12000"/>
            </a:avLst>
          </a:prstGeom>
          <a:solidFill>
            <a:srgbClr val="FFF3DC"/>
          </a:solidFill>
          <a:ln w="9525">
            <a:solidFill>
              <a:srgbClr val="E8A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5212080"/>
            <a:ext cx="7040880" cy="685800"/>
          </a:xfrm>
          <a:prstGeom prst="rect">
            <a:avLst/>
          </a:prstGeom>
          <a:noFill/>
        </p:spPr>
        <p:txBody>
          <a:bodyPr wrap="square" lIns="0" rIns="0" tIns="0" bIns="0" anchor="ctr">
            <a:spAutoFit/>
          </a:bodyPr>
          <a:lstStyle/>
          <a:p>
            <a:pPr algn="l">
              <a:lnSpc>
                <a:spcPct val="108000"/>
              </a:lnSpc>
              <a:spcAft>
                <a:spcPts val="0"/>
              </a:spcAft>
            </a:pPr>
            <a:r>
              <a:rPr sz="1400" b="1" i="0">
                <a:solidFill>
                  <a:srgbClr val="2B211A"/>
                </a:solidFill>
                <a:latin typeface="Cambria"/>
              </a:rPr>
              <a:t>Rừng Buna: </a:t>
            </a:r>
            <a:r>
              <a:rPr sz="1400" b="0" i="0">
                <a:solidFill>
                  <a:srgbClr val="2B211A"/>
                </a:solidFill>
                <a:latin typeface="Cambria"/>
              </a:rPr>
              <a:t>khu rừng sồi nguyên sinh rất quý giá, tồn tại từ hơn 8.000 năm.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74320"/>
          </a:xfrm>
          <a:prstGeom prst="rect">
            <a:avLst/>
          </a:prstGeom>
          <a:noFill/>
        </p:spPr>
        <p:txBody>
          <a:bodyPr wrap="square" lIns="0" rIns="0" tIns="0" bIns="0" anchor="t">
            <a:spAutoFit/>
          </a:bodyPr>
          <a:lstStyle/>
          <a:p>
            <a:pPr algn="l">
              <a:lnSpc>
                <a:spcPct val="108000"/>
              </a:lnSpc>
              <a:spcAft>
                <a:spcPts val="0"/>
              </a:spcAft>
            </a:pPr>
            <a:r>
              <a:rPr sz="1300" b="1" i="0" spc="200">
                <a:solidFill>
                  <a:srgbClr val="2C5A73"/>
                </a:solidFill>
                <a:latin typeface="Cambria"/>
              </a:rPr>
              <a:t>CHẶNG 1  ·  DỪNG LẠI ĐỂ NGHĨ</a:t>
            </a:r>
          </a:p>
        </p:txBody>
      </p:sp>
      <p:sp>
        <p:nvSpPr>
          <p:cNvPr id="3" name="TextBox 2"/>
          <p:cNvSpPr txBox="1"/>
          <p:nvPr/>
        </p:nvSpPr>
        <p:spPr>
          <a:xfrm>
            <a:off x="548640" y="713232"/>
            <a:ext cx="11064240" cy="640080"/>
          </a:xfrm>
          <a:prstGeom prst="rect">
            <a:avLst/>
          </a:prstGeom>
          <a:noFill/>
        </p:spPr>
        <p:txBody>
          <a:bodyPr wrap="square" lIns="0" rIns="0" tIns="0" bIns="0" anchor="t">
            <a:spAutoFit/>
          </a:bodyPr>
          <a:lstStyle/>
          <a:p>
            <a:pPr algn="l">
              <a:lnSpc>
                <a:spcPct val="108000"/>
              </a:lnSpc>
              <a:spcAft>
                <a:spcPts val="0"/>
              </a:spcAft>
            </a:pPr>
            <a:r>
              <a:rPr sz="3200" b="1" i="0">
                <a:solidFill>
                  <a:srgbClr val="2B211A"/>
                </a:solidFill>
                <a:latin typeface="Cambria"/>
              </a:rPr>
              <a:t>Vì sao người ta muốn làm con đường?</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8000"/>
              </a:lnSpc>
              <a:spcAft>
                <a:spcPts val="0"/>
              </a:spcAft>
            </a:pPr>
            <a:r>
              <a:rPr sz="1000" b="0" i="0">
                <a:solidFill>
                  <a:srgbClr val="6B645C"/>
                </a:solidFill>
                <a:latin typeface="Cambria"/>
              </a:rPr>
              <a:t>Đạo đức lớp 5  |  Khu rừng Shirakami  |  40 phút</a:t>
            </a:r>
          </a:p>
        </p:txBody>
      </p:sp>
      <p:sp>
        <p:nvSpPr>
          <p:cNvPr id="5" name="TextBox 4"/>
          <p:cNvSpPr txBox="1"/>
          <p:nvPr/>
        </p:nvSpPr>
        <p:spPr>
          <a:xfrm>
            <a:off x="10698480" y="6473952"/>
            <a:ext cx="941832" cy="228600"/>
          </a:xfrm>
          <a:prstGeom prst="rect">
            <a:avLst/>
          </a:prstGeom>
          <a:noFill/>
        </p:spPr>
        <p:txBody>
          <a:bodyPr wrap="square" lIns="0" rIns="0" tIns="0" bIns="0" anchor="t">
            <a:spAutoFit/>
          </a:bodyPr>
          <a:lstStyle/>
          <a:p>
            <a:pPr algn="r">
              <a:lnSpc>
                <a:spcPct val="108000"/>
              </a:lnSpc>
              <a:spcAft>
                <a:spcPts val="0"/>
              </a:spcAft>
            </a:pPr>
            <a:r>
              <a:rPr sz="1000" b="0" i="0">
                <a:solidFill>
                  <a:srgbClr val="6B645C"/>
                </a:solidFill>
                <a:latin typeface="Cambria"/>
              </a:rPr>
              <a:t>6</a:t>
            </a:r>
          </a:p>
        </p:txBody>
      </p:sp>
      <p:sp>
        <p:nvSpPr>
          <p:cNvPr id="6" name="Rounded Rectangle 5"/>
          <p:cNvSpPr/>
          <p:nvPr/>
        </p:nvSpPr>
        <p:spPr>
          <a:xfrm>
            <a:off x="548640" y="1645920"/>
            <a:ext cx="2926080" cy="4297680"/>
          </a:xfrm>
          <a:prstGeom prst="roundRect">
            <a:avLst>
              <a:gd name="adj" fmla="val 4000"/>
            </a:avLst>
          </a:prstGeom>
          <a:solidFill>
            <a:srgbClr val="2B2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20240"/>
            <a:ext cx="2377440" cy="274320"/>
          </a:xfrm>
          <a:prstGeom prst="rect">
            <a:avLst/>
          </a:prstGeom>
          <a:noFill/>
        </p:spPr>
        <p:txBody>
          <a:bodyPr wrap="square" lIns="0" rIns="0" tIns="0" bIns="0" anchor="t">
            <a:spAutoFit/>
          </a:bodyPr>
          <a:lstStyle/>
          <a:p>
            <a:pPr algn="l">
              <a:lnSpc>
                <a:spcPct val="108000"/>
              </a:lnSpc>
              <a:spcAft>
                <a:spcPts val="0"/>
              </a:spcAft>
            </a:pPr>
            <a:r>
              <a:rPr sz="1400" b="1" i="0" spc="250">
                <a:solidFill>
                  <a:srgbClr val="E8A03A"/>
                </a:solidFill>
                <a:latin typeface="Cambria"/>
              </a:rPr>
              <a:t>THINK TIME</a:t>
            </a:r>
          </a:p>
        </p:txBody>
      </p:sp>
      <p:sp>
        <p:nvSpPr>
          <p:cNvPr id="8" name="TextBox 7"/>
          <p:cNvSpPr txBox="1"/>
          <p:nvPr/>
        </p:nvSpPr>
        <p:spPr>
          <a:xfrm>
            <a:off x="822960" y="2377440"/>
            <a:ext cx="2377440" cy="822960"/>
          </a:xfrm>
          <a:prstGeom prst="rect">
            <a:avLst/>
          </a:prstGeom>
          <a:noFill/>
        </p:spPr>
        <p:txBody>
          <a:bodyPr wrap="square" lIns="0" rIns="0" tIns="0" bIns="0" anchor="t">
            <a:spAutoFit/>
          </a:bodyPr>
          <a:lstStyle/>
          <a:p>
            <a:pPr algn="l">
              <a:lnSpc>
                <a:spcPct val="108000"/>
              </a:lnSpc>
              <a:spcAft>
                <a:spcPts val="0"/>
              </a:spcAft>
            </a:pPr>
            <a:r>
              <a:rPr sz="4400" b="1" i="0">
                <a:solidFill>
                  <a:srgbClr val="FFFFFF"/>
                </a:solidFill>
                <a:latin typeface="Cambria"/>
              </a:rPr>
              <a:t>1 phút</a:t>
            </a:r>
          </a:p>
        </p:txBody>
      </p:sp>
      <p:sp>
        <p:nvSpPr>
          <p:cNvPr id="9" name="TextBox 8"/>
          <p:cNvSpPr txBox="1"/>
          <p:nvPr/>
        </p:nvSpPr>
        <p:spPr>
          <a:xfrm>
            <a:off x="822960" y="3383280"/>
            <a:ext cx="2377440" cy="2377440"/>
          </a:xfrm>
          <a:prstGeom prst="rect">
            <a:avLst/>
          </a:prstGeom>
          <a:noFill/>
        </p:spPr>
        <p:txBody>
          <a:bodyPr wrap="square" lIns="0" rIns="0" tIns="0" bIns="0" anchor="t">
            <a:spAutoFit/>
          </a:bodyPr>
          <a:lstStyle/>
          <a:p>
            <a:pPr algn="l">
              <a:lnSpc>
                <a:spcPct val="115000"/>
              </a:lnSpc>
              <a:spcAft>
                <a:spcPts val="0"/>
              </a:spcAft>
            </a:pPr>
            <a:r>
              <a:rPr sz="1500" b="0" i="0">
                <a:solidFill>
                  <a:srgbClr val="E6DDD2"/>
                </a:solidFill>
                <a:latin typeface="Cambria"/>
              </a:rPr>
              <a:t>Viết hoặc vẽ vào thẻ của em.
Chưa nói chuyện.
Chưa có câu trả lời đúng hay sai.</a:t>
            </a:r>
          </a:p>
        </p:txBody>
      </p:sp>
      <p:sp>
        <p:nvSpPr>
          <p:cNvPr id="10" name="Rounded Rectangle 9"/>
          <p:cNvSpPr/>
          <p:nvPr/>
        </p:nvSpPr>
        <p:spPr>
          <a:xfrm>
            <a:off x="3749039" y="1645920"/>
            <a:ext cx="7891272" cy="2057400"/>
          </a:xfrm>
          <a:prstGeom prst="roundRect">
            <a:avLst>
              <a:gd name="adj" fmla="val 5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749039" y="1828800"/>
            <a:ext cx="82296" cy="1691640"/>
          </a:xfrm>
          <a:prstGeom prst="rect">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69080" y="1801368"/>
            <a:ext cx="2743200" cy="274320"/>
          </a:xfrm>
          <a:prstGeom prst="rect">
            <a:avLst/>
          </a:prstGeom>
          <a:noFill/>
        </p:spPr>
        <p:txBody>
          <a:bodyPr wrap="square" lIns="0" rIns="0" tIns="0" bIns="0" anchor="t">
            <a:spAutoFit/>
          </a:bodyPr>
          <a:lstStyle/>
          <a:p>
            <a:pPr algn="l">
              <a:lnSpc>
                <a:spcPct val="108000"/>
              </a:lnSpc>
              <a:spcAft>
                <a:spcPts val="0"/>
              </a:spcAft>
            </a:pPr>
            <a:r>
              <a:rPr sz="1200" b="1" i="0" spc="200">
                <a:solidFill>
                  <a:srgbClr val="2C5A73"/>
                </a:solidFill>
                <a:latin typeface="Cambria"/>
              </a:rPr>
              <a:t>CÂU HỎI MỞ ĐẦU</a:t>
            </a:r>
          </a:p>
        </p:txBody>
      </p:sp>
      <p:sp>
        <p:nvSpPr>
          <p:cNvPr id="13" name="TextBox 12"/>
          <p:cNvSpPr txBox="1"/>
          <p:nvPr/>
        </p:nvSpPr>
        <p:spPr>
          <a:xfrm>
            <a:off x="4069080" y="2103120"/>
            <a:ext cx="7315200" cy="1508760"/>
          </a:xfrm>
          <a:prstGeom prst="rect">
            <a:avLst/>
          </a:prstGeom>
          <a:noFill/>
        </p:spPr>
        <p:txBody>
          <a:bodyPr wrap="square" lIns="0" rIns="0" tIns="0" bIns="0" anchor="t">
            <a:spAutoFit/>
          </a:bodyPr>
          <a:lstStyle/>
          <a:p>
            <a:pPr algn="l">
              <a:lnSpc>
                <a:spcPct val="112000"/>
              </a:lnSpc>
              <a:spcAft>
                <a:spcPts val="0"/>
              </a:spcAft>
            </a:pPr>
            <a:r>
              <a:rPr sz="2200" b="0" i="1">
                <a:solidFill>
                  <a:srgbClr val="2B211A"/>
                </a:solidFill>
                <a:latin typeface="Cambria"/>
              </a:rPr>
              <a:t>Vì sao chính quyền và các công ty muốn làm con đường này?</a:t>
            </a:r>
          </a:p>
        </p:txBody>
      </p:sp>
      <p:sp>
        <p:nvSpPr>
          <p:cNvPr id="14" name="Rounded Rectangle 13"/>
          <p:cNvSpPr/>
          <p:nvPr/>
        </p:nvSpPr>
        <p:spPr>
          <a:xfrm>
            <a:off x="3749039" y="3886200"/>
            <a:ext cx="7891272" cy="2057400"/>
          </a:xfrm>
          <a:prstGeom prst="roundRect">
            <a:avLst>
              <a:gd name="adj" fmla="val 5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749039" y="4069080"/>
            <a:ext cx="82296" cy="1691640"/>
          </a:xfrm>
          <a:prstGeom prst="rect">
            <a:avLst/>
          </a:prstGeom>
          <a:solidFill>
            <a:srgbClr val="A83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69080" y="4041648"/>
            <a:ext cx="2743200" cy="274320"/>
          </a:xfrm>
          <a:prstGeom prst="rect">
            <a:avLst/>
          </a:prstGeom>
          <a:noFill/>
        </p:spPr>
        <p:txBody>
          <a:bodyPr wrap="square" lIns="0" rIns="0" tIns="0" bIns="0" anchor="t">
            <a:spAutoFit/>
          </a:bodyPr>
          <a:lstStyle/>
          <a:p>
            <a:pPr algn="l">
              <a:lnSpc>
                <a:spcPct val="108000"/>
              </a:lnSpc>
              <a:spcAft>
                <a:spcPts val="0"/>
              </a:spcAft>
            </a:pPr>
            <a:r>
              <a:rPr sz="1200" b="1" i="0" spc="200">
                <a:solidFill>
                  <a:srgbClr val="A83349"/>
                </a:solidFill>
                <a:latin typeface="Cambria"/>
              </a:rPr>
              <a:t>CÂU HỎI ĐÀO SÂU</a:t>
            </a:r>
          </a:p>
        </p:txBody>
      </p:sp>
      <p:sp>
        <p:nvSpPr>
          <p:cNvPr id="17" name="TextBox 16"/>
          <p:cNvSpPr txBox="1"/>
          <p:nvPr/>
        </p:nvSpPr>
        <p:spPr>
          <a:xfrm>
            <a:off x="4069080" y="4343400"/>
            <a:ext cx="7315200" cy="1508760"/>
          </a:xfrm>
          <a:prstGeom prst="rect">
            <a:avLst/>
          </a:prstGeom>
          <a:noFill/>
        </p:spPr>
        <p:txBody>
          <a:bodyPr wrap="square" lIns="0" rIns="0" tIns="0" bIns="0" anchor="t">
            <a:spAutoFit/>
          </a:bodyPr>
          <a:lstStyle/>
          <a:p>
            <a:pPr algn="l">
              <a:lnSpc>
                <a:spcPct val="112000"/>
              </a:lnSpc>
              <a:spcAft>
                <a:spcPts val="0"/>
              </a:spcAft>
            </a:pPr>
            <a:r>
              <a:rPr sz="2200" b="0" i="1">
                <a:solidFill>
                  <a:srgbClr val="2B211A"/>
                </a:solidFill>
                <a:latin typeface="Cambria"/>
              </a:rPr>
              <a:t>Nếu em là người dân sống ở vùng núi này, em có mong muốn có con đường không? Vì sao?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74320"/>
          </a:xfrm>
          <a:prstGeom prst="rect">
            <a:avLst/>
          </a:prstGeom>
          <a:noFill/>
        </p:spPr>
        <p:txBody>
          <a:bodyPr wrap="square" lIns="0" rIns="0" tIns="0" bIns="0" anchor="t">
            <a:spAutoFit/>
          </a:bodyPr>
          <a:lstStyle/>
          <a:p>
            <a:pPr algn="l">
              <a:lnSpc>
                <a:spcPct val="108000"/>
              </a:lnSpc>
              <a:spcAft>
                <a:spcPts val="0"/>
              </a:spcAft>
            </a:pPr>
            <a:r>
              <a:rPr sz="1300" b="1" i="0" spc="200">
                <a:solidFill>
                  <a:srgbClr val="2C5A73"/>
                </a:solidFill>
                <a:latin typeface="Cambria"/>
              </a:rPr>
              <a:t>CHẶNG 2  ·  ĐỌC VÀ DỪNG  ·  5 PHÚT</a:t>
            </a:r>
          </a:p>
        </p:txBody>
      </p:sp>
      <p:sp>
        <p:nvSpPr>
          <p:cNvPr id="3" name="TextBox 2"/>
          <p:cNvSpPr txBox="1"/>
          <p:nvPr/>
        </p:nvSpPr>
        <p:spPr>
          <a:xfrm>
            <a:off x="548640" y="713232"/>
            <a:ext cx="11064240" cy="640080"/>
          </a:xfrm>
          <a:prstGeom prst="rect">
            <a:avLst/>
          </a:prstGeom>
          <a:noFill/>
        </p:spPr>
        <p:txBody>
          <a:bodyPr wrap="square" lIns="0" rIns="0" tIns="0" bIns="0" anchor="t">
            <a:spAutoFit/>
          </a:bodyPr>
          <a:lstStyle/>
          <a:p>
            <a:pPr algn="l">
              <a:lnSpc>
                <a:spcPct val="108000"/>
              </a:lnSpc>
              <a:spcAft>
                <a:spcPts val="0"/>
              </a:spcAft>
            </a:pPr>
            <a:r>
              <a:rPr sz="3200" b="1" i="0">
                <a:solidFill>
                  <a:srgbClr val="2B211A"/>
                </a:solidFill>
                <a:latin typeface="Cambria"/>
              </a:rPr>
              <a:t>Những dấu hiệu bất thường</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8000"/>
              </a:lnSpc>
              <a:spcAft>
                <a:spcPts val="0"/>
              </a:spcAft>
            </a:pPr>
            <a:r>
              <a:rPr sz="1000" b="0" i="0">
                <a:solidFill>
                  <a:srgbClr val="6B645C"/>
                </a:solidFill>
                <a:latin typeface="Cambria"/>
              </a:rPr>
              <a:t>Đạo đức lớp 5  |  Khu rừng Shirakami  |  40 phút</a:t>
            </a:r>
          </a:p>
        </p:txBody>
      </p:sp>
      <p:sp>
        <p:nvSpPr>
          <p:cNvPr id="5" name="TextBox 4"/>
          <p:cNvSpPr txBox="1"/>
          <p:nvPr/>
        </p:nvSpPr>
        <p:spPr>
          <a:xfrm>
            <a:off x="10698480" y="6473952"/>
            <a:ext cx="941832" cy="228600"/>
          </a:xfrm>
          <a:prstGeom prst="rect">
            <a:avLst/>
          </a:prstGeom>
          <a:noFill/>
        </p:spPr>
        <p:txBody>
          <a:bodyPr wrap="square" lIns="0" rIns="0" tIns="0" bIns="0" anchor="t">
            <a:spAutoFit/>
          </a:bodyPr>
          <a:lstStyle/>
          <a:p>
            <a:pPr algn="r">
              <a:lnSpc>
                <a:spcPct val="108000"/>
              </a:lnSpc>
              <a:spcAft>
                <a:spcPts val="0"/>
              </a:spcAft>
            </a:pPr>
            <a:r>
              <a:rPr sz="1000" b="0" i="0">
                <a:solidFill>
                  <a:srgbClr val="6B645C"/>
                </a:solidFill>
                <a:latin typeface="Cambria"/>
              </a:rPr>
              <a:t>7</a:t>
            </a:r>
          </a:p>
        </p:txBody>
      </p:sp>
      <p:sp>
        <p:nvSpPr>
          <p:cNvPr id="6" name="TextBox 5"/>
          <p:cNvSpPr txBox="1"/>
          <p:nvPr/>
        </p:nvSpPr>
        <p:spPr>
          <a:xfrm>
            <a:off x="548640" y="1463040"/>
            <a:ext cx="11064240" cy="731520"/>
          </a:xfrm>
          <a:prstGeom prst="rect">
            <a:avLst/>
          </a:prstGeom>
          <a:noFill/>
        </p:spPr>
        <p:txBody>
          <a:bodyPr wrap="square" lIns="0" rIns="0" tIns="0" bIns="0" anchor="t">
            <a:spAutoFit/>
          </a:bodyPr>
          <a:lstStyle/>
          <a:p>
            <a:pPr algn="l">
              <a:lnSpc>
                <a:spcPct val="112000"/>
              </a:lnSpc>
              <a:spcAft>
                <a:spcPts val="0"/>
              </a:spcAft>
            </a:pPr>
            <a:r>
              <a:rPr sz="1900" b="0" i="1">
                <a:solidFill>
                  <a:srgbClr val="6B645C"/>
                </a:solidFill>
                <a:latin typeface="Cambria"/>
              </a:rPr>
              <a:t>Thậm chí ngay từ khi kế hoạch chặt cây bắt đầu, người dân đã nhận thấy những dấu hiệu bất thường:</a:t>
            </a:r>
          </a:p>
        </p:txBody>
      </p:sp>
      <p:sp>
        <p:nvSpPr>
          <p:cNvPr id="7" name="Rounded Rectangle 6"/>
          <p:cNvSpPr/>
          <p:nvPr/>
        </p:nvSpPr>
        <p:spPr>
          <a:xfrm>
            <a:off x="548640" y="2377440"/>
            <a:ext cx="2606040" cy="2468880"/>
          </a:xfrm>
          <a:prstGeom prst="roundRect">
            <a:avLst>
              <a:gd name="adj" fmla="val 5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377440"/>
            <a:ext cx="2606040" cy="146304"/>
          </a:xfrm>
          <a:prstGeom prst="rect">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77240" y="2743200"/>
            <a:ext cx="548640" cy="548640"/>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1</a:t>
            </a:r>
          </a:p>
        </p:txBody>
      </p:sp>
      <p:sp>
        <p:nvSpPr>
          <p:cNvPr id="10" name="TextBox 9"/>
          <p:cNvSpPr txBox="1"/>
          <p:nvPr/>
        </p:nvSpPr>
        <p:spPr>
          <a:xfrm>
            <a:off x="1463040" y="2788920"/>
            <a:ext cx="1554480" cy="457200"/>
          </a:xfrm>
          <a:prstGeom prst="rect">
            <a:avLst/>
          </a:prstGeom>
          <a:noFill/>
        </p:spPr>
        <p:txBody>
          <a:bodyPr wrap="square" lIns="0" rIns="0" tIns="0" bIns="0" anchor="ctr">
            <a:spAutoFit/>
          </a:bodyPr>
          <a:lstStyle/>
          <a:p>
            <a:pPr algn="l">
              <a:lnSpc>
                <a:spcPct val="108000"/>
              </a:lnSpc>
              <a:spcAft>
                <a:spcPts val="0"/>
              </a:spcAft>
            </a:pPr>
            <a:r>
              <a:rPr sz="1500" b="1" i="0">
                <a:solidFill>
                  <a:srgbClr val="2B211A"/>
                </a:solidFill>
                <a:latin typeface="Cambria"/>
              </a:rPr>
              <a:t>Mực nước</a:t>
            </a:r>
          </a:p>
        </p:txBody>
      </p:sp>
      <p:sp>
        <p:nvSpPr>
          <p:cNvPr id="11" name="TextBox 10"/>
          <p:cNvSpPr txBox="1"/>
          <p:nvPr/>
        </p:nvSpPr>
        <p:spPr>
          <a:xfrm>
            <a:off x="777240" y="3474720"/>
            <a:ext cx="2194560" cy="1280160"/>
          </a:xfrm>
          <a:prstGeom prst="rect">
            <a:avLst/>
          </a:prstGeom>
          <a:noFill/>
        </p:spPr>
        <p:txBody>
          <a:bodyPr wrap="square" lIns="0" rIns="0" tIns="0" bIns="0" anchor="t">
            <a:spAutoFit/>
          </a:bodyPr>
          <a:lstStyle/>
          <a:p>
            <a:pPr algn="l">
              <a:lnSpc>
                <a:spcPct val="110000"/>
              </a:lnSpc>
              <a:spcAft>
                <a:spcPts val="0"/>
              </a:spcAft>
            </a:pPr>
            <a:r>
              <a:rPr sz="1450" b="0" i="0">
                <a:solidFill>
                  <a:srgbClr val="2B211A"/>
                </a:solidFill>
                <a:latin typeface="Cambria"/>
              </a:rPr>
              <a:t>Mực nước trong các con sông giảm.</a:t>
            </a:r>
          </a:p>
        </p:txBody>
      </p:sp>
      <p:sp>
        <p:nvSpPr>
          <p:cNvPr id="12" name="Rounded Rectangle 11"/>
          <p:cNvSpPr/>
          <p:nvPr/>
        </p:nvSpPr>
        <p:spPr>
          <a:xfrm>
            <a:off x="3374136" y="2377440"/>
            <a:ext cx="2606040" cy="2468880"/>
          </a:xfrm>
          <a:prstGeom prst="roundRect">
            <a:avLst>
              <a:gd name="adj" fmla="val 5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74136" y="2377440"/>
            <a:ext cx="2606040" cy="146304"/>
          </a:xfrm>
          <a:prstGeom prst="rect">
            <a:avLst/>
          </a:prstGeom>
          <a:solidFill>
            <a:srgbClr val="3E7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02736" y="2743200"/>
            <a:ext cx="548640" cy="548640"/>
          </a:xfrm>
          <a:prstGeom prst="ellipse">
            <a:avLst/>
          </a:prstGeom>
          <a:solidFill>
            <a:srgbClr val="3E78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2</a:t>
            </a:r>
          </a:p>
        </p:txBody>
      </p:sp>
      <p:sp>
        <p:nvSpPr>
          <p:cNvPr id="15" name="TextBox 14"/>
          <p:cNvSpPr txBox="1"/>
          <p:nvPr/>
        </p:nvSpPr>
        <p:spPr>
          <a:xfrm>
            <a:off x="4288536" y="2788920"/>
            <a:ext cx="1554480" cy="457200"/>
          </a:xfrm>
          <a:prstGeom prst="rect">
            <a:avLst/>
          </a:prstGeom>
          <a:noFill/>
        </p:spPr>
        <p:txBody>
          <a:bodyPr wrap="square" lIns="0" rIns="0" tIns="0" bIns="0" anchor="ctr">
            <a:spAutoFit/>
          </a:bodyPr>
          <a:lstStyle/>
          <a:p>
            <a:pPr algn="l">
              <a:lnSpc>
                <a:spcPct val="108000"/>
              </a:lnSpc>
              <a:spcAft>
                <a:spcPts val="0"/>
              </a:spcAft>
            </a:pPr>
            <a:r>
              <a:rPr sz="1500" b="1" i="0">
                <a:solidFill>
                  <a:srgbClr val="2B211A"/>
                </a:solidFill>
                <a:latin typeface="Cambria"/>
              </a:rPr>
              <a:t>Nước tưới</a:t>
            </a:r>
          </a:p>
        </p:txBody>
      </p:sp>
      <p:sp>
        <p:nvSpPr>
          <p:cNvPr id="16" name="TextBox 15"/>
          <p:cNvSpPr txBox="1"/>
          <p:nvPr/>
        </p:nvSpPr>
        <p:spPr>
          <a:xfrm>
            <a:off x="3602736" y="3474720"/>
            <a:ext cx="2194560" cy="1280160"/>
          </a:xfrm>
          <a:prstGeom prst="rect">
            <a:avLst/>
          </a:prstGeom>
          <a:noFill/>
        </p:spPr>
        <p:txBody>
          <a:bodyPr wrap="square" lIns="0" rIns="0" tIns="0" bIns="0" anchor="t">
            <a:spAutoFit/>
          </a:bodyPr>
          <a:lstStyle/>
          <a:p>
            <a:pPr algn="l">
              <a:lnSpc>
                <a:spcPct val="110000"/>
              </a:lnSpc>
              <a:spcAft>
                <a:spcPts val="0"/>
              </a:spcAft>
            </a:pPr>
            <a:r>
              <a:rPr sz="1450" b="0" i="0">
                <a:solidFill>
                  <a:srgbClr val="2B211A"/>
                </a:solidFill>
                <a:latin typeface="Cambria"/>
              </a:rPr>
              <a:t>Nước tưới tiêu cho nông nghiệp không đủ.</a:t>
            </a:r>
          </a:p>
        </p:txBody>
      </p:sp>
      <p:sp>
        <p:nvSpPr>
          <p:cNvPr id="17" name="Rounded Rectangle 16"/>
          <p:cNvSpPr/>
          <p:nvPr/>
        </p:nvSpPr>
        <p:spPr>
          <a:xfrm>
            <a:off x="6199631" y="2377440"/>
            <a:ext cx="2606040" cy="2468880"/>
          </a:xfrm>
          <a:prstGeom prst="roundRect">
            <a:avLst>
              <a:gd name="adj" fmla="val 5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99631" y="2377440"/>
            <a:ext cx="2606040" cy="146304"/>
          </a:xfrm>
          <a:prstGeom prst="rect">
            <a:avLst/>
          </a:prstGeom>
          <a:solidFill>
            <a:srgbClr val="A83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28231" y="2743200"/>
            <a:ext cx="548640" cy="548640"/>
          </a:xfrm>
          <a:prstGeom prst="ellipse">
            <a:avLst/>
          </a:prstGeom>
          <a:solidFill>
            <a:srgbClr val="A833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3</a:t>
            </a:r>
          </a:p>
        </p:txBody>
      </p:sp>
      <p:sp>
        <p:nvSpPr>
          <p:cNvPr id="20" name="TextBox 19"/>
          <p:cNvSpPr txBox="1"/>
          <p:nvPr/>
        </p:nvSpPr>
        <p:spPr>
          <a:xfrm>
            <a:off x="7114031" y="2788920"/>
            <a:ext cx="1554480" cy="457200"/>
          </a:xfrm>
          <a:prstGeom prst="rect">
            <a:avLst/>
          </a:prstGeom>
          <a:noFill/>
        </p:spPr>
        <p:txBody>
          <a:bodyPr wrap="square" lIns="0" rIns="0" tIns="0" bIns="0" anchor="ctr">
            <a:spAutoFit/>
          </a:bodyPr>
          <a:lstStyle/>
          <a:p>
            <a:pPr algn="l">
              <a:lnSpc>
                <a:spcPct val="108000"/>
              </a:lnSpc>
              <a:spcAft>
                <a:spcPts val="0"/>
              </a:spcAft>
            </a:pPr>
            <a:r>
              <a:rPr sz="1500" b="1" i="0">
                <a:solidFill>
                  <a:srgbClr val="2B211A"/>
                </a:solidFill>
                <a:latin typeface="Cambria"/>
              </a:rPr>
              <a:t>Lũ lụt</a:t>
            </a:r>
          </a:p>
        </p:txBody>
      </p:sp>
      <p:sp>
        <p:nvSpPr>
          <p:cNvPr id="21" name="TextBox 20"/>
          <p:cNvSpPr txBox="1"/>
          <p:nvPr/>
        </p:nvSpPr>
        <p:spPr>
          <a:xfrm>
            <a:off x="6428231" y="3474720"/>
            <a:ext cx="2194560" cy="1280160"/>
          </a:xfrm>
          <a:prstGeom prst="rect">
            <a:avLst/>
          </a:prstGeom>
          <a:noFill/>
        </p:spPr>
        <p:txBody>
          <a:bodyPr wrap="square" lIns="0" rIns="0" tIns="0" bIns="0" anchor="t">
            <a:spAutoFit/>
          </a:bodyPr>
          <a:lstStyle/>
          <a:p>
            <a:pPr algn="l">
              <a:lnSpc>
                <a:spcPct val="110000"/>
              </a:lnSpc>
              <a:spcAft>
                <a:spcPts val="0"/>
              </a:spcAft>
            </a:pPr>
            <a:r>
              <a:rPr sz="1450" b="0" i="0">
                <a:solidFill>
                  <a:srgbClr val="2B211A"/>
                </a:solidFill>
                <a:latin typeface="Cambria"/>
              </a:rPr>
              <a:t>Khi có mưa lớn, nước tràn ra gây lũ lụt.</a:t>
            </a:r>
          </a:p>
        </p:txBody>
      </p:sp>
      <p:sp>
        <p:nvSpPr>
          <p:cNvPr id="22" name="Rounded Rectangle 21"/>
          <p:cNvSpPr/>
          <p:nvPr/>
        </p:nvSpPr>
        <p:spPr>
          <a:xfrm>
            <a:off x="9025128" y="2377440"/>
            <a:ext cx="2606040" cy="2468880"/>
          </a:xfrm>
          <a:prstGeom prst="roundRect">
            <a:avLst>
              <a:gd name="adj" fmla="val 5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25128" y="2377440"/>
            <a:ext cx="2606040" cy="146304"/>
          </a:xfrm>
          <a:prstGeom prst="rect">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253728" y="2743200"/>
            <a:ext cx="548640" cy="548640"/>
          </a:xfrm>
          <a:prstGeom prst="ellipse">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4</a:t>
            </a:r>
          </a:p>
        </p:txBody>
      </p:sp>
      <p:sp>
        <p:nvSpPr>
          <p:cNvPr id="25" name="TextBox 24"/>
          <p:cNvSpPr txBox="1"/>
          <p:nvPr/>
        </p:nvSpPr>
        <p:spPr>
          <a:xfrm>
            <a:off x="9939528" y="2788920"/>
            <a:ext cx="1554480" cy="457200"/>
          </a:xfrm>
          <a:prstGeom prst="rect">
            <a:avLst/>
          </a:prstGeom>
          <a:noFill/>
        </p:spPr>
        <p:txBody>
          <a:bodyPr wrap="square" lIns="0" rIns="0" tIns="0" bIns="0" anchor="ctr">
            <a:spAutoFit/>
          </a:bodyPr>
          <a:lstStyle/>
          <a:p>
            <a:pPr algn="l">
              <a:lnSpc>
                <a:spcPct val="108000"/>
              </a:lnSpc>
              <a:spcAft>
                <a:spcPts val="0"/>
              </a:spcAft>
            </a:pPr>
            <a:r>
              <a:rPr sz="1500" b="1" i="0">
                <a:solidFill>
                  <a:srgbClr val="2B211A"/>
                </a:solidFill>
                <a:latin typeface="Cambria"/>
              </a:rPr>
              <a:t>Cá hatahata</a:t>
            </a:r>
          </a:p>
        </p:txBody>
      </p:sp>
      <p:sp>
        <p:nvSpPr>
          <p:cNvPr id="26" name="TextBox 25"/>
          <p:cNvSpPr txBox="1"/>
          <p:nvPr/>
        </p:nvSpPr>
        <p:spPr>
          <a:xfrm>
            <a:off x="9253728" y="3474720"/>
            <a:ext cx="2194560" cy="1280160"/>
          </a:xfrm>
          <a:prstGeom prst="rect">
            <a:avLst/>
          </a:prstGeom>
          <a:noFill/>
        </p:spPr>
        <p:txBody>
          <a:bodyPr wrap="square" lIns="0" rIns="0" tIns="0" bIns="0" anchor="t">
            <a:spAutoFit/>
          </a:bodyPr>
          <a:lstStyle/>
          <a:p>
            <a:pPr algn="l">
              <a:lnSpc>
                <a:spcPct val="110000"/>
              </a:lnSpc>
              <a:spcAft>
                <a:spcPts val="0"/>
              </a:spcAft>
            </a:pPr>
            <a:r>
              <a:rPr sz="1450" b="0" i="0">
                <a:solidFill>
                  <a:srgbClr val="2B211A"/>
                </a:solidFill>
                <a:latin typeface="Cambria"/>
              </a:rPr>
              <a:t>Số lượng cá hatahata – loài cá nhỏ sống ở vùng biển lạnh, đặc sản của Hachimori – cũng ít dần đi.</a:t>
            </a:r>
          </a:p>
        </p:txBody>
      </p:sp>
      <p:sp>
        <p:nvSpPr>
          <p:cNvPr id="27" name="Rounded Rectangle 26"/>
          <p:cNvSpPr/>
          <p:nvPr/>
        </p:nvSpPr>
        <p:spPr>
          <a:xfrm>
            <a:off x="548640" y="5166360"/>
            <a:ext cx="11091672" cy="914400"/>
          </a:xfrm>
          <a:prstGeom prst="roundRect">
            <a:avLst>
              <a:gd name="adj" fmla="val 10000"/>
            </a:avLst>
          </a:prstGeom>
          <a:solidFill>
            <a:srgbClr val="2B2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5166360"/>
            <a:ext cx="11091672" cy="914400"/>
          </a:xfrm>
          <a:prstGeom prst="rect">
            <a:avLst/>
          </a:prstGeom>
          <a:noFill/>
        </p:spPr>
        <p:txBody>
          <a:bodyPr wrap="square" lIns="0" rIns="0" tIns="0" bIns="0" anchor="ctr">
            <a:spAutoFit/>
          </a:bodyPr>
          <a:lstStyle/>
          <a:p>
            <a:pPr algn="ctr">
              <a:lnSpc>
                <a:spcPct val="108000"/>
              </a:lnSpc>
              <a:spcAft>
                <a:spcPts val="0"/>
              </a:spcAft>
            </a:pPr>
            <a:r>
              <a:rPr sz="2600" b="1" i="0">
                <a:solidFill>
                  <a:srgbClr val="E8A03A"/>
                </a:solidFill>
                <a:latin typeface="Cambria"/>
              </a:rPr>
              <a:t>Chuyện gì đang xảy ra với vùng đất này?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74320"/>
          </a:xfrm>
          <a:prstGeom prst="rect">
            <a:avLst/>
          </a:prstGeom>
          <a:noFill/>
        </p:spPr>
        <p:txBody>
          <a:bodyPr wrap="square" lIns="0" rIns="0" tIns="0" bIns="0" anchor="t">
            <a:spAutoFit/>
          </a:bodyPr>
          <a:lstStyle/>
          <a:p>
            <a:pPr algn="l">
              <a:lnSpc>
                <a:spcPct val="108000"/>
              </a:lnSpc>
              <a:spcAft>
                <a:spcPts val="0"/>
              </a:spcAft>
            </a:pPr>
            <a:r>
              <a:rPr sz="1300" b="1" i="0" spc="200">
                <a:solidFill>
                  <a:srgbClr val="2C5A73"/>
                </a:solidFill>
                <a:latin typeface="Cambria"/>
              </a:rPr>
              <a:t>CHẶNG 2  ·  DỪNG LẠI ĐỂ NGHĨ</a:t>
            </a:r>
          </a:p>
        </p:txBody>
      </p:sp>
      <p:sp>
        <p:nvSpPr>
          <p:cNvPr id="3" name="TextBox 2"/>
          <p:cNvSpPr txBox="1"/>
          <p:nvPr/>
        </p:nvSpPr>
        <p:spPr>
          <a:xfrm>
            <a:off x="548640" y="713232"/>
            <a:ext cx="11064240" cy="640080"/>
          </a:xfrm>
          <a:prstGeom prst="rect">
            <a:avLst/>
          </a:prstGeom>
          <a:noFill/>
        </p:spPr>
        <p:txBody>
          <a:bodyPr wrap="square" lIns="0" rIns="0" tIns="0" bIns="0" anchor="t">
            <a:spAutoFit/>
          </a:bodyPr>
          <a:lstStyle/>
          <a:p>
            <a:pPr algn="l">
              <a:lnSpc>
                <a:spcPct val="108000"/>
              </a:lnSpc>
              <a:spcAft>
                <a:spcPts val="0"/>
              </a:spcAft>
            </a:pPr>
            <a:r>
              <a:rPr sz="3200" b="1" i="0">
                <a:solidFill>
                  <a:srgbClr val="2B211A"/>
                </a:solidFill>
                <a:latin typeface="Cambria"/>
              </a:rPr>
              <a:t>Nếu em là người dân…</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8000"/>
              </a:lnSpc>
              <a:spcAft>
                <a:spcPts val="0"/>
              </a:spcAft>
            </a:pPr>
            <a:r>
              <a:rPr sz="1000" b="0" i="0">
                <a:solidFill>
                  <a:srgbClr val="6B645C"/>
                </a:solidFill>
                <a:latin typeface="Cambria"/>
              </a:rPr>
              <a:t>Đạo đức lớp 5  |  Khu rừng Shirakami  |  40 phút</a:t>
            </a:r>
          </a:p>
        </p:txBody>
      </p:sp>
      <p:sp>
        <p:nvSpPr>
          <p:cNvPr id="5" name="TextBox 4"/>
          <p:cNvSpPr txBox="1"/>
          <p:nvPr/>
        </p:nvSpPr>
        <p:spPr>
          <a:xfrm>
            <a:off x="10698480" y="6473952"/>
            <a:ext cx="941832" cy="228600"/>
          </a:xfrm>
          <a:prstGeom prst="rect">
            <a:avLst/>
          </a:prstGeom>
          <a:noFill/>
        </p:spPr>
        <p:txBody>
          <a:bodyPr wrap="square" lIns="0" rIns="0" tIns="0" bIns="0" anchor="t">
            <a:spAutoFit/>
          </a:bodyPr>
          <a:lstStyle/>
          <a:p>
            <a:pPr algn="r">
              <a:lnSpc>
                <a:spcPct val="108000"/>
              </a:lnSpc>
              <a:spcAft>
                <a:spcPts val="0"/>
              </a:spcAft>
            </a:pPr>
            <a:r>
              <a:rPr sz="1000" b="0" i="0">
                <a:solidFill>
                  <a:srgbClr val="6B645C"/>
                </a:solidFill>
                <a:latin typeface="Cambria"/>
              </a:rPr>
              <a:t>8</a:t>
            </a:r>
          </a:p>
        </p:txBody>
      </p:sp>
      <p:sp>
        <p:nvSpPr>
          <p:cNvPr id="6" name="Rounded Rectangle 5"/>
          <p:cNvSpPr/>
          <p:nvPr/>
        </p:nvSpPr>
        <p:spPr>
          <a:xfrm>
            <a:off x="548640" y="1645920"/>
            <a:ext cx="2926080" cy="4297680"/>
          </a:xfrm>
          <a:prstGeom prst="roundRect">
            <a:avLst>
              <a:gd name="adj" fmla="val 4000"/>
            </a:avLst>
          </a:prstGeom>
          <a:solidFill>
            <a:srgbClr val="2B2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20240"/>
            <a:ext cx="2377440" cy="274320"/>
          </a:xfrm>
          <a:prstGeom prst="rect">
            <a:avLst/>
          </a:prstGeom>
          <a:noFill/>
        </p:spPr>
        <p:txBody>
          <a:bodyPr wrap="square" lIns="0" rIns="0" tIns="0" bIns="0" anchor="t">
            <a:spAutoFit/>
          </a:bodyPr>
          <a:lstStyle/>
          <a:p>
            <a:pPr algn="l">
              <a:lnSpc>
                <a:spcPct val="108000"/>
              </a:lnSpc>
              <a:spcAft>
                <a:spcPts val="0"/>
              </a:spcAft>
            </a:pPr>
            <a:r>
              <a:rPr sz="1400" b="1" i="0" spc="250">
                <a:solidFill>
                  <a:srgbClr val="E8A03A"/>
                </a:solidFill>
                <a:latin typeface="Cambria"/>
              </a:rPr>
              <a:t>THINK TIME</a:t>
            </a:r>
          </a:p>
        </p:txBody>
      </p:sp>
      <p:sp>
        <p:nvSpPr>
          <p:cNvPr id="8" name="TextBox 7"/>
          <p:cNvSpPr txBox="1"/>
          <p:nvPr/>
        </p:nvSpPr>
        <p:spPr>
          <a:xfrm>
            <a:off x="822960" y="2377440"/>
            <a:ext cx="2377440" cy="822960"/>
          </a:xfrm>
          <a:prstGeom prst="rect">
            <a:avLst/>
          </a:prstGeom>
          <a:noFill/>
        </p:spPr>
        <p:txBody>
          <a:bodyPr wrap="square" lIns="0" rIns="0" tIns="0" bIns="0" anchor="t">
            <a:spAutoFit/>
          </a:bodyPr>
          <a:lstStyle/>
          <a:p>
            <a:pPr algn="l">
              <a:lnSpc>
                <a:spcPct val="108000"/>
              </a:lnSpc>
              <a:spcAft>
                <a:spcPts val="0"/>
              </a:spcAft>
            </a:pPr>
            <a:r>
              <a:rPr sz="4400" b="1" i="0">
                <a:solidFill>
                  <a:srgbClr val="FFFFFF"/>
                </a:solidFill>
                <a:latin typeface="Cambria"/>
              </a:rPr>
              <a:t>1 phút</a:t>
            </a:r>
          </a:p>
        </p:txBody>
      </p:sp>
      <p:sp>
        <p:nvSpPr>
          <p:cNvPr id="9" name="TextBox 8"/>
          <p:cNvSpPr txBox="1"/>
          <p:nvPr/>
        </p:nvSpPr>
        <p:spPr>
          <a:xfrm>
            <a:off x="822960" y="3383280"/>
            <a:ext cx="2377440" cy="2377440"/>
          </a:xfrm>
          <a:prstGeom prst="rect">
            <a:avLst/>
          </a:prstGeom>
          <a:noFill/>
        </p:spPr>
        <p:txBody>
          <a:bodyPr wrap="square" lIns="0" rIns="0" tIns="0" bIns="0" anchor="t">
            <a:spAutoFit/>
          </a:bodyPr>
          <a:lstStyle/>
          <a:p>
            <a:pPr algn="l">
              <a:lnSpc>
                <a:spcPct val="115000"/>
              </a:lnSpc>
              <a:spcAft>
                <a:spcPts val="0"/>
              </a:spcAft>
            </a:pPr>
            <a:r>
              <a:rPr sz="1500" b="0" i="0">
                <a:solidFill>
                  <a:srgbClr val="E6DDD2"/>
                </a:solidFill>
                <a:latin typeface="Cambria"/>
              </a:rPr>
              <a:t>Viết hoặc vẽ vào thẻ của em.
Có thể có nhiều cách trả lời khác nhau – các cách đều được lắng nghe.</a:t>
            </a:r>
          </a:p>
        </p:txBody>
      </p:sp>
      <p:sp>
        <p:nvSpPr>
          <p:cNvPr id="10" name="Rounded Rectangle 9"/>
          <p:cNvSpPr/>
          <p:nvPr/>
        </p:nvSpPr>
        <p:spPr>
          <a:xfrm>
            <a:off x="3749039" y="1645920"/>
            <a:ext cx="7891272" cy="2057400"/>
          </a:xfrm>
          <a:prstGeom prst="roundRect">
            <a:avLst>
              <a:gd name="adj" fmla="val 5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749039" y="1828800"/>
            <a:ext cx="82296" cy="1691640"/>
          </a:xfrm>
          <a:prstGeom prst="rect">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69080" y="1801368"/>
            <a:ext cx="2743200" cy="274320"/>
          </a:xfrm>
          <a:prstGeom prst="rect">
            <a:avLst/>
          </a:prstGeom>
          <a:noFill/>
        </p:spPr>
        <p:txBody>
          <a:bodyPr wrap="square" lIns="0" rIns="0" tIns="0" bIns="0" anchor="t">
            <a:spAutoFit/>
          </a:bodyPr>
          <a:lstStyle/>
          <a:p>
            <a:pPr algn="l">
              <a:lnSpc>
                <a:spcPct val="108000"/>
              </a:lnSpc>
              <a:spcAft>
                <a:spcPts val="0"/>
              </a:spcAft>
            </a:pPr>
            <a:r>
              <a:rPr sz="1200" b="1" i="0" spc="200">
                <a:solidFill>
                  <a:srgbClr val="2C5A73"/>
                </a:solidFill>
                <a:latin typeface="Cambria"/>
              </a:rPr>
              <a:t>CÂU HỎI MỞ ĐẦU</a:t>
            </a:r>
          </a:p>
        </p:txBody>
      </p:sp>
      <p:sp>
        <p:nvSpPr>
          <p:cNvPr id="13" name="TextBox 12"/>
          <p:cNvSpPr txBox="1"/>
          <p:nvPr/>
        </p:nvSpPr>
        <p:spPr>
          <a:xfrm>
            <a:off x="4069080" y="2103120"/>
            <a:ext cx="7315200" cy="1508760"/>
          </a:xfrm>
          <a:prstGeom prst="rect">
            <a:avLst/>
          </a:prstGeom>
          <a:noFill/>
        </p:spPr>
        <p:txBody>
          <a:bodyPr wrap="square" lIns="0" rIns="0" tIns="0" bIns="0" anchor="t">
            <a:spAutoFit/>
          </a:bodyPr>
          <a:lstStyle/>
          <a:p>
            <a:pPr algn="l">
              <a:lnSpc>
                <a:spcPct val="112000"/>
              </a:lnSpc>
              <a:spcAft>
                <a:spcPts val="0"/>
              </a:spcAft>
            </a:pPr>
            <a:r>
              <a:rPr sz="2200" b="0" i="1">
                <a:solidFill>
                  <a:srgbClr val="2B211A"/>
                </a:solidFill>
                <a:latin typeface="Cambria"/>
              </a:rPr>
              <a:t>Nếu em là người dân, em sẽ làm gì trước những dấu hiệu bất thường này?</a:t>
            </a:r>
          </a:p>
        </p:txBody>
      </p:sp>
      <p:sp>
        <p:nvSpPr>
          <p:cNvPr id="14" name="Rounded Rectangle 13"/>
          <p:cNvSpPr/>
          <p:nvPr/>
        </p:nvSpPr>
        <p:spPr>
          <a:xfrm>
            <a:off x="3749039" y="3886200"/>
            <a:ext cx="7891272" cy="2057400"/>
          </a:xfrm>
          <a:prstGeom prst="roundRect">
            <a:avLst>
              <a:gd name="adj" fmla="val 5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749039" y="4069080"/>
            <a:ext cx="82296" cy="1691640"/>
          </a:xfrm>
          <a:prstGeom prst="rect">
            <a:avLst/>
          </a:prstGeom>
          <a:solidFill>
            <a:srgbClr val="A83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69080" y="4041648"/>
            <a:ext cx="2743200" cy="274320"/>
          </a:xfrm>
          <a:prstGeom prst="rect">
            <a:avLst/>
          </a:prstGeom>
          <a:noFill/>
        </p:spPr>
        <p:txBody>
          <a:bodyPr wrap="square" lIns="0" rIns="0" tIns="0" bIns="0" anchor="t">
            <a:spAutoFit/>
          </a:bodyPr>
          <a:lstStyle/>
          <a:p>
            <a:pPr algn="l">
              <a:lnSpc>
                <a:spcPct val="108000"/>
              </a:lnSpc>
              <a:spcAft>
                <a:spcPts val="0"/>
              </a:spcAft>
            </a:pPr>
            <a:r>
              <a:rPr sz="1200" b="1" i="0" spc="200">
                <a:solidFill>
                  <a:srgbClr val="A83349"/>
                </a:solidFill>
                <a:latin typeface="Cambria"/>
              </a:rPr>
              <a:t>CÂU HỎI ĐÀO SÂU</a:t>
            </a:r>
          </a:p>
        </p:txBody>
      </p:sp>
      <p:sp>
        <p:nvSpPr>
          <p:cNvPr id="17" name="TextBox 16"/>
          <p:cNvSpPr txBox="1"/>
          <p:nvPr/>
        </p:nvSpPr>
        <p:spPr>
          <a:xfrm>
            <a:off x="4069080" y="4343400"/>
            <a:ext cx="7315200" cy="1508760"/>
          </a:xfrm>
          <a:prstGeom prst="rect">
            <a:avLst/>
          </a:prstGeom>
          <a:noFill/>
        </p:spPr>
        <p:txBody>
          <a:bodyPr wrap="square" lIns="0" rIns="0" tIns="0" bIns="0" anchor="t">
            <a:spAutoFit/>
          </a:bodyPr>
          <a:lstStyle/>
          <a:p>
            <a:pPr algn="l">
              <a:lnSpc>
                <a:spcPct val="112000"/>
              </a:lnSpc>
              <a:spcAft>
                <a:spcPts val="0"/>
              </a:spcAft>
            </a:pPr>
            <a:r>
              <a:rPr sz="2200" b="0" i="1">
                <a:solidFill>
                  <a:srgbClr val="2B211A"/>
                </a:solidFill>
                <a:latin typeface="Cambria"/>
              </a:rPr>
              <a:t>Rừng mới bắt đầu bị chặt mà sông lại cạn, cá lại ít đi. Em đoán chúng có liên quan với nhau thế nào?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74320"/>
          </a:xfrm>
          <a:prstGeom prst="rect">
            <a:avLst/>
          </a:prstGeom>
          <a:noFill/>
        </p:spPr>
        <p:txBody>
          <a:bodyPr wrap="square" lIns="0" rIns="0" tIns="0" bIns="0" anchor="t">
            <a:spAutoFit/>
          </a:bodyPr>
          <a:lstStyle/>
          <a:p>
            <a:pPr algn="l">
              <a:lnSpc>
                <a:spcPct val="108000"/>
              </a:lnSpc>
              <a:spcAft>
                <a:spcPts val="0"/>
              </a:spcAft>
            </a:pPr>
            <a:r>
              <a:rPr sz="1300" b="1" i="0" spc="200">
                <a:solidFill>
                  <a:srgbClr val="2C5A73"/>
                </a:solidFill>
                <a:latin typeface="Cambria"/>
              </a:rPr>
              <a:t>CHẶNG 3  ·  ĐỌC VÀ DỪNG  ·  CAO TRÀO</a:t>
            </a:r>
          </a:p>
        </p:txBody>
      </p:sp>
      <p:sp>
        <p:nvSpPr>
          <p:cNvPr id="3" name="TextBox 2"/>
          <p:cNvSpPr txBox="1"/>
          <p:nvPr/>
        </p:nvSpPr>
        <p:spPr>
          <a:xfrm>
            <a:off x="548640" y="713232"/>
            <a:ext cx="11064240" cy="640080"/>
          </a:xfrm>
          <a:prstGeom prst="rect">
            <a:avLst/>
          </a:prstGeom>
          <a:noFill/>
        </p:spPr>
        <p:txBody>
          <a:bodyPr wrap="square" lIns="0" rIns="0" tIns="0" bIns="0" anchor="t">
            <a:spAutoFit/>
          </a:bodyPr>
          <a:lstStyle/>
          <a:p>
            <a:pPr algn="l">
              <a:lnSpc>
                <a:spcPct val="108000"/>
              </a:lnSpc>
              <a:spcAft>
                <a:spcPts val="0"/>
              </a:spcAft>
            </a:pPr>
            <a:r>
              <a:rPr sz="3200" b="1" i="0">
                <a:solidFill>
                  <a:srgbClr val="2B211A"/>
                </a:solidFill>
                <a:latin typeface="Cambria"/>
              </a:rPr>
              <a:t>Tiếng nói của những người sống ở đó</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8000"/>
              </a:lnSpc>
              <a:spcAft>
                <a:spcPts val="0"/>
              </a:spcAft>
            </a:pPr>
            <a:r>
              <a:rPr sz="1000" b="0" i="0">
                <a:solidFill>
                  <a:srgbClr val="6B645C"/>
                </a:solidFill>
                <a:latin typeface="Cambria"/>
              </a:rPr>
              <a:t>Đạo đức lớp 5  |  Khu rừng Shirakami  |  40 phút</a:t>
            </a:r>
          </a:p>
        </p:txBody>
      </p:sp>
      <p:sp>
        <p:nvSpPr>
          <p:cNvPr id="5" name="TextBox 4"/>
          <p:cNvSpPr txBox="1"/>
          <p:nvPr/>
        </p:nvSpPr>
        <p:spPr>
          <a:xfrm>
            <a:off x="10698480" y="6473952"/>
            <a:ext cx="941832" cy="228600"/>
          </a:xfrm>
          <a:prstGeom prst="rect">
            <a:avLst/>
          </a:prstGeom>
          <a:noFill/>
        </p:spPr>
        <p:txBody>
          <a:bodyPr wrap="square" lIns="0" rIns="0" tIns="0" bIns="0" anchor="t">
            <a:spAutoFit/>
          </a:bodyPr>
          <a:lstStyle/>
          <a:p>
            <a:pPr algn="r">
              <a:lnSpc>
                <a:spcPct val="108000"/>
              </a:lnSpc>
              <a:spcAft>
                <a:spcPts val="0"/>
              </a:spcAft>
            </a:pPr>
            <a:r>
              <a:rPr sz="1000" b="0" i="0">
                <a:solidFill>
                  <a:srgbClr val="6B645C"/>
                </a:solidFill>
                <a:latin typeface="Cambria"/>
              </a:rPr>
              <a:t>9</a:t>
            </a:r>
          </a:p>
        </p:txBody>
      </p:sp>
      <p:sp>
        <p:nvSpPr>
          <p:cNvPr id="6" name="TextBox 5"/>
          <p:cNvSpPr txBox="1"/>
          <p:nvPr/>
        </p:nvSpPr>
        <p:spPr>
          <a:xfrm>
            <a:off x="548640" y="1417320"/>
            <a:ext cx="11064240" cy="640080"/>
          </a:xfrm>
          <a:prstGeom prst="rect">
            <a:avLst/>
          </a:prstGeom>
          <a:noFill/>
        </p:spPr>
        <p:txBody>
          <a:bodyPr wrap="square" lIns="0" rIns="0" tIns="0" bIns="0" anchor="t">
            <a:spAutoFit/>
          </a:bodyPr>
          <a:lstStyle/>
          <a:p>
            <a:pPr algn="l">
              <a:lnSpc>
                <a:spcPct val="110000"/>
              </a:lnSpc>
              <a:spcAft>
                <a:spcPts val="0"/>
              </a:spcAft>
            </a:pPr>
            <a:r>
              <a:rPr sz="1600" b="0" i="1">
                <a:solidFill>
                  <a:srgbClr val="6B645C"/>
                </a:solidFill>
                <a:latin typeface="Cambria"/>
              </a:rPr>
              <a:t>Từ lâu, gạo ở vùng Shirakami đã được gọi là “gạo không cần phân bón”, vì chỉ cần tưới bằng nước từ rừng Buna là cây lúa cũng lớn lên khỏe mạnh.</a:t>
            </a:r>
          </a:p>
        </p:txBody>
      </p:sp>
      <p:sp>
        <p:nvSpPr>
          <p:cNvPr id="7" name="Rounded Rectangle 6"/>
          <p:cNvSpPr/>
          <p:nvPr/>
        </p:nvSpPr>
        <p:spPr>
          <a:xfrm>
            <a:off x="548640" y="2194560"/>
            <a:ext cx="5376672" cy="3520440"/>
          </a:xfrm>
          <a:prstGeom prst="roundRect">
            <a:avLst>
              <a:gd name="adj" fmla="val 4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59" y="2423160"/>
            <a:ext cx="3291840" cy="347472"/>
          </a:xfrm>
          <a:prstGeom prst="roundRect">
            <a:avLst>
              <a:gd name="adj" fmla="val 50000"/>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23160"/>
            <a:ext cx="3291840" cy="347472"/>
          </a:xfrm>
          <a:prstGeom prst="rect">
            <a:avLst/>
          </a:prstGeom>
          <a:noFill/>
        </p:spPr>
        <p:txBody>
          <a:bodyPr wrap="square" lIns="0" rIns="0" tIns="0" bIns="0" anchor="ctr">
            <a:spAutoFit/>
          </a:bodyPr>
          <a:lstStyle/>
          <a:p>
            <a:pPr algn="ctr">
              <a:lnSpc>
                <a:spcPct val="108000"/>
              </a:lnSpc>
              <a:spcAft>
                <a:spcPts val="0"/>
              </a:spcAft>
            </a:pPr>
            <a:r>
              <a:rPr sz="1150" b="1" i="0" spc="100">
                <a:solidFill>
                  <a:srgbClr val="FFFFFF"/>
                </a:solidFill>
                <a:latin typeface="Cambria"/>
              </a:rPr>
              <a:t>MỘT BÁC NÔNG DÂN LỚN TUỔI</a:t>
            </a:r>
          </a:p>
        </p:txBody>
      </p:sp>
      <p:sp>
        <p:nvSpPr>
          <p:cNvPr id="10" name="TextBox 9"/>
          <p:cNvSpPr txBox="1"/>
          <p:nvPr/>
        </p:nvSpPr>
        <p:spPr>
          <a:xfrm>
            <a:off x="868680" y="3017520"/>
            <a:ext cx="4754880" cy="2651760"/>
          </a:xfrm>
          <a:prstGeom prst="rect">
            <a:avLst/>
          </a:prstGeom>
          <a:noFill/>
        </p:spPr>
        <p:txBody>
          <a:bodyPr wrap="square" lIns="0" rIns="0" tIns="0" bIns="0" anchor="t">
            <a:spAutoFit/>
          </a:bodyPr>
          <a:lstStyle/>
          <a:p>
            <a:pPr algn="l">
              <a:lnSpc>
                <a:spcPct val="115000"/>
              </a:lnSpc>
              <a:spcAft>
                <a:spcPts val="0"/>
              </a:spcAft>
            </a:pPr>
            <a:r>
              <a:rPr sz="2000" b="0" i="1">
                <a:solidFill>
                  <a:srgbClr val="2B211A"/>
                </a:solidFill>
                <a:latin typeface="Cambria"/>
              </a:rPr>
              <a:t>“Rừng Buna chính là sự sống của chúng tôi. Không có nước thì không thể trồng lúa. Mà nếu rừng Buna biến mất, nước cũng sẽ hết, mà mỗi lần mưa to thì sẽ rất khổ…”</a:t>
            </a:r>
          </a:p>
        </p:txBody>
      </p:sp>
      <p:sp>
        <p:nvSpPr>
          <p:cNvPr id="11" name="Rounded Rectangle 10"/>
          <p:cNvSpPr/>
          <p:nvPr/>
        </p:nvSpPr>
        <p:spPr>
          <a:xfrm>
            <a:off x="6263640" y="2194560"/>
            <a:ext cx="5376672" cy="3520440"/>
          </a:xfrm>
          <a:prstGeom prst="roundRect">
            <a:avLst>
              <a:gd name="adj" fmla="val 4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37959" y="2423160"/>
            <a:ext cx="3291840" cy="347472"/>
          </a:xfrm>
          <a:prstGeom prst="roundRect">
            <a:avLst>
              <a:gd name="adj" fmla="val 50000"/>
            </a:avLst>
          </a:prstGeom>
          <a:solidFill>
            <a:srgbClr val="A83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59" y="2423160"/>
            <a:ext cx="3291840" cy="347472"/>
          </a:xfrm>
          <a:prstGeom prst="rect">
            <a:avLst/>
          </a:prstGeom>
          <a:noFill/>
        </p:spPr>
        <p:txBody>
          <a:bodyPr wrap="square" lIns="0" rIns="0" tIns="0" bIns="0" anchor="ctr">
            <a:spAutoFit/>
          </a:bodyPr>
          <a:lstStyle/>
          <a:p>
            <a:pPr algn="ctr">
              <a:lnSpc>
                <a:spcPct val="108000"/>
              </a:lnSpc>
              <a:spcAft>
                <a:spcPts val="0"/>
              </a:spcAft>
            </a:pPr>
            <a:r>
              <a:rPr sz="1150" b="1" i="0" spc="100">
                <a:solidFill>
                  <a:srgbClr val="FFFFFF"/>
                </a:solidFill>
                <a:latin typeface="Cambria"/>
              </a:rPr>
              <a:t>MỘT BÁC THỢ SĂN MATAGI*</a:t>
            </a:r>
          </a:p>
        </p:txBody>
      </p:sp>
      <p:sp>
        <p:nvSpPr>
          <p:cNvPr id="14" name="TextBox 13"/>
          <p:cNvSpPr txBox="1"/>
          <p:nvPr/>
        </p:nvSpPr>
        <p:spPr>
          <a:xfrm>
            <a:off x="6583679" y="3017520"/>
            <a:ext cx="4754880" cy="2651760"/>
          </a:xfrm>
          <a:prstGeom prst="rect">
            <a:avLst/>
          </a:prstGeom>
          <a:noFill/>
        </p:spPr>
        <p:txBody>
          <a:bodyPr wrap="square" lIns="0" rIns="0" tIns="0" bIns="0" anchor="t">
            <a:spAutoFit/>
          </a:bodyPr>
          <a:lstStyle/>
          <a:p>
            <a:pPr algn="l">
              <a:lnSpc>
                <a:spcPct val="115000"/>
              </a:lnSpc>
              <a:spcAft>
                <a:spcPts val="0"/>
              </a:spcAft>
            </a:pPr>
            <a:r>
              <a:rPr sz="2000" b="0" i="1">
                <a:solidFill>
                  <a:srgbClr val="2B211A"/>
                </a:solidFill>
                <a:latin typeface="Cambria"/>
              </a:rPr>
              <a:t>“Nếu không giữ lại rừng trên núi, người dân sẽ gặp khó khăn. Nếu làm đường và chặt hết cây, khi mưa xuống, nước bẩn sẽ tràn ra, sông sẽ bị đục… Sông mà chết thì cá ayu và các loài khác cũng không thể sống. Cả thú rừng cũng sẽ biến mất…”</a:t>
            </a:r>
          </a:p>
        </p:txBody>
      </p:sp>
      <p:sp>
        <p:nvSpPr>
          <p:cNvPr id="15" name="TextBox 14"/>
          <p:cNvSpPr txBox="1"/>
          <p:nvPr/>
        </p:nvSpPr>
        <p:spPr>
          <a:xfrm>
            <a:off x="548640" y="5852160"/>
            <a:ext cx="11064240" cy="502920"/>
          </a:xfrm>
          <a:prstGeom prst="rect">
            <a:avLst/>
          </a:prstGeom>
          <a:noFill/>
        </p:spPr>
        <p:txBody>
          <a:bodyPr wrap="square" lIns="0" rIns="0" tIns="0" bIns="0" anchor="t">
            <a:spAutoFit/>
          </a:bodyPr>
          <a:lstStyle/>
          <a:p>
            <a:pPr algn="l">
              <a:lnSpc>
                <a:spcPct val="108000"/>
              </a:lnSpc>
              <a:spcAft>
                <a:spcPts val="0"/>
              </a:spcAft>
            </a:pPr>
            <a:r>
              <a:rPr sz="1200" b="0" i="1">
                <a:solidFill>
                  <a:srgbClr val="6B645C"/>
                </a:solidFill>
                <a:latin typeface="Cambria"/>
              </a:rPr>
              <a:t>* Matagi: thợ săn truyền thống lâu đời ở vùng núi phía Bắc Nhật Bản, chuyên săn thú rừng như gấu và hươu theo phong tục cổ.</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74320"/>
          </a:xfrm>
          <a:prstGeom prst="rect">
            <a:avLst/>
          </a:prstGeom>
          <a:noFill/>
        </p:spPr>
        <p:txBody>
          <a:bodyPr wrap="square" lIns="0" rIns="0" tIns="0" bIns="0" anchor="t">
            <a:spAutoFit/>
          </a:bodyPr>
          <a:lstStyle/>
          <a:p>
            <a:pPr algn="l">
              <a:lnSpc>
                <a:spcPct val="108000"/>
              </a:lnSpc>
              <a:spcAft>
                <a:spcPts val="0"/>
              </a:spcAft>
            </a:pPr>
            <a:r>
              <a:rPr sz="1300" b="1" i="0" spc="200">
                <a:solidFill>
                  <a:srgbClr val="2C5A73"/>
                </a:solidFill>
                <a:latin typeface="Cambria"/>
              </a:rPr>
              <a:t>CHẶNG 3  ·  CAO TRÀO  ·  KHOẢNH KHẮC LỰA CHỌN</a:t>
            </a:r>
          </a:p>
        </p:txBody>
      </p:sp>
      <p:sp>
        <p:nvSpPr>
          <p:cNvPr id="3" name="TextBox 2"/>
          <p:cNvSpPr txBox="1"/>
          <p:nvPr/>
        </p:nvSpPr>
        <p:spPr>
          <a:xfrm>
            <a:off x="548640" y="713232"/>
            <a:ext cx="11064240" cy="640080"/>
          </a:xfrm>
          <a:prstGeom prst="rect">
            <a:avLst/>
          </a:prstGeom>
          <a:noFill/>
        </p:spPr>
        <p:txBody>
          <a:bodyPr wrap="square" lIns="0" rIns="0" tIns="0" bIns="0" anchor="t">
            <a:spAutoFit/>
          </a:bodyPr>
          <a:lstStyle/>
          <a:p>
            <a:pPr algn="l">
              <a:lnSpc>
                <a:spcPct val="108000"/>
              </a:lnSpc>
              <a:spcAft>
                <a:spcPts val="0"/>
              </a:spcAft>
            </a:pPr>
            <a:r>
              <a:rPr sz="3200" b="1" i="0">
                <a:solidFill>
                  <a:srgbClr val="2B211A"/>
                </a:solidFill>
                <a:latin typeface="Cambria"/>
              </a:rPr>
              <a:t>Người dân Shirakami đứng trước hai con đường</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8000"/>
              </a:lnSpc>
              <a:spcAft>
                <a:spcPts val="0"/>
              </a:spcAft>
            </a:pPr>
            <a:r>
              <a:rPr sz="1000" b="0" i="0">
                <a:solidFill>
                  <a:srgbClr val="6B645C"/>
                </a:solidFill>
                <a:latin typeface="Cambria"/>
              </a:rPr>
              <a:t>Đạo đức lớp 5  |  Khu rừng Shirakami  |  40 phút</a:t>
            </a:r>
          </a:p>
        </p:txBody>
      </p:sp>
      <p:sp>
        <p:nvSpPr>
          <p:cNvPr id="5" name="TextBox 4"/>
          <p:cNvSpPr txBox="1"/>
          <p:nvPr/>
        </p:nvSpPr>
        <p:spPr>
          <a:xfrm>
            <a:off x="10698480" y="6473952"/>
            <a:ext cx="941832" cy="228600"/>
          </a:xfrm>
          <a:prstGeom prst="rect">
            <a:avLst/>
          </a:prstGeom>
          <a:noFill/>
        </p:spPr>
        <p:txBody>
          <a:bodyPr wrap="square" lIns="0" rIns="0" tIns="0" bIns="0" anchor="t">
            <a:spAutoFit/>
          </a:bodyPr>
          <a:lstStyle/>
          <a:p>
            <a:pPr algn="r">
              <a:lnSpc>
                <a:spcPct val="108000"/>
              </a:lnSpc>
              <a:spcAft>
                <a:spcPts val="0"/>
              </a:spcAft>
            </a:pPr>
            <a:r>
              <a:rPr sz="1000" b="0" i="0">
                <a:solidFill>
                  <a:srgbClr val="6B645C"/>
                </a:solidFill>
                <a:latin typeface="Cambria"/>
              </a:rPr>
              <a:t>10</a:t>
            </a:r>
          </a:p>
        </p:txBody>
      </p:sp>
      <p:sp>
        <p:nvSpPr>
          <p:cNvPr id="6" name="Rounded Rectangle 5"/>
          <p:cNvSpPr/>
          <p:nvPr/>
        </p:nvSpPr>
        <p:spPr>
          <a:xfrm>
            <a:off x="548640" y="1600200"/>
            <a:ext cx="5029200" cy="3063240"/>
          </a:xfrm>
          <a:prstGeom prst="roundRect">
            <a:avLst>
              <a:gd name="adj" fmla="val 5000"/>
            </a:avLst>
          </a:prstGeom>
          <a:solidFill>
            <a:srgbClr val="FFF3DC"/>
          </a:solidFill>
          <a:ln w="9525">
            <a:solidFill>
              <a:srgbClr val="E8A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83080"/>
            <a:ext cx="4389120" cy="457200"/>
          </a:xfrm>
          <a:prstGeom prst="rect">
            <a:avLst/>
          </a:prstGeom>
          <a:noFill/>
        </p:spPr>
        <p:txBody>
          <a:bodyPr wrap="square" lIns="0" rIns="0" tIns="0" bIns="0" anchor="t">
            <a:spAutoFit/>
          </a:bodyPr>
          <a:lstStyle/>
          <a:p>
            <a:pPr algn="l">
              <a:lnSpc>
                <a:spcPct val="108000"/>
              </a:lnSpc>
              <a:spcAft>
                <a:spcPts val="0"/>
              </a:spcAft>
            </a:pPr>
            <a:r>
              <a:rPr sz="2400" b="1" i="0">
                <a:solidFill>
                  <a:srgbClr val="B87410"/>
                </a:solidFill>
                <a:latin typeface="Cambria"/>
              </a:rPr>
              <a:t>MỞ ĐƯỜNG</a:t>
            </a:r>
          </a:p>
        </p:txBody>
      </p:sp>
      <p:sp>
        <p:nvSpPr>
          <p:cNvPr id="8" name="TextBox 7"/>
          <p:cNvSpPr txBox="1"/>
          <p:nvPr/>
        </p:nvSpPr>
        <p:spPr>
          <a:xfrm>
            <a:off x="868680" y="2377440"/>
            <a:ext cx="4480560" cy="2194560"/>
          </a:xfrm>
          <a:prstGeom prst="rect">
            <a:avLst/>
          </a:prstGeom>
          <a:noFill/>
        </p:spPr>
        <p:txBody>
          <a:bodyPr wrap="square" lIns="0" rIns="0" tIns="0" bIns="0" anchor="t">
            <a:spAutoFit/>
          </a:bodyPr>
          <a:lstStyle/>
          <a:p>
            <a:pPr algn="l">
              <a:lnSpc>
                <a:spcPct val="110000"/>
              </a:lnSpc>
              <a:spcAft>
                <a:spcPts val="1000"/>
              </a:spcAft>
            </a:pPr>
            <a:r>
              <a:rPr sz="2000" b="0" i="0">
                <a:solidFill>
                  <a:srgbClr val="2B211A"/>
                </a:solidFill>
                <a:latin typeface="Cambria"/>
              </a:rPr>
              <a:t>•  Đi lại dễ dàng hơn</a:t>
            </a:r>
          </a:p>
          <a:p>
            <a:pPr algn="l">
              <a:lnSpc>
                <a:spcPct val="110000"/>
              </a:lnSpc>
              <a:spcAft>
                <a:spcPts val="1000"/>
              </a:spcAft>
            </a:pPr>
            <a:r>
              <a:rPr sz="2000" b="0" i="0">
                <a:solidFill>
                  <a:srgbClr val="2B211A"/>
                </a:solidFill>
                <a:latin typeface="Cambria"/>
              </a:rPr>
              <a:t>•  Buôn bán hàng hóa thuận lợi</a:t>
            </a:r>
          </a:p>
          <a:p>
            <a:pPr algn="l">
              <a:lnSpc>
                <a:spcPct val="110000"/>
              </a:lnSpc>
              <a:spcAft>
                <a:spcPts val="1000"/>
              </a:spcAft>
            </a:pPr>
            <a:r>
              <a:rPr sz="2000" b="0" i="0">
                <a:solidFill>
                  <a:srgbClr val="2B211A"/>
                </a:solidFill>
                <a:latin typeface="Cambria"/>
              </a:rPr>
              <a:t>•  Thu nhập cao hơn cho người dân</a:t>
            </a:r>
          </a:p>
        </p:txBody>
      </p:sp>
      <p:sp>
        <p:nvSpPr>
          <p:cNvPr id="9" name="Rounded Rectangle 8"/>
          <p:cNvSpPr/>
          <p:nvPr/>
        </p:nvSpPr>
        <p:spPr>
          <a:xfrm>
            <a:off x="6611112" y="1600200"/>
            <a:ext cx="5029200" cy="3063240"/>
          </a:xfrm>
          <a:prstGeom prst="roundRect">
            <a:avLst>
              <a:gd name="adj" fmla="val 5000"/>
            </a:avLst>
          </a:prstGeom>
          <a:solidFill>
            <a:srgbClr val="E6F0DC"/>
          </a:solidFill>
          <a:ln w="9525">
            <a:solidFill>
              <a:srgbClr val="53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31152" y="1783080"/>
            <a:ext cx="4389120" cy="457200"/>
          </a:xfrm>
          <a:prstGeom prst="rect">
            <a:avLst/>
          </a:prstGeom>
          <a:noFill/>
        </p:spPr>
        <p:txBody>
          <a:bodyPr wrap="square" lIns="0" rIns="0" tIns="0" bIns="0" anchor="t">
            <a:spAutoFit/>
          </a:bodyPr>
          <a:lstStyle/>
          <a:p>
            <a:pPr algn="l">
              <a:lnSpc>
                <a:spcPct val="108000"/>
              </a:lnSpc>
              <a:spcAft>
                <a:spcPts val="0"/>
              </a:spcAft>
            </a:pPr>
            <a:r>
              <a:rPr sz="2400" b="1" i="0">
                <a:solidFill>
                  <a:srgbClr val="385723"/>
                </a:solidFill>
                <a:latin typeface="Cambria"/>
              </a:rPr>
              <a:t>GIỮ RỪNG</a:t>
            </a:r>
          </a:p>
        </p:txBody>
      </p:sp>
      <p:sp>
        <p:nvSpPr>
          <p:cNvPr id="11" name="TextBox 10"/>
          <p:cNvSpPr txBox="1"/>
          <p:nvPr/>
        </p:nvSpPr>
        <p:spPr>
          <a:xfrm>
            <a:off x="6931152" y="2377440"/>
            <a:ext cx="4480560" cy="2194560"/>
          </a:xfrm>
          <a:prstGeom prst="rect">
            <a:avLst/>
          </a:prstGeom>
          <a:noFill/>
        </p:spPr>
        <p:txBody>
          <a:bodyPr wrap="square" lIns="0" rIns="0" tIns="0" bIns="0" anchor="t">
            <a:spAutoFit/>
          </a:bodyPr>
          <a:lstStyle/>
          <a:p>
            <a:pPr algn="l">
              <a:lnSpc>
                <a:spcPct val="110000"/>
              </a:lnSpc>
              <a:spcAft>
                <a:spcPts val="800"/>
              </a:spcAft>
            </a:pPr>
            <a:r>
              <a:rPr sz="2000" b="0" i="0">
                <a:solidFill>
                  <a:srgbClr val="2B211A"/>
                </a:solidFill>
                <a:latin typeface="Cambria"/>
              </a:rPr>
              <a:t>•  Nước cho ruộng lúa</a:t>
            </a:r>
          </a:p>
          <a:p>
            <a:pPr algn="l">
              <a:lnSpc>
                <a:spcPct val="110000"/>
              </a:lnSpc>
              <a:spcAft>
                <a:spcPts val="800"/>
              </a:spcAft>
            </a:pPr>
            <a:r>
              <a:rPr sz="2000" b="0" i="0">
                <a:solidFill>
                  <a:srgbClr val="2B211A"/>
                </a:solidFill>
                <a:latin typeface="Cambria"/>
              </a:rPr>
              <a:t>•  Sông trong, cá còn sống</a:t>
            </a:r>
          </a:p>
          <a:p>
            <a:pPr algn="l">
              <a:lnSpc>
                <a:spcPct val="110000"/>
              </a:lnSpc>
              <a:spcAft>
                <a:spcPts val="800"/>
              </a:spcAft>
            </a:pPr>
            <a:r>
              <a:rPr sz="2000" b="0" i="0">
                <a:solidFill>
                  <a:srgbClr val="2B211A"/>
                </a:solidFill>
                <a:latin typeface="Cambria"/>
              </a:rPr>
              <a:t>•  Thú rừng còn nơi ở</a:t>
            </a:r>
          </a:p>
          <a:p>
            <a:pPr algn="l">
              <a:lnSpc>
                <a:spcPct val="110000"/>
              </a:lnSpc>
              <a:spcAft>
                <a:spcPts val="800"/>
              </a:spcAft>
            </a:pPr>
            <a:r>
              <a:rPr sz="2000" b="0" i="0">
                <a:solidFill>
                  <a:srgbClr val="2B211A"/>
                </a:solidFill>
                <a:latin typeface="Cambria"/>
              </a:rPr>
              <a:t>•  Để lại cho con cháu mai sau</a:t>
            </a:r>
          </a:p>
        </p:txBody>
      </p:sp>
      <p:sp>
        <p:nvSpPr>
          <p:cNvPr id="12" name="Oval 11"/>
          <p:cNvSpPr/>
          <p:nvPr/>
        </p:nvSpPr>
        <p:spPr>
          <a:xfrm>
            <a:off x="5641848" y="2834640"/>
            <a:ext cx="914400" cy="914400"/>
          </a:xfrm>
          <a:prstGeom prst="ellipse">
            <a:avLst/>
          </a:prstGeom>
          <a:solidFill>
            <a:srgbClr val="2B21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400" b="1">
                <a:solidFill>
                  <a:srgbClr val="FFFFFF"/>
                </a:solidFill>
                <a:latin typeface="Cambria"/>
              </a:rPr>
              <a:t>?</a:t>
            </a:r>
          </a:p>
        </p:txBody>
      </p:sp>
      <p:sp>
        <p:nvSpPr>
          <p:cNvPr id="13" name="Rounded Rectangle 12"/>
          <p:cNvSpPr/>
          <p:nvPr/>
        </p:nvSpPr>
        <p:spPr>
          <a:xfrm>
            <a:off x="548640" y="4937760"/>
            <a:ext cx="11091672" cy="1188720"/>
          </a:xfrm>
          <a:prstGeom prst="roundRect">
            <a:avLst>
              <a:gd name="adj" fmla="val 8000"/>
            </a:avLst>
          </a:prstGeom>
          <a:solidFill>
            <a:srgbClr val="2B2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029200"/>
            <a:ext cx="10515600" cy="640080"/>
          </a:xfrm>
          <a:prstGeom prst="rect">
            <a:avLst/>
          </a:prstGeom>
          <a:noFill/>
        </p:spPr>
        <p:txBody>
          <a:bodyPr wrap="square" lIns="0" rIns="0" tIns="0" bIns="0" anchor="ctr">
            <a:spAutoFit/>
          </a:bodyPr>
          <a:lstStyle/>
          <a:p>
            <a:pPr algn="ctr">
              <a:lnSpc>
                <a:spcPct val="108000"/>
              </a:lnSpc>
              <a:spcAft>
                <a:spcPts val="0"/>
              </a:spcAft>
            </a:pPr>
            <a:r>
              <a:rPr sz="2800" b="1" i="0">
                <a:solidFill>
                  <a:srgbClr val="FFFFFF"/>
                </a:solidFill>
                <a:latin typeface="Cambria"/>
              </a:rPr>
              <a:t>Điều gì đang diễn ra trong lòng người dân Shirakami?</a:t>
            </a:r>
          </a:p>
        </p:txBody>
      </p:sp>
      <p:sp>
        <p:nvSpPr>
          <p:cNvPr id="15" name="TextBox 14"/>
          <p:cNvSpPr txBox="1"/>
          <p:nvPr/>
        </p:nvSpPr>
        <p:spPr>
          <a:xfrm>
            <a:off x="822960" y="5669280"/>
            <a:ext cx="10515600" cy="365760"/>
          </a:xfrm>
          <a:prstGeom prst="rect">
            <a:avLst/>
          </a:prstGeom>
          <a:noFill/>
        </p:spPr>
        <p:txBody>
          <a:bodyPr wrap="square" lIns="0" rIns="0" tIns="0" bIns="0" anchor="t">
            <a:spAutoFit/>
          </a:bodyPr>
          <a:lstStyle/>
          <a:p>
            <a:pPr algn="ctr">
              <a:lnSpc>
                <a:spcPct val="108000"/>
              </a:lnSpc>
              <a:spcAft>
                <a:spcPts val="0"/>
              </a:spcAft>
            </a:pPr>
            <a:r>
              <a:rPr sz="1400" b="0" i="1">
                <a:solidFill>
                  <a:srgbClr val="E8A03A"/>
                </a:solidFill>
                <a:latin typeface="Cambria"/>
              </a:rPr>
              <a:t>Think Time 2 phút: viết ra 1–2 điều người dân có thể đang nghĩ, đang lo, đang muốn.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74320"/>
          </a:xfrm>
          <a:prstGeom prst="rect">
            <a:avLst/>
          </a:prstGeom>
          <a:noFill/>
        </p:spPr>
        <p:txBody>
          <a:bodyPr wrap="square" lIns="0" rIns="0" tIns="0" bIns="0" anchor="t">
            <a:spAutoFit/>
          </a:bodyPr>
          <a:lstStyle/>
          <a:p>
            <a:pPr algn="l">
              <a:lnSpc>
                <a:spcPct val="108000"/>
              </a:lnSpc>
              <a:spcAft>
                <a:spcPts val="0"/>
              </a:spcAft>
            </a:pPr>
            <a:r>
              <a:rPr sz="1300" b="1" i="0" spc="200">
                <a:solidFill>
                  <a:srgbClr val="2C5A73"/>
                </a:solidFill>
                <a:latin typeface="Cambria"/>
              </a:rPr>
              <a:t>CHẶNG 3  ·  TRAO ĐỔI  ·  ĐÀO SÂU</a:t>
            </a:r>
          </a:p>
        </p:txBody>
      </p:sp>
      <p:sp>
        <p:nvSpPr>
          <p:cNvPr id="3" name="TextBox 2"/>
          <p:cNvSpPr txBox="1"/>
          <p:nvPr/>
        </p:nvSpPr>
        <p:spPr>
          <a:xfrm>
            <a:off x="548640" y="713232"/>
            <a:ext cx="11064240" cy="640080"/>
          </a:xfrm>
          <a:prstGeom prst="rect">
            <a:avLst/>
          </a:prstGeom>
          <a:noFill/>
        </p:spPr>
        <p:txBody>
          <a:bodyPr wrap="square" lIns="0" rIns="0" tIns="0" bIns="0" anchor="t">
            <a:spAutoFit/>
          </a:bodyPr>
          <a:lstStyle/>
          <a:p>
            <a:pPr algn="l">
              <a:lnSpc>
                <a:spcPct val="108000"/>
              </a:lnSpc>
              <a:spcAft>
                <a:spcPts val="0"/>
              </a:spcAft>
            </a:pPr>
            <a:r>
              <a:rPr sz="3200" b="1" i="0">
                <a:solidFill>
                  <a:srgbClr val="2B211A"/>
                </a:solidFill>
                <a:latin typeface="Cambria"/>
              </a:rPr>
              <a:t>Rừng – nước – sông – biển: mọi thứ nối với nhau</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8000"/>
              </a:lnSpc>
              <a:spcAft>
                <a:spcPts val="0"/>
              </a:spcAft>
            </a:pPr>
            <a:r>
              <a:rPr sz="1000" b="0" i="0">
                <a:solidFill>
                  <a:srgbClr val="6B645C"/>
                </a:solidFill>
                <a:latin typeface="Cambria"/>
              </a:rPr>
              <a:t>Đạo đức lớp 5  |  Khu rừng Shirakami  |  40 phút</a:t>
            </a:r>
          </a:p>
        </p:txBody>
      </p:sp>
      <p:sp>
        <p:nvSpPr>
          <p:cNvPr id="5" name="TextBox 4"/>
          <p:cNvSpPr txBox="1"/>
          <p:nvPr/>
        </p:nvSpPr>
        <p:spPr>
          <a:xfrm>
            <a:off x="10698480" y="6473952"/>
            <a:ext cx="941832" cy="228600"/>
          </a:xfrm>
          <a:prstGeom prst="rect">
            <a:avLst/>
          </a:prstGeom>
          <a:noFill/>
        </p:spPr>
        <p:txBody>
          <a:bodyPr wrap="square" lIns="0" rIns="0" tIns="0" bIns="0" anchor="t">
            <a:spAutoFit/>
          </a:bodyPr>
          <a:lstStyle/>
          <a:p>
            <a:pPr algn="r">
              <a:lnSpc>
                <a:spcPct val="108000"/>
              </a:lnSpc>
              <a:spcAft>
                <a:spcPts val="0"/>
              </a:spcAft>
            </a:pPr>
            <a:r>
              <a:rPr sz="1000" b="0" i="0">
                <a:solidFill>
                  <a:srgbClr val="6B645C"/>
                </a:solidFill>
                <a:latin typeface="Cambria"/>
              </a:rPr>
              <a:t>11</a:t>
            </a:r>
          </a:p>
        </p:txBody>
      </p:sp>
      <p:sp>
        <p:nvSpPr>
          <p:cNvPr id="6" name="Rounded Rectangle 5"/>
          <p:cNvSpPr/>
          <p:nvPr/>
        </p:nvSpPr>
        <p:spPr>
          <a:xfrm>
            <a:off x="548640" y="2697480"/>
            <a:ext cx="2286000" cy="1097280"/>
          </a:xfrm>
          <a:prstGeom prst="roundRect">
            <a:avLst>
              <a:gd name="adj" fmla="val 12000"/>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770632"/>
            <a:ext cx="2066543" cy="950976"/>
          </a:xfrm>
          <a:prstGeom prst="rect">
            <a:avLst/>
          </a:prstGeom>
          <a:noFill/>
        </p:spPr>
        <p:txBody>
          <a:bodyPr wrap="square" lIns="0" rIns="0" tIns="0" bIns="0" anchor="ctr">
            <a:spAutoFit/>
          </a:bodyPr>
          <a:lstStyle/>
          <a:p>
            <a:pPr algn="ctr">
              <a:lnSpc>
                <a:spcPct val="105000"/>
              </a:lnSpc>
              <a:spcAft>
                <a:spcPts val="200"/>
              </a:spcAft>
            </a:pPr>
            <a:r>
              <a:rPr sz="1550" b="1" i="0">
                <a:solidFill>
                  <a:srgbClr val="FFFFFF"/>
                </a:solidFill>
                <a:latin typeface="Cambria"/>
              </a:rPr>
              <a:t>Rừng sồi Buna</a:t>
            </a:r>
          </a:p>
          <a:p>
            <a:pPr algn="ctr">
              <a:lnSpc>
                <a:spcPct val="105000"/>
              </a:lnSpc>
              <a:spcAft>
                <a:spcPts val="200"/>
              </a:spcAft>
            </a:pPr>
            <a:r>
              <a:rPr sz="1200" b="0" i="0">
                <a:solidFill>
                  <a:srgbClr val="FFFFFF"/>
                </a:solidFill>
                <a:latin typeface="Cambria"/>
              </a:rPr>
              <a:t>lá rụng, sinh vật nhỏ, giữ nước</a:t>
            </a:r>
          </a:p>
        </p:txBody>
      </p:sp>
      <p:sp>
        <p:nvSpPr>
          <p:cNvPr id="8" name="Rounded Rectangle 7"/>
          <p:cNvSpPr/>
          <p:nvPr/>
        </p:nvSpPr>
        <p:spPr>
          <a:xfrm>
            <a:off x="3383280" y="2697480"/>
            <a:ext cx="2468880" cy="1097280"/>
          </a:xfrm>
          <a:prstGeom prst="roundRect">
            <a:avLst>
              <a:gd name="adj" fmla="val 12000"/>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93008" y="2770632"/>
            <a:ext cx="2249424" cy="950976"/>
          </a:xfrm>
          <a:prstGeom prst="rect">
            <a:avLst/>
          </a:prstGeom>
          <a:noFill/>
        </p:spPr>
        <p:txBody>
          <a:bodyPr wrap="square" lIns="0" rIns="0" tIns="0" bIns="0" anchor="ctr">
            <a:spAutoFit/>
          </a:bodyPr>
          <a:lstStyle/>
          <a:p>
            <a:pPr algn="ctr">
              <a:lnSpc>
                <a:spcPct val="105000"/>
              </a:lnSpc>
              <a:spcAft>
                <a:spcPts val="200"/>
              </a:spcAft>
            </a:pPr>
            <a:r>
              <a:rPr sz="1550" b="1" i="0">
                <a:solidFill>
                  <a:srgbClr val="FFFFFF"/>
                </a:solidFill>
                <a:latin typeface="Cambria"/>
              </a:rPr>
              <a:t>Nước &amp; đất giàu dinh dưỡng</a:t>
            </a:r>
          </a:p>
          <a:p>
            <a:pPr algn="ctr">
              <a:lnSpc>
                <a:spcPct val="105000"/>
              </a:lnSpc>
              <a:spcAft>
                <a:spcPts val="200"/>
              </a:spcAft>
            </a:pPr>
            <a:r>
              <a:rPr sz="1200" b="0" i="0">
                <a:solidFill>
                  <a:srgbClr val="FFFFFF"/>
                </a:solidFill>
                <a:latin typeface="Cambria"/>
              </a:rPr>
              <a:t>nước chảy từ rừng xuống</a:t>
            </a:r>
          </a:p>
        </p:txBody>
      </p:sp>
      <p:sp>
        <p:nvSpPr>
          <p:cNvPr id="10" name="Rounded Rectangle 9"/>
          <p:cNvSpPr/>
          <p:nvPr/>
        </p:nvSpPr>
        <p:spPr>
          <a:xfrm>
            <a:off x="6400800" y="1691640"/>
            <a:ext cx="2651760" cy="1051560"/>
          </a:xfrm>
          <a:prstGeom prst="roundRect">
            <a:avLst>
              <a:gd name="adj" fmla="val 12000"/>
            </a:avLst>
          </a:prstGeom>
          <a:solidFill>
            <a:srgbClr val="B874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0528" y="1764792"/>
            <a:ext cx="2432304" cy="905255"/>
          </a:xfrm>
          <a:prstGeom prst="rect">
            <a:avLst/>
          </a:prstGeom>
          <a:noFill/>
        </p:spPr>
        <p:txBody>
          <a:bodyPr wrap="square" lIns="0" rIns="0" tIns="0" bIns="0" anchor="ctr">
            <a:spAutoFit/>
          </a:bodyPr>
          <a:lstStyle/>
          <a:p>
            <a:pPr algn="ctr">
              <a:lnSpc>
                <a:spcPct val="105000"/>
              </a:lnSpc>
              <a:spcAft>
                <a:spcPts val="200"/>
              </a:spcAft>
            </a:pPr>
            <a:r>
              <a:rPr sz="1550" b="1" i="0">
                <a:solidFill>
                  <a:srgbClr val="FFFFFF"/>
                </a:solidFill>
                <a:latin typeface="Cambria"/>
              </a:rPr>
              <a:t>Ruộng lúa</a:t>
            </a:r>
          </a:p>
          <a:p>
            <a:pPr algn="ctr">
              <a:lnSpc>
                <a:spcPct val="105000"/>
              </a:lnSpc>
              <a:spcAft>
                <a:spcPts val="200"/>
              </a:spcAft>
            </a:pPr>
            <a:r>
              <a:rPr sz="1200" b="0" i="0">
                <a:solidFill>
                  <a:srgbClr val="FFFFFF"/>
                </a:solidFill>
                <a:latin typeface="Cambria"/>
              </a:rPr>
              <a:t>“gạo không cần phân bón”</a:t>
            </a:r>
          </a:p>
        </p:txBody>
      </p:sp>
      <p:sp>
        <p:nvSpPr>
          <p:cNvPr id="12" name="Rounded Rectangle 11"/>
          <p:cNvSpPr/>
          <p:nvPr/>
        </p:nvSpPr>
        <p:spPr>
          <a:xfrm>
            <a:off x="6400800" y="3611880"/>
            <a:ext cx="2651760" cy="1051560"/>
          </a:xfrm>
          <a:prstGeom prst="roundRect">
            <a:avLst>
              <a:gd name="adj" fmla="val 12000"/>
            </a:avLst>
          </a:prstGeom>
          <a:solidFill>
            <a:srgbClr val="3E7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0528" y="3685032"/>
            <a:ext cx="2432304" cy="905255"/>
          </a:xfrm>
          <a:prstGeom prst="rect">
            <a:avLst/>
          </a:prstGeom>
          <a:noFill/>
        </p:spPr>
        <p:txBody>
          <a:bodyPr wrap="square" lIns="0" rIns="0" tIns="0" bIns="0" anchor="ctr">
            <a:spAutoFit/>
          </a:bodyPr>
          <a:lstStyle/>
          <a:p>
            <a:pPr algn="ctr">
              <a:lnSpc>
                <a:spcPct val="105000"/>
              </a:lnSpc>
              <a:spcAft>
                <a:spcPts val="200"/>
              </a:spcAft>
            </a:pPr>
            <a:r>
              <a:rPr sz="1550" b="1" i="0">
                <a:solidFill>
                  <a:srgbClr val="FFFFFF"/>
                </a:solidFill>
                <a:latin typeface="Cambria"/>
              </a:rPr>
              <a:t>Sông</a:t>
            </a:r>
          </a:p>
          <a:p>
            <a:pPr algn="ctr">
              <a:lnSpc>
                <a:spcPct val="105000"/>
              </a:lnSpc>
              <a:spcAft>
                <a:spcPts val="200"/>
              </a:spcAft>
            </a:pPr>
            <a:r>
              <a:rPr sz="1200" b="0" i="0">
                <a:solidFill>
                  <a:srgbClr val="FFFFFF"/>
                </a:solidFill>
                <a:latin typeface="Cambria"/>
              </a:rPr>
              <a:t>cá ayu, các loài khác, thú rừng</a:t>
            </a:r>
          </a:p>
        </p:txBody>
      </p:sp>
      <p:sp>
        <p:nvSpPr>
          <p:cNvPr id="14" name="Rounded Rectangle 13"/>
          <p:cNvSpPr/>
          <p:nvPr/>
        </p:nvSpPr>
        <p:spPr>
          <a:xfrm>
            <a:off x="9509760" y="3611880"/>
            <a:ext cx="2130552" cy="1051560"/>
          </a:xfrm>
          <a:prstGeom prst="roundRect">
            <a:avLst>
              <a:gd name="adj" fmla="val 12000"/>
            </a:avLst>
          </a:prstGeom>
          <a:solidFill>
            <a:srgbClr val="A83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19488" y="3685032"/>
            <a:ext cx="1911095" cy="905255"/>
          </a:xfrm>
          <a:prstGeom prst="rect">
            <a:avLst/>
          </a:prstGeom>
          <a:noFill/>
        </p:spPr>
        <p:txBody>
          <a:bodyPr wrap="square" lIns="0" rIns="0" tIns="0" bIns="0" anchor="ctr">
            <a:spAutoFit/>
          </a:bodyPr>
          <a:lstStyle/>
          <a:p>
            <a:pPr algn="ctr">
              <a:lnSpc>
                <a:spcPct val="105000"/>
              </a:lnSpc>
              <a:spcAft>
                <a:spcPts val="200"/>
              </a:spcAft>
            </a:pPr>
            <a:r>
              <a:rPr sz="1550" b="1" i="0">
                <a:solidFill>
                  <a:srgbClr val="FFFFFF"/>
                </a:solidFill>
                <a:latin typeface="Cambria"/>
              </a:rPr>
              <a:t>Biển</a:t>
            </a:r>
          </a:p>
          <a:p>
            <a:pPr algn="ctr">
              <a:lnSpc>
                <a:spcPct val="105000"/>
              </a:lnSpc>
              <a:spcAft>
                <a:spcPts val="200"/>
              </a:spcAft>
            </a:pPr>
            <a:r>
              <a:rPr sz="1200" b="0" i="0">
                <a:solidFill>
                  <a:srgbClr val="FFFFFF"/>
                </a:solidFill>
                <a:latin typeface="Cambria"/>
              </a:rPr>
              <a:t>cá hatahata</a:t>
            </a:r>
          </a:p>
        </p:txBody>
      </p:sp>
      <p:cxnSp>
        <p:nvCxnSpPr>
          <p:cNvPr id="16" name="Connector 15"/>
          <p:cNvCxnSpPr/>
          <p:nvPr/>
        </p:nvCxnSpPr>
        <p:spPr>
          <a:xfrm>
            <a:off x="2880360" y="3246120"/>
            <a:ext cx="457200" cy="0"/>
          </a:xfrm>
          <a:prstGeom prst="line">
            <a:avLst/>
          </a:prstGeom>
          <a:ln w="28575">
            <a:solidFill>
              <a:srgbClr val="2B211A"/>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5897880" y="2331720"/>
            <a:ext cx="457200" cy="685800"/>
          </a:xfrm>
          <a:prstGeom prst="line">
            <a:avLst/>
          </a:prstGeom>
          <a:ln w="28575">
            <a:solidFill>
              <a:srgbClr val="2B211A"/>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897880" y="3474720"/>
            <a:ext cx="457200" cy="640080"/>
          </a:xfrm>
          <a:prstGeom prst="line">
            <a:avLst/>
          </a:prstGeom>
          <a:ln w="28575">
            <a:solidFill>
              <a:srgbClr val="2B211A"/>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098280" y="4133087"/>
            <a:ext cx="365760" cy="0"/>
          </a:xfrm>
          <a:prstGeom prst="line">
            <a:avLst/>
          </a:prstGeom>
          <a:ln w="28575">
            <a:solidFill>
              <a:srgbClr val="2B211A"/>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48640" y="4937760"/>
            <a:ext cx="5376672" cy="1280160"/>
          </a:xfrm>
          <a:prstGeom prst="roundRect">
            <a:avLst>
              <a:gd name="adj" fmla="val 7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5074920"/>
            <a:ext cx="82296" cy="1005840"/>
          </a:xfrm>
          <a:prstGeom prst="rect">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59" y="5029200"/>
            <a:ext cx="4572000" cy="274320"/>
          </a:xfrm>
          <a:prstGeom prst="rect">
            <a:avLst/>
          </a:prstGeom>
          <a:noFill/>
        </p:spPr>
        <p:txBody>
          <a:bodyPr wrap="square" lIns="0" rIns="0" tIns="0" bIns="0" anchor="t">
            <a:spAutoFit/>
          </a:bodyPr>
          <a:lstStyle/>
          <a:p>
            <a:pPr algn="l">
              <a:lnSpc>
                <a:spcPct val="108000"/>
              </a:lnSpc>
              <a:spcAft>
                <a:spcPts val="0"/>
              </a:spcAft>
            </a:pPr>
            <a:r>
              <a:rPr sz="1100" b="1" i="0" spc="200">
                <a:solidFill>
                  <a:srgbClr val="2C5A73"/>
                </a:solidFill>
                <a:latin typeface="Cambria"/>
              </a:rPr>
              <a:t>CÂU HỎI ĐÀO SÂU</a:t>
            </a:r>
          </a:p>
        </p:txBody>
      </p:sp>
      <p:sp>
        <p:nvSpPr>
          <p:cNvPr id="23" name="TextBox 22"/>
          <p:cNvSpPr txBox="1"/>
          <p:nvPr/>
        </p:nvSpPr>
        <p:spPr>
          <a:xfrm>
            <a:off x="822959" y="5349240"/>
            <a:ext cx="4937760" cy="822960"/>
          </a:xfrm>
          <a:prstGeom prst="rect">
            <a:avLst/>
          </a:prstGeom>
          <a:noFill/>
        </p:spPr>
        <p:txBody>
          <a:bodyPr wrap="square" lIns="0" rIns="0" tIns="0" bIns="0" anchor="t">
            <a:spAutoFit/>
          </a:bodyPr>
          <a:lstStyle/>
          <a:p>
            <a:pPr algn="l">
              <a:lnSpc>
                <a:spcPct val="110000"/>
              </a:lnSpc>
              <a:spcAft>
                <a:spcPts val="0"/>
              </a:spcAft>
            </a:pPr>
            <a:r>
              <a:rPr sz="1650" b="0" i="1">
                <a:solidFill>
                  <a:srgbClr val="2B211A"/>
                </a:solidFill>
                <a:latin typeface="Cambria"/>
              </a:rPr>
              <a:t>Nếu chặt hết cây trên núi, mắt xích nào bị ảnh hưởng đầu tiên? Rồi đến đâu nữa?</a:t>
            </a:r>
          </a:p>
        </p:txBody>
      </p:sp>
      <p:sp>
        <p:nvSpPr>
          <p:cNvPr id="24" name="Rounded Rectangle 23"/>
          <p:cNvSpPr/>
          <p:nvPr/>
        </p:nvSpPr>
        <p:spPr>
          <a:xfrm>
            <a:off x="6263640" y="4937760"/>
            <a:ext cx="5376672" cy="1280160"/>
          </a:xfrm>
          <a:prstGeom prst="roundRect">
            <a:avLst>
              <a:gd name="adj" fmla="val 7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3640" y="5074920"/>
            <a:ext cx="82296" cy="1005840"/>
          </a:xfrm>
          <a:prstGeom prst="rect">
            <a:avLst/>
          </a:prstGeom>
          <a:solidFill>
            <a:srgbClr val="A83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37959" y="5029200"/>
            <a:ext cx="4572000" cy="274320"/>
          </a:xfrm>
          <a:prstGeom prst="rect">
            <a:avLst/>
          </a:prstGeom>
          <a:noFill/>
        </p:spPr>
        <p:txBody>
          <a:bodyPr wrap="square" lIns="0" rIns="0" tIns="0" bIns="0" anchor="t">
            <a:spAutoFit/>
          </a:bodyPr>
          <a:lstStyle/>
          <a:p>
            <a:pPr algn="l">
              <a:lnSpc>
                <a:spcPct val="108000"/>
              </a:lnSpc>
              <a:spcAft>
                <a:spcPts val="0"/>
              </a:spcAft>
            </a:pPr>
            <a:r>
              <a:rPr sz="1100" b="1" i="0" spc="200">
                <a:solidFill>
                  <a:srgbClr val="A83349"/>
                </a:solidFill>
                <a:latin typeface="Cambria"/>
              </a:rPr>
              <a:t>CÂU HỎI ĐÀO SÂU</a:t>
            </a:r>
          </a:p>
        </p:txBody>
      </p:sp>
      <p:sp>
        <p:nvSpPr>
          <p:cNvPr id="27" name="TextBox 26"/>
          <p:cNvSpPr txBox="1"/>
          <p:nvPr/>
        </p:nvSpPr>
        <p:spPr>
          <a:xfrm>
            <a:off x="6537959" y="5349240"/>
            <a:ext cx="4937760" cy="822960"/>
          </a:xfrm>
          <a:prstGeom prst="rect">
            <a:avLst/>
          </a:prstGeom>
          <a:noFill/>
        </p:spPr>
        <p:txBody>
          <a:bodyPr wrap="square" lIns="0" rIns="0" tIns="0" bIns="0" anchor="t">
            <a:spAutoFit/>
          </a:bodyPr>
          <a:lstStyle/>
          <a:p>
            <a:pPr algn="l">
              <a:lnSpc>
                <a:spcPct val="110000"/>
              </a:lnSpc>
              <a:spcAft>
                <a:spcPts val="0"/>
              </a:spcAft>
            </a:pPr>
            <a:r>
              <a:rPr sz="1650" b="0" i="1">
                <a:solidFill>
                  <a:srgbClr val="2B211A"/>
                </a:solidFill>
                <a:latin typeface="Cambria"/>
              </a:rPr>
              <a:t>Vì sao người xưa nói: “Muốn giữ được cá thì phải giữ được rừng”?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74320"/>
          </a:xfrm>
          <a:prstGeom prst="rect">
            <a:avLst/>
          </a:prstGeom>
          <a:noFill/>
        </p:spPr>
        <p:txBody>
          <a:bodyPr wrap="square" lIns="0" rIns="0" tIns="0" bIns="0" anchor="t">
            <a:spAutoFit/>
          </a:bodyPr>
          <a:lstStyle/>
          <a:p>
            <a:pPr algn="l">
              <a:lnSpc>
                <a:spcPct val="108000"/>
              </a:lnSpc>
              <a:spcAft>
                <a:spcPts val="0"/>
              </a:spcAft>
            </a:pPr>
            <a:r>
              <a:rPr sz="1300" b="1" i="0" spc="200">
                <a:solidFill>
                  <a:srgbClr val="2C5A73"/>
                </a:solidFill>
                <a:latin typeface="Cambria"/>
              </a:rPr>
              <a:t>CHẶNG 3  ·  TRAO ĐỔI  ·  PHẢN BIỆN</a:t>
            </a:r>
          </a:p>
        </p:txBody>
      </p:sp>
      <p:sp>
        <p:nvSpPr>
          <p:cNvPr id="3" name="TextBox 2"/>
          <p:cNvSpPr txBox="1"/>
          <p:nvPr/>
        </p:nvSpPr>
        <p:spPr>
          <a:xfrm>
            <a:off x="548640" y="713232"/>
            <a:ext cx="11064240" cy="640080"/>
          </a:xfrm>
          <a:prstGeom prst="rect">
            <a:avLst/>
          </a:prstGeom>
          <a:noFill/>
        </p:spPr>
        <p:txBody>
          <a:bodyPr wrap="square" lIns="0" rIns="0" tIns="0" bIns="0" anchor="t">
            <a:spAutoFit/>
          </a:bodyPr>
          <a:lstStyle/>
          <a:p>
            <a:pPr algn="l">
              <a:lnSpc>
                <a:spcPct val="108000"/>
              </a:lnSpc>
              <a:spcAft>
                <a:spcPts val="0"/>
              </a:spcAft>
            </a:pPr>
            <a:r>
              <a:rPr sz="3200" b="1" i="0">
                <a:solidFill>
                  <a:srgbClr val="2B211A"/>
                </a:solidFill>
                <a:latin typeface="Cambria"/>
              </a:rPr>
              <a:t>Hai cách nhìn – em nghĩ sao?</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8000"/>
              </a:lnSpc>
              <a:spcAft>
                <a:spcPts val="0"/>
              </a:spcAft>
            </a:pPr>
            <a:r>
              <a:rPr sz="1000" b="0" i="0">
                <a:solidFill>
                  <a:srgbClr val="6B645C"/>
                </a:solidFill>
                <a:latin typeface="Cambria"/>
              </a:rPr>
              <a:t>Đạo đức lớp 5  |  Khu rừng Shirakami  |  40 phút</a:t>
            </a:r>
          </a:p>
        </p:txBody>
      </p:sp>
      <p:sp>
        <p:nvSpPr>
          <p:cNvPr id="5" name="TextBox 4"/>
          <p:cNvSpPr txBox="1"/>
          <p:nvPr/>
        </p:nvSpPr>
        <p:spPr>
          <a:xfrm>
            <a:off x="10698480" y="6473952"/>
            <a:ext cx="941832" cy="228600"/>
          </a:xfrm>
          <a:prstGeom prst="rect">
            <a:avLst/>
          </a:prstGeom>
          <a:noFill/>
        </p:spPr>
        <p:txBody>
          <a:bodyPr wrap="square" lIns="0" rIns="0" tIns="0" bIns="0" anchor="t">
            <a:spAutoFit/>
          </a:bodyPr>
          <a:lstStyle/>
          <a:p>
            <a:pPr algn="r">
              <a:lnSpc>
                <a:spcPct val="108000"/>
              </a:lnSpc>
              <a:spcAft>
                <a:spcPts val="0"/>
              </a:spcAft>
            </a:pPr>
            <a:r>
              <a:rPr sz="1000" b="0" i="0">
                <a:solidFill>
                  <a:srgbClr val="6B645C"/>
                </a:solidFill>
                <a:latin typeface="Cambria"/>
              </a:rPr>
              <a:t>12</a:t>
            </a:r>
          </a:p>
        </p:txBody>
      </p:sp>
      <p:sp>
        <p:nvSpPr>
          <p:cNvPr id="6" name="Rounded Rectangle 5"/>
          <p:cNvSpPr/>
          <p:nvPr/>
        </p:nvSpPr>
        <p:spPr>
          <a:xfrm>
            <a:off x="548640" y="1600200"/>
            <a:ext cx="5376672" cy="2240280"/>
          </a:xfrm>
          <a:prstGeom prst="roundRect">
            <a:avLst>
              <a:gd name="adj" fmla="val 7000"/>
            </a:avLst>
          </a:prstGeom>
          <a:solidFill>
            <a:srgbClr val="FFF3DC"/>
          </a:solidFill>
          <a:ln w="9525">
            <a:solidFill>
              <a:srgbClr val="E8A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1810512"/>
            <a:ext cx="548640" cy="548640"/>
          </a:xfrm>
          <a:prstGeom prst="ellipse">
            <a:avLst/>
          </a:prstGeom>
          <a:solidFill>
            <a:srgbClr val="B8741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A</a:t>
            </a:r>
          </a:p>
        </p:txBody>
      </p:sp>
      <p:sp>
        <p:nvSpPr>
          <p:cNvPr id="8" name="TextBox 7"/>
          <p:cNvSpPr txBox="1"/>
          <p:nvPr/>
        </p:nvSpPr>
        <p:spPr>
          <a:xfrm>
            <a:off x="1508760" y="1874519"/>
            <a:ext cx="4114800" cy="411480"/>
          </a:xfrm>
          <a:prstGeom prst="rect">
            <a:avLst/>
          </a:prstGeom>
          <a:noFill/>
        </p:spPr>
        <p:txBody>
          <a:bodyPr wrap="square" lIns="0" rIns="0" tIns="0" bIns="0" anchor="ctr">
            <a:spAutoFit/>
          </a:bodyPr>
          <a:lstStyle/>
          <a:p>
            <a:pPr algn="l">
              <a:lnSpc>
                <a:spcPct val="108000"/>
              </a:lnSpc>
              <a:spcAft>
                <a:spcPts val="0"/>
              </a:spcAft>
            </a:pPr>
            <a:r>
              <a:rPr sz="1400" b="1" i="0">
                <a:solidFill>
                  <a:srgbClr val="B87410"/>
                </a:solidFill>
                <a:latin typeface="Cambria"/>
              </a:rPr>
              <a:t>Người dân A</a:t>
            </a:r>
          </a:p>
        </p:txBody>
      </p:sp>
      <p:sp>
        <p:nvSpPr>
          <p:cNvPr id="9" name="TextBox 8"/>
          <p:cNvSpPr txBox="1"/>
          <p:nvPr/>
        </p:nvSpPr>
        <p:spPr>
          <a:xfrm>
            <a:off x="868680" y="2514600"/>
            <a:ext cx="4754880" cy="1280160"/>
          </a:xfrm>
          <a:prstGeom prst="rect">
            <a:avLst/>
          </a:prstGeom>
          <a:noFill/>
        </p:spPr>
        <p:txBody>
          <a:bodyPr wrap="square" lIns="0" rIns="0" tIns="0" bIns="0" anchor="t">
            <a:spAutoFit/>
          </a:bodyPr>
          <a:lstStyle/>
          <a:p>
            <a:pPr algn="l">
              <a:lnSpc>
                <a:spcPct val="112000"/>
              </a:lnSpc>
              <a:spcAft>
                <a:spcPts val="0"/>
              </a:spcAft>
            </a:pPr>
            <a:r>
              <a:rPr sz="1800" b="0" i="1">
                <a:solidFill>
                  <a:srgbClr val="2B211A"/>
                </a:solidFill>
                <a:latin typeface="Cambria"/>
              </a:rPr>
              <a:t>“Mở đường thì buôn bán dễ hơn, thu nhập cao hơn. Đó là cuộc sống của chúng ta ngay hôm nay!”</a:t>
            </a:r>
          </a:p>
        </p:txBody>
      </p:sp>
      <p:sp>
        <p:nvSpPr>
          <p:cNvPr id="10" name="Rounded Rectangle 9"/>
          <p:cNvSpPr/>
          <p:nvPr/>
        </p:nvSpPr>
        <p:spPr>
          <a:xfrm>
            <a:off x="6263640" y="1600200"/>
            <a:ext cx="5376672" cy="2240280"/>
          </a:xfrm>
          <a:prstGeom prst="roundRect">
            <a:avLst>
              <a:gd name="adj" fmla="val 7000"/>
            </a:avLst>
          </a:prstGeom>
          <a:solidFill>
            <a:srgbClr val="E6F0DC"/>
          </a:solidFill>
          <a:ln w="9525">
            <a:solidFill>
              <a:srgbClr val="53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37959" y="1810512"/>
            <a:ext cx="548640" cy="548640"/>
          </a:xfrm>
          <a:prstGeom prst="ellipse">
            <a:avLst/>
          </a:prstGeom>
          <a:solidFill>
            <a:srgbClr val="3857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B</a:t>
            </a:r>
          </a:p>
        </p:txBody>
      </p:sp>
      <p:sp>
        <p:nvSpPr>
          <p:cNvPr id="12" name="TextBox 11"/>
          <p:cNvSpPr txBox="1"/>
          <p:nvPr/>
        </p:nvSpPr>
        <p:spPr>
          <a:xfrm>
            <a:off x="7223759" y="1874519"/>
            <a:ext cx="4114800" cy="411480"/>
          </a:xfrm>
          <a:prstGeom prst="rect">
            <a:avLst/>
          </a:prstGeom>
          <a:noFill/>
        </p:spPr>
        <p:txBody>
          <a:bodyPr wrap="square" lIns="0" rIns="0" tIns="0" bIns="0" anchor="ctr">
            <a:spAutoFit/>
          </a:bodyPr>
          <a:lstStyle/>
          <a:p>
            <a:pPr algn="l">
              <a:lnSpc>
                <a:spcPct val="108000"/>
              </a:lnSpc>
              <a:spcAft>
                <a:spcPts val="0"/>
              </a:spcAft>
            </a:pPr>
            <a:r>
              <a:rPr sz="1400" b="1" i="0">
                <a:solidFill>
                  <a:srgbClr val="385723"/>
                </a:solidFill>
                <a:latin typeface="Cambria"/>
              </a:rPr>
              <a:t>Người dân B</a:t>
            </a:r>
          </a:p>
        </p:txBody>
      </p:sp>
      <p:sp>
        <p:nvSpPr>
          <p:cNvPr id="13" name="TextBox 12"/>
          <p:cNvSpPr txBox="1"/>
          <p:nvPr/>
        </p:nvSpPr>
        <p:spPr>
          <a:xfrm>
            <a:off x="6583679" y="2514600"/>
            <a:ext cx="4754880" cy="1280160"/>
          </a:xfrm>
          <a:prstGeom prst="rect">
            <a:avLst/>
          </a:prstGeom>
          <a:noFill/>
        </p:spPr>
        <p:txBody>
          <a:bodyPr wrap="square" lIns="0" rIns="0" tIns="0" bIns="0" anchor="t">
            <a:spAutoFit/>
          </a:bodyPr>
          <a:lstStyle/>
          <a:p>
            <a:pPr algn="l">
              <a:lnSpc>
                <a:spcPct val="112000"/>
              </a:lnSpc>
              <a:spcAft>
                <a:spcPts val="0"/>
              </a:spcAft>
            </a:pPr>
            <a:r>
              <a:rPr sz="1800" b="0" i="1">
                <a:solidFill>
                  <a:srgbClr val="2B211A"/>
                </a:solidFill>
                <a:latin typeface="Cambria"/>
              </a:rPr>
              <a:t>“Chặt rừng thì sông cạn, cá mất, mưa lớn là lũ lụt. Rồi con cháu chúng ta sẽ sống ra sao?”</a:t>
            </a:r>
          </a:p>
        </p:txBody>
      </p:sp>
      <p:sp>
        <p:nvSpPr>
          <p:cNvPr id="14" name="Rounded Rectangle 13"/>
          <p:cNvSpPr/>
          <p:nvPr/>
        </p:nvSpPr>
        <p:spPr>
          <a:xfrm>
            <a:off x="548640" y="4114800"/>
            <a:ext cx="11091672" cy="960120"/>
          </a:xfrm>
          <a:prstGeom prst="roundRect">
            <a:avLst>
              <a:gd name="adj" fmla="val 10000"/>
            </a:avLst>
          </a:prstGeom>
          <a:solidFill>
            <a:srgbClr val="2B2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114800"/>
            <a:ext cx="10515600" cy="960120"/>
          </a:xfrm>
          <a:prstGeom prst="rect">
            <a:avLst/>
          </a:prstGeom>
          <a:noFill/>
        </p:spPr>
        <p:txBody>
          <a:bodyPr wrap="square" lIns="0" rIns="0" tIns="0" bIns="0" anchor="ctr">
            <a:spAutoFit/>
          </a:bodyPr>
          <a:lstStyle/>
          <a:p>
            <a:pPr algn="ctr">
              <a:lnSpc>
                <a:spcPct val="110000"/>
              </a:lnSpc>
              <a:spcAft>
                <a:spcPts val="0"/>
              </a:spcAft>
            </a:pPr>
            <a:r>
              <a:rPr sz="2100" b="1" i="0">
                <a:solidFill>
                  <a:srgbClr val="FFFFFF"/>
                </a:solidFill>
                <a:latin typeface="Cambria"/>
              </a:rPr>
              <a:t>Em đồng ý với người dân nào hơn – hay em có ý kiến khác? Điều gì khiến em muốn thay đổi suy nghĩ?</a:t>
            </a:r>
          </a:p>
        </p:txBody>
      </p:sp>
      <p:sp>
        <p:nvSpPr>
          <p:cNvPr id="16" name="Rounded Rectangle 15"/>
          <p:cNvSpPr/>
          <p:nvPr/>
        </p:nvSpPr>
        <p:spPr>
          <a:xfrm>
            <a:off x="548640" y="5303520"/>
            <a:ext cx="11091672" cy="822960"/>
          </a:xfrm>
          <a:prstGeom prst="roundRect">
            <a:avLst>
              <a:gd name="adj" fmla="val 10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303520"/>
            <a:ext cx="7863840" cy="822960"/>
          </a:xfrm>
          <a:prstGeom prst="rect">
            <a:avLst/>
          </a:prstGeom>
          <a:noFill/>
        </p:spPr>
        <p:txBody>
          <a:bodyPr wrap="square" lIns="0" rIns="0" tIns="0" bIns="0" anchor="ctr">
            <a:spAutoFit/>
          </a:bodyPr>
          <a:lstStyle/>
          <a:p>
            <a:pPr algn="l">
              <a:lnSpc>
                <a:spcPct val="108000"/>
              </a:lnSpc>
              <a:spcAft>
                <a:spcPts val="0"/>
              </a:spcAft>
            </a:pPr>
            <a:r>
              <a:rPr sz="1700" b="1" i="0">
                <a:solidFill>
                  <a:srgbClr val="A83349"/>
                </a:solidFill>
                <a:latin typeface="Cambria"/>
              </a:rPr>
              <a:t>Câu hỏi phản biện:  </a:t>
            </a:r>
            <a:r>
              <a:rPr sz="1700" b="0" i="1">
                <a:solidFill>
                  <a:srgbClr val="2B211A"/>
                </a:solidFill>
                <a:latin typeface="Cambria"/>
              </a:rPr>
              <a:t>Có cách nào để cuộc sống của người dân đủ đầy mà rừng vẫn còn nguyên?</a:t>
            </a:r>
          </a:p>
        </p:txBody>
      </p:sp>
      <p:sp>
        <p:nvSpPr>
          <p:cNvPr id="18" name="TextBox 17"/>
          <p:cNvSpPr txBox="1"/>
          <p:nvPr/>
        </p:nvSpPr>
        <p:spPr>
          <a:xfrm>
            <a:off x="8778240" y="5303520"/>
            <a:ext cx="2651760" cy="822960"/>
          </a:xfrm>
          <a:prstGeom prst="rect">
            <a:avLst/>
          </a:prstGeom>
          <a:noFill/>
        </p:spPr>
        <p:txBody>
          <a:bodyPr wrap="square" lIns="0" rIns="0" tIns="0" bIns="0" anchor="ctr">
            <a:spAutoFit/>
          </a:bodyPr>
          <a:lstStyle/>
          <a:p>
            <a:pPr algn="r">
              <a:lnSpc>
                <a:spcPct val="108000"/>
              </a:lnSpc>
              <a:spcAft>
                <a:spcPts val="0"/>
              </a:spcAft>
            </a:pPr>
            <a:r>
              <a:rPr sz="1300" b="1" i="0">
                <a:solidFill>
                  <a:srgbClr val="2C5A73"/>
                </a:solidFill>
                <a:latin typeface="Cambria"/>
              </a:rPr>
              <a:t>Cặp đôi → Nhóm 4 → Cả lớp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74320"/>
          </a:xfrm>
          <a:prstGeom prst="rect">
            <a:avLst/>
          </a:prstGeom>
          <a:noFill/>
        </p:spPr>
        <p:txBody>
          <a:bodyPr wrap="square" lIns="0" rIns="0" tIns="0" bIns="0" anchor="t">
            <a:spAutoFit/>
          </a:bodyPr>
          <a:lstStyle/>
          <a:p>
            <a:pPr algn="l">
              <a:lnSpc>
                <a:spcPct val="108000"/>
              </a:lnSpc>
              <a:spcAft>
                <a:spcPts val="0"/>
              </a:spcAft>
            </a:pPr>
            <a:r>
              <a:rPr sz="1300" b="1" i="0" spc="200">
                <a:solidFill>
                  <a:srgbClr val="2C5A73"/>
                </a:solidFill>
                <a:latin typeface="Cambria"/>
              </a:rPr>
              <a:t>CHẶNG 4  ·  ĐỌC HẾT PHẦN CÒN LẠI  ·  9 PHÚT</a:t>
            </a:r>
          </a:p>
        </p:txBody>
      </p:sp>
      <p:sp>
        <p:nvSpPr>
          <p:cNvPr id="3" name="TextBox 2"/>
          <p:cNvSpPr txBox="1"/>
          <p:nvPr/>
        </p:nvSpPr>
        <p:spPr>
          <a:xfrm>
            <a:off x="548640" y="713232"/>
            <a:ext cx="11064240" cy="640080"/>
          </a:xfrm>
          <a:prstGeom prst="rect">
            <a:avLst/>
          </a:prstGeom>
          <a:noFill/>
        </p:spPr>
        <p:txBody>
          <a:bodyPr wrap="square" lIns="0" rIns="0" tIns="0" bIns="0" anchor="t">
            <a:spAutoFit/>
          </a:bodyPr>
          <a:lstStyle/>
          <a:p>
            <a:pPr algn="l">
              <a:lnSpc>
                <a:spcPct val="108000"/>
              </a:lnSpc>
              <a:spcAft>
                <a:spcPts val="0"/>
              </a:spcAft>
            </a:pPr>
            <a:r>
              <a:rPr sz="3200" b="1" i="0">
                <a:solidFill>
                  <a:srgbClr val="2B211A"/>
                </a:solidFill>
                <a:latin typeface="Cambria"/>
              </a:rPr>
              <a:t>Người dân đã chọn thế nào?</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8000"/>
              </a:lnSpc>
              <a:spcAft>
                <a:spcPts val="0"/>
              </a:spcAft>
            </a:pPr>
            <a:r>
              <a:rPr sz="1000" b="0" i="0">
                <a:solidFill>
                  <a:srgbClr val="6B645C"/>
                </a:solidFill>
                <a:latin typeface="Cambria"/>
              </a:rPr>
              <a:t>Đạo đức lớp 5  |  Khu rừng Shirakami  |  40 phút</a:t>
            </a:r>
          </a:p>
        </p:txBody>
      </p:sp>
      <p:sp>
        <p:nvSpPr>
          <p:cNvPr id="5" name="TextBox 4"/>
          <p:cNvSpPr txBox="1"/>
          <p:nvPr/>
        </p:nvSpPr>
        <p:spPr>
          <a:xfrm>
            <a:off x="10698480" y="6473952"/>
            <a:ext cx="941832" cy="228600"/>
          </a:xfrm>
          <a:prstGeom prst="rect">
            <a:avLst/>
          </a:prstGeom>
          <a:noFill/>
        </p:spPr>
        <p:txBody>
          <a:bodyPr wrap="square" lIns="0" rIns="0" tIns="0" bIns="0" anchor="t">
            <a:spAutoFit/>
          </a:bodyPr>
          <a:lstStyle/>
          <a:p>
            <a:pPr algn="r">
              <a:lnSpc>
                <a:spcPct val="108000"/>
              </a:lnSpc>
              <a:spcAft>
                <a:spcPts val="0"/>
              </a:spcAft>
            </a:pPr>
            <a:r>
              <a:rPr sz="1000" b="0" i="0">
                <a:solidFill>
                  <a:srgbClr val="6B645C"/>
                </a:solidFill>
                <a:latin typeface="Cambria"/>
              </a:rPr>
              <a:t>13</a:t>
            </a:r>
          </a:p>
        </p:txBody>
      </p:sp>
      <p:sp>
        <p:nvSpPr>
          <p:cNvPr id="6" name="Rectangle 5"/>
          <p:cNvSpPr/>
          <p:nvPr/>
        </p:nvSpPr>
        <p:spPr>
          <a:xfrm>
            <a:off x="996696" y="1920240"/>
            <a:ext cx="54864" cy="3246120"/>
          </a:xfrm>
          <a:prstGeom prst="rect">
            <a:avLst/>
          </a:prstGeom>
          <a:solidFill>
            <a:srgbClr val="C9D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709928"/>
            <a:ext cx="502920" cy="502920"/>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1</a:t>
            </a:r>
          </a:p>
        </p:txBody>
      </p:sp>
      <p:sp>
        <p:nvSpPr>
          <p:cNvPr id="8" name="TextBox 7"/>
          <p:cNvSpPr txBox="1"/>
          <p:nvPr/>
        </p:nvSpPr>
        <p:spPr>
          <a:xfrm>
            <a:off x="1508760" y="1673352"/>
            <a:ext cx="1645920" cy="640080"/>
          </a:xfrm>
          <a:prstGeom prst="rect">
            <a:avLst/>
          </a:prstGeom>
          <a:noFill/>
        </p:spPr>
        <p:txBody>
          <a:bodyPr wrap="square" lIns="0" rIns="0" tIns="0" bIns="0" anchor="t">
            <a:spAutoFit/>
          </a:bodyPr>
          <a:lstStyle/>
          <a:p>
            <a:pPr algn="l">
              <a:lnSpc>
                <a:spcPct val="100000"/>
              </a:lnSpc>
              <a:spcAft>
                <a:spcPts val="0"/>
              </a:spcAft>
            </a:pPr>
            <a:r>
              <a:rPr sz="1700" b="1" i="0">
                <a:solidFill>
                  <a:srgbClr val="2C5A73"/>
                </a:solidFill>
                <a:latin typeface="Cambria"/>
              </a:rPr>
              <a:t>1978</a:t>
            </a:r>
          </a:p>
        </p:txBody>
      </p:sp>
      <p:sp>
        <p:nvSpPr>
          <p:cNvPr id="9" name="TextBox 8"/>
          <p:cNvSpPr txBox="1"/>
          <p:nvPr/>
        </p:nvSpPr>
        <p:spPr>
          <a:xfrm>
            <a:off x="3108960" y="1655064"/>
            <a:ext cx="4023360" cy="914400"/>
          </a:xfrm>
          <a:prstGeom prst="rect">
            <a:avLst/>
          </a:prstGeom>
          <a:noFill/>
        </p:spPr>
        <p:txBody>
          <a:bodyPr wrap="square" lIns="0" rIns="0" tIns="0" bIns="0" anchor="t">
            <a:spAutoFit/>
          </a:bodyPr>
          <a:lstStyle/>
          <a:p>
            <a:pPr algn="l">
              <a:lnSpc>
                <a:spcPct val="103000"/>
              </a:lnSpc>
              <a:spcAft>
                <a:spcPts val="0"/>
              </a:spcAft>
            </a:pPr>
            <a:r>
              <a:rPr sz="1400" b="0" i="0">
                <a:solidFill>
                  <a:srgbClr val="2B211A"/>
                </a:solidFill>
                <a:latin typeface="Cambria"/>
              </a:rPr>
              <a:t>Kế hoạch mở “Đường rừng xanh Aosei” xuyên núi Shirakami.</a:t>
            </a:r>
          </a:p>
        </p:txBody>
      </p:sp>
      <p:sp>
        <p:nvSpPr>
          <p:cNvPr id="10" name="Oval 9"/>
          <p:cNvSpPr/>
          <p:nvPr/>
        </p:nvSpPr>
        <p:spPr>
          <a:xfrm>
            <a:off x="777240" y="2715768"/>
            <a:ext cx="502920" cy="502920"/>
          </a:xfrm>
          <a:prstGeom prst="ellipse">
            <a:avLst/>
          </a:prstGeom>
          <a:solidFill>
            <a:srgbClr val="A833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2</a:t>
            </a:r>
          </a:p>
        </p:txBody>
      </p:sp>
      <p:sp>
        <p:nvSpPr>
          <p:cNvPr id="11" name="TextBox 10"/>
          <p:cNvSpPr txBox="1"/>
          <p:nvPr/>
        </p:nvSpPr>
        <p:spPr>
          <a:xfrm>
            <a:off x="1508760" y="2679192"/>
            <a:ext cx="1645920" cy="640080"/>
          </a:xfrm>
          <a:prstGeom prst="rect">
            <a:avLst/>
          </a:prstGeom>
          <a:noFill/>
        </p:spPr>
        <p:txBody>
          <a:bodyPr wrap="square" lIns="0" rIns="0" tIns="0" bIns="0" anchor="t">
            <a:spAutoFit/>
          </a:bodyPr>
          <a:lstStyle/>
          <a:p>
            <a:pPr algn="l">
              <a:lnSpc>
                <a:spcPct val="100000"/>
              </a:lnSpc>
              <a:spcAft>
                <a:spcPts val="0"/>
              </a:spcAft>
            </a:pPr>
            <a:r>
              <a:rPr sz="1700" b="1" i="0">
                <a:solidFill>
                  <a:srgbClr val="A83349"/>
                </a:solidFill>
                <a:latin typeface="Cambria"/>
              </a:rPr>
              <a:t>Gần 10 năm</a:t>
            </a:r>
          </a:p>
        </p:txBody>
      </p:sp>
      <p:sp>
        <p:nvSpPr>
          <p:cNvPr id="12" name="TextBox 11"/>
          <p:cNvSpPr txBox="1"/>
          <p:nvPr/>
        </p:nvSpPr>
        <p:spPr>
          <a:xfrm>
            <a:off x="3108960" y="2660904"/>
            <a:ext cx="4023360" cy="914400"/>
          </a:xfrm>
          <a:prstGeom prst="rect">
            <a:avLst/>
          </a:prstGeom>
          <a:noFill/>
        </p:spPr>
        <p:txBody>
          <a:bodyPr wrap="square" lIns="0" rIns="0" tIns="0" bIns="0" anchor="t">
            <a:spAutoFit/>
          </a:bodyPr>
          <a:lstStyle/>
          <a:p>
            <a:pPr algn="l">
              <a:lnSpc>
                <a:spcPct val="103000"/>
              </a:lnSpc>
              <a:spcAft>
                <a:spcPts val="0"/>
              </a:spcAft>
            </a:pPr>
            <a:r>
              <a:rPr sz="1400" b="0" i="0">
                <a:solidFill>
                  <a:srgbClr val="2B211A"/>
                </a:solidFill>
                <a:latin typeface="Cambria"/>
              </a:rPr>
              <a:t>Người làm nông, làm rừng và đánh bắt cá ở địa phương đứng đầu cuộc vận động phản đối. Tiếng nói “Hãy bảo vệ rừng Buna!” lan ra khắp cả nước.</a:t>
            </a:r>
          </a:p>
        </p:txBody>
      </p:sp>
      <p:sp>
        <p:nvSpPr>
          <p:cNvPr id="13" name="Oval 12"/>
          <p:cNvSpPr/>
          <p:nvPr/>
        </p:nvSpPr>
        <p:spPr>
          <a:xfrm>
            <a:off x="777240" y="3721608"/>
            <a:ext cx="502920" cy="502920"/>
          </a:xfrm>
          <a:prstGeom prst="ellipse">
            <a:avLst/>
          </a:prstGeom>
          <a:solidFill>
            <a:srgbClr val="B8741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3</a:t>
            </a:r>
          </a:p>
        </p:txBody>
      </p:sp>
      <p:sp>
        <p:nvSpPr>
          <p:cNvPr id="14" name="TextBox 13"/>
          <p:cNvSpPr txBox="1"/>
          <p:nvPr/>
        </p:nvSpPr>
        <p:spPr>
          <a:xfrm>
            <a:off x="1508760" y="3685032"/>
            <a:ext cx="1645920" cy="640080"/>
          </a:xfrm>
          <a:prstGeom prst="rect">
            <a:avLst/>
          </a:prstGeom>
          <a:noFill/>
        </p:spPr>
        <p:txBody>
          <a:bodyPr wrap="square" lIns="0" rIns="0" tIns="0" bIns="0" anchor="t">
            <a:spAutoFit/>
          </a:bodyPr>
          <a:lstStyle/>
          <a:p>
            <a:pPr algn="l">
              <a:lnSpc>
                <a:spcPct val="100000"/>
              </a:lnSpc>
              <a:spcAft>
                <a:spcPts val="0"/>
              </a:spcAft>
            </a:pPr>
            <a:r>
              <a:rPr sz="1700" b="1" i="0">
                <a:solidFill>
                  <a:srgbClr val="B87410"/>
                </a:solidFill>
                <a:latin typeface="Cambria"/>
              </a:rPr>
              <a:t>Kết quả</a:t>
            </a:r>
          </a:p>
        </p:txBody>
      </p:sp>
      <p:sp>
        <p:nvSpPr>
          <p:cNvPr id="15" name="TextBox 14"/>
          <p:cNvSpPr txBox="1"/>
          <p:nvPr/>
        </p:nvSpPr>
        <p:spPr>
          <a:xfrm>
            <a:off x="3108960" y="3666744"/>
            <a:ext cx="4023360" cy="914400"/>
          </a:xfrm>
          <a:prstGeom prst="rect">
            <a:avLst/>
          </a:prstGeom>
          <a:noFill/>
        </p:spPr>
        <p:txBody>
          <a:bodyPr wrap="square" lIns="0" rIns="0" tIns="0" bIns="0" anchor="t">
            <a:spAutoFit/>
          </a:bodyPr>
          <a:lstStyle/>
          <a:p>
            <a:pPr algn="l">
              <a:lnSpc>
                <a:spcPct val="103000"/>
              </a:lnSpc>
              <a:spcAft>
                <a:spcPts val="0"/>
              </a:spcAft>
            </a:pPr>
            <a:r>
              <a:rPr sz="1400" b="0" i="0">
                <a:solidFill>
                  <a:srgbClr val="2B211A"/>
                </a:solidFill>
                <a:latin typeface="Cambria"/>
              </a:rPr>
              <a:t>Kế hoạch làm con đường bị hủy bỏ. Con đường chỉ dừng lại ở đoạn dài khoảng 5 km từ thị trấn Hachimori đến gần ranh giới tỉnh.</a:t>
            </a:r>
          </a:p>
        </p:txBody>
      </p:sp>
      <p:sp>
        <p:nvSpPr>
          <p:cNvPr id="16" name="Oval 15"/>
          <p:cNvSpPr/>
          <p:nvPr/>
        </p:nvSpPr>
        <p:spPr>
          <a:xfrm>
            <a:off x="777240" y="4727448"/>
            <a:ext cx="502920" cy="502920"/>
          </a:xfrm>
          <a:prstGeom prst="ellipse">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4</a:t>
            </a:r>
          </a:p>
        </p:txBody>
      </p:sp>
      <p:sp>
        <p:nvSpPr>
          <p:cNvPr id="17" name="TextBox 16"/>
          <p:cNvSpPr txBox="1"/>
          <p:nvPr/>
        </p:nvSpPr>
        <p:spPr>
          <a:xfrm>
            <a:off x="1508760" y="4690872"/>
            <a:ext cx="1645920" cy="640080"/>
          </a:xfrm>
          <a:prstGeom prst="rect">
            <a:avLst/>
          </a:prstGeom>
          <a:noFill/>
        </p:spPr>
        <p:txBody>
          <a:bodyPr wrap="square" lIns="0" rIns="0" tIns="0" bIns="0" anchor="t">
            <a:spAutoFit/>
          </a:bodyPr>
          <a:lstStyle/>
          <a:p>
            <a:pPr algn="l">
              <a:lnSpc>
                <a:spcPct val="100000"/>
              </a:lnSpc>
              <a:spcAft>
                <a:spcPts val="0"/>
              </a:spcAft>
            </a:pPr>
            <a:r>
              <a:rPr sz="1700" b="1" i="0">
                <a:solidFill>
                  <a:srgbClr val="538235"/>
                </a:solidFill>
                <a:latin typeface="Cambria"/>
              </a:rPr>
              <a:t>1993</a:t>
            </a:r>
          </a:p>
        </p:txBody>
      </p:sp>
      <p:sp>
        <p:nvSpPr>
          <p:cNvPr id="18" name="TextBox 17"/>
          <p:cNvSpPr txBox="1"/>
          <p:nvPr/>
        </p:nvSpPr>
        <p:spPr>
          <a:xfrm>
            <a:off x="3108960" y="4672584"/>
            <a:ext cx="4023360" cy="914400"/>
          </a:xfrm>
          <a:prstGeom prst="rect">
            <a:avLst/>
          </a:prstGeom>
          <a:noFill/>
        </p:spPr>
        <p:txBody>
          <a:bodyPr wrap="square" lIns="0" rIns="0" tIns="0" bIns="0" anchor="t">
            <a:spAutoFit/>
          </a:bodyPr>
          <a:lstStyle/>
          <a:p>
            <a:pPr algn="l">
              <a:lnSpc>
                <a:spcPct val="103000"/>
              </a:lnSpc>
              <a:spcAft>
                <a:spcPts val="0"/>
              </a:spcAft>
            </a:pPr>
            <a:r>
              <a:rPr sz="1400" b="0" i="0">
                <a:solidFill>
                  <a:srgbClr val="2B211A"/>
                </a:solidFill>
                <a:latin typeface="Cambria"/>
              </a:rPr>
              <a:t>Rừng Buna ở Shirakami trở thành di sản thế giới*, được gọi là “Shirakami của thế giới”.</a:t>
            </a:r>
          </a:p>
        </p:txBody>
      </p:sp>
      <p:sp>
        <p:nvSpPr>
          <p:cNvPr id="19" name="TextBox 18"/>
          <p:cNvSpPr txBox="1"/>
          <p:nvPr/>
        </p:nvSpPr>
        <p:spPr>
          <a:xfrm>
            <a:off x="548640" y="5715000"/>
            <a:ext cx="6583680" cy="640080"/>
          </a:xfrm>
          <a:prstGeom prst="rect">
            <a:avLst/>
          </a:prstGeom>
          <a:noFill/>
        </p:spPr>
        <p:txBody>
          <a:bodyPr wrap="square" lIns="0" rIns="0" tIns="0" bIns="0" anchor="t">
            <a:spAutoFit/>
          </a:bodyPr>
          <a:lstStyle/>
          <a:p>
            <a:pPr algn="l">
              <a:lnSpc>
                <a:spcPct val="105000"/>
              </a:lnSpc>
              <a:spcAft>
                <a:spcPts val="0"/>
              </a:spcAft>
            </a:pPr>
            <a:r>
              <a:rPr sz="1150" b="0" i="1">
                <a:solidFill>
                  <a:srgbClr val="6B645C"/>
                </a:solidFill>
                <a:latin typeface="Cambria"/>
              </a:rPr>
              <a:t>* Di sản thế giới: những môi trường tự nhiên và di sản văn hóa cần được bảo vệ như tài sản chung của toàn nhân loại, được UNESCO công nhận.</a:t>
            </a:r>
          </a:p>
        </p:txBody>
      </p:sp>
      <p:pic>
        <p:nvPicPr>
          <p:cNvPr id="20" name="Picture 19" descr="waterfall.jpg"/>
          <p:cNvPicPr>
            <a:picLocks noChangeAspect="1"/>
          </p:cNvPicPr>
          <p:nvPr/>
        </p:nvPicPr>
        <p:blipFill>
          <a:blip r:embed="rId2"/>
          <a:srcRect t="9342" b="9342"/>
          <a:stretch>
            <a:fillRect/>
          </a:stretch>
        </p:blipFill>
        <p:spPr>
          <a:xfrm>
            <a:off x="7498079" y="1600200"/>
            <a:ext cx="4142232" cy="4297680"/>
          </a:xfrm>
          <a:prstGeom prst="roundRect">
            <a:avLst>
              <a:gd name="adj" fmla="val 5000"/>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74320"/>
          </a:xfrm>
          <a:prstGeom prst="rect">
            <a:avLst/>
          </a:prstGeom>
          <a:noFill/>
        </p:spPr>
        <p:txBody>
          <a:bodyPr wrap="square" lIns="0" rIns="0" tIns="0" bIns="0" anchor="t">
            <a:spAutoFit/>
          </a:bodyPr>
          <a:lstStyle/>
          <a:p>
            <a:pPr algn="l">
              <a:lnSpc>
                <a:spcPct val="108000"/>
              </a:lnSpc>
              <a:spcAft>
                <a:spcPts val="0"/>
              </a:spcAft>
            </a:pPr>
            <a:r>
              <a:rPr sz="1300" b="1" i="0" spc="200">
                <a:solidFill>
                  <a:srgbClr val="2C5A73"/>
                </a:solidFill>
                <a:latin typeface="Cambria"/>
              </a:rPr>
              <a:t>CHẶNG 4  ·  ĐỌC TIẾP</a:t>
            </a:r>
          </a:p>
        </p:txBody>
      </p:sp>
      <p:sp>
        <p:nvSpPr>
          <p:cNvPr id="3" name="TextBox 2"/>
          <p:cNvSpPr txBox="1"/>
          <p:nvPr/>
        </p:nvSpPr>
        <p:spPr>
          <a:xfrm>
            <a:off x="548640" y="713232"/>
            <a:ext cx="11064240" cy="640080"/>
          </a:xfrm>
          <a:prstGeom prst="rect">
            <a:avLst/>
          </a:prstGeom>
          <a:noFill/>
        </p:spPr>
        <p:txBody>
          <a:bodyPr wrap="square" lIns="0" rIns="0" tIns="0" bIns="0" anchor="t">
            <a:spAutoFit/>
          </a:bodyPr>
          <a:lstStyle/>
          <a:p>
            <a:pPr algn="l">
              <a:lnSpc>
                <a:spcPct val="108000"/>
              </a:lnSpc>
              <a:spcAft>
                <a:spcPts val="0"/>
              </a:spcAft>
            </a:pPr>
            <a:r>
              <a:rPr sz="3200" b="1" i="0">
                <a:solidFill>
                  <a:srgbClr val="2B211A"/>
                </a:solidFill>
                <a:latin typeface="Cambria"/>
              </a:rPr>
              <a:t>Giữ rừng… bằng những việc rất cụ thể</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8000"/>
              </a:lnSpc>
              <a:spcAft>
                <a:spcPts val="0"/>
              </a:spcAft>
            </a:pPr>
            <a:r>
              <a:rPr sz="1000" b="0" i="0">
                <a:solidFill>
                  <a:srgbClr val="6B645C"/>
                </a:solidFill>
                <a:latin typeface="Cambria"/>
              </a:rPr>
              <a:t>Đạo đức lớp 5  |  Khu rừng Shirakami  |  40 phút</a:t>
            </a:r>
          </a:p>
        </p:txBody>
      </p:sp>
      <p:sp>
        <p:nvSpPr>
          <p:cNvPr id="5" name="TextBox 4"/>
          <p:cNvSpPr txBox="1"/>
          <p:nvPr/>
        </p:nvSpPr>
        <p:spPr>
          <a:xfrm>
            <a:off x="10698480" y="6473952"/>
            <a:ext cx="941832" cy="228600"/>
          </a:xfrm>
          <a:prstGeom prst="rect">
            <a:avLst/>
          </a:prstGeom>
          <a:noFill/>
        </p:spPr>
        <p:txBody>
          <a:bodyPr wrap="square" lIns="0" rIns="0" tIns="0" bIns="0" anchor="t">
            <a:spAutoFit/>
          </a:bodyPr>
          <a:lstStyle/>
          <a:p>
            <a:pPr algn="r">
              <a:lnSpc>
                <a:spcPct val="108000"/>
              </a:lnSpc>
              <a:spcAft>
                <a:spcPts val="0"/>
              </a:spcAft>
            </a:pPr>
            <a:r>
              <a:rPr sz="1000" b="0" i="0">
                <a:solidFill>
                  <a:srgbClr val="6B645C"/>
                </a:solidFill>
                <a:latin typeface="Cambria"/>
              </a:rPr>
              <a:t>14</a:t>
            </a:r>
          </a:p>
        </p:txBody>
      </p:sp>
      <p:pic>
        <p:nvPicPr>
          <p:cNvPr id="6" name="Picture 5" descr="fern.jpg"/>
          <p:cNvPicPr>
            <a:picLocks noChangeAspect="1"/>
          </p:cNvPicPr>
          <p:nvPr/>
        </p:nvPicPr>
        <p:blipFill>
          <a:blip r:embed="rId2"/>
          <a:srcRect t="15732" b="15732"/>
          <a:stretch>
            <a:fillRect/>
          </a:stretch>
        </p:blipFill>
        <p:spPr>
          <a:xfrm>
            <a:off x="548640" y="1600200"/>
            <a:ext cx="1280160" cy="1280160"/>
          </a:xfrm>
          <a:prstGeom prst="roundRect">
            <a:avLst>
              <a:gd name="adj" fmla="val 5000"/>
            </a:avLst>
          </a:prstGeom>
        </p:spPr>
      </p:pic>
      <p:sp>
        <p:nvSpPr>
          <p:cNvPr id="7" name="Rounded Rectangle 6"/>
          <p:cNvSpPr/>
          <p:nvPr/>
        </p:nvSpPr>
        <p:spPr>
          <a:xfrm>
            <a:off x="1965960" y="1600200"/>
            <a:ext cx="5257800" cy="1280160"/>
          </a:xfrm>
          <a:prstGeom prst="roundRect">
            <a:avLst>
              <a:gd name="adj" fmla="val 8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94560" y="1709928"/>
            <a:ext cx="4846320" cy="320040"/>
          </a:xfrm>
          <a:prstGeom prst="rect">
            <a:avLst/>
          </a:prstGeom>
          <a:noFill/>
        </p:spPr>
        <p:txBody>
          <a:bodyPr wrap="square" lIns="0" rIns="0" tIns="0" bIns="0" anchor="t">
            <a:spAutoFit/>
          </a:bodyPr>
          <a:lstStyle/>
          <a:p>
            <a:pPr algn="l">
              <a:lnSpc>
                <a:spcPct val="108000"/>
              </a:lnSpc>
              <a:spcAft>
                <a:spcPts val="0"/>
              </a:spcAft>
            </a:pPr>
            <a:r>
              <a:rPr sz="1500" b="1" i="0">
                <a:solidFill>
                  <a:srgbClr val="2C5A73"/>
                </a:solidFill>
                <a:latin typeface="Cambria"/>
              </a:rPr>
              <a:t>Dương xỉ (zenmai)</a:t>
            </a:r>
          </a:p>
        </p:txBody>
      </p:sp>
      <p:sp>
        <p:nvSpPr>
          <p:cNvPr id="9" name="TextBox 8"/>
          <p:cNvSpPr txBox="1"/>
          <p:nvPr/>
        </p:nvSpPr>
        <p:spPr>
          <a:xfrm>
            <a:off x="2194560" y="2057400"/>
            <a:ext cx="4846320" cy="822960"/>
          </a:xfrm>
          <a:prstGeom prst="rect">
            <a:avLst/>
          </a:prstGeom>
          <a:noFill/>
        </p:spPr>
        <p:txBody>
          <a:bodyPr wrap="square" lIns="0" rIns="0" tIns="0" bIns="0" anchor="t">
            <a:spAutoFit/>
          </a:bodyPr>
          <a:lstStyle/>
          <a:p>
            <a:pPr algn="l">
              <a:lnSpc>
                <a:spcPct val="105000"/>
              </a:lnSpc>
              <a:spcAft>
                <a:spcPts val="0"/>
              </a:spcAft>
            </a:pPr>
            <a:r>
              <a:rPr sz="1400" b="0" i="0">
                <a:solidFill>
                  <a:srgbClr val="2B211A"/>
                </a:solidFill>
                <a:latin typeface="Cambria"/>
              </a:rPr>
              <a:t>Mọc lên có 5 chồi – chỉ hái 2 chồi, chừa 3 chồi để cây tiếp tục phát triển. Hái xong, 2 năm không quay lại chỗ đó.</a:t>
            </a:r>
          </a:p>
        </p:txBody>
      </p:sp>
      <p:pic>
        <p:nvPicPr>
          <p:cNvPr id="10" name="Picture 9" descr="maitake.jpg"/>
          <p:cNvPicPr>
            <a:picLocks noChangeAspect="1"/>
          </p:cNvPicPr>
          <p:nvPr/>
        </p:nvPicPr>
        <p:blipFill>
          <a:blip r:embed="rId3"/>
          <a:srcRect l="18408" r="18408"/>
          <a:stretch>
            <a:fillRect/>
          </a:stretch>
        </p:blipFill>
        <p:spPr>
          <a:xfrm>
            <a:off x="548640" y="3017520"/>
            <a:ext cx="1280160" cy="1280160"/>
          </a:xfrm>
          <a:prstGeom prst="roundRect">
            <a:avLst>
              <a:gd name="adj" fmla="val 5000"/>
            </a:avLst>
          </a:prstGeom>
        </p:spPr>
      </p:pic>
      <p:sp>
        <p:nvSpPr>
          <p:cNvPr id="11" name="Rounded Rectangle 10"/>
          <p:cNvSpPr/>
          <p:nvPr/>
        </p:nvSpPr>
        <p:spPr>
          <a:xfrm>
            <a:off x="1965960" y="3017520"/>
            <a:ext cx="5257800" cy="1280160"/>
          </a:xfrm>
          <a:prstGeom prst="roundRect">
            <a:avLst>
              <a:gd name="adj" fmla="val 8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94560" y="3127248"/>
            <a:ext cx="4846320" cy="320040"/>
          </a:xfrm>
          <a:prstGeom prst="rect">
            <a:avLst/>
          </a:prstGeom>
          <a:noFill/>
        </p:spPr>
        <p:txBody>
          <a:bodyPr wrap="square" lIns="0" rIns="0" tIns="0" bIns="0" anchor="t">
            <a:spAutoFit/>
          </a:bodyPr>
          <a:lstStyle/>
          <a:p>
            <a:pPr algn="l">
              <a:lnSpc>
                <a:spcPct val="108000"/>
              </a:lnSpc>
              <a:spcAft>
                <a:spcPts val="0"/>
              </a:spcAft>
            </a:pPr>
            <a:r>
              <a:rPr sz="1500" b="1" i="0">
                <a:solidFill>
                  <a:srgbClr val="2C5A73"/>
                </a:solidFill>
                <a:latin typeface="Cambria"/>
              </a:rPr>
              <a:t>Nấm maitake</a:t>
            </a:r>
          </a:p>
        </p:txBody>
      </p:sp>
      <p:sp>
        <p:nvSpPr>
          <p:cNvPr id="13" name="TextBox 12"/>
          <p:cNvSpPr txBox="1"/>
          <p:nvPr/>
        </p:nvSpPr>
        <p:spPr>
          <a:xfrm>
            <a:off x="2194560" y="3474720"/>
            <a:ext cx="4846320" cy="822960"/>
          </a:xfrm>
          <a:prstGeom prst="rect">
            <a:avLst/>
          </a:prstGeom>
          <a:noFill/>
        </p:spPr>
        <p:txBody>
          <a:bodyPr wrap="square" lIns="0" rIns="0" tIns="0" bIns="0" anchor="t">
            <a:spAutoFit/>
          </a:bodyPr>
          <a:lstStyle/>
          <a:p>
            <a:pPr algn="l">
              <a:lnSpc>
                <a:spcPct val="105000"/>
              </a:lnSpc>
              <a:spcAft>
                <a:spcPts val="0"/>
              </a:spcAft>
            </a:pPr>
            <a:r>
              <a:rPr sz="1400" b="0" i="0">
                <a:solidFill>
                  <a:srgbClr val="2B211A"/>
                </a:solidFill>
                <a:latin typeface="Cambria"/>
              </a:rPr>
              <a:t>Mỗi mùa thu lại mọc đúng chỗ cũ. Nhưng đã hái một lần thì năm sau không hái ở chỗ đó nữa.</a:t>
            </a:r>
          </a:p>
        </p:txBody>
      </p:sp>
      <p:pic>
        <p:nvPicPr>
          <p:cNvPr id="14" name="Picture 13" descr="serow.jpg"/>
          <p:cNvPicPr>
            <a:picLocks noChangeAspect="1"/>
          </p:cNvPicPr>
          <p:nvPr/>
        </p:nvPicPr>
        <p:blipFill>
          <a:blip r:embed="rId4"/>
          <a:srcRect l="13504" r="13504"/>
          <a:stretch>
            <a:fillRect/>
          </a:stretch>
        </p:blipFill>
        <p:spPr>
          <a:xfrm>
            <a:off x="548640" y="4434840"/>
            <a:ext cx="1280160" cy="1280160"/>
          </a:xfrm>
          <a:prstGeom prst="roundRect">
            <a:avLst>
              <a:gd name="adj" fmla="val 5000"/>
            </a:avLst>
          </a:prstGeom>
        </p:spPr>
      </p:pic>
      <p:sp>
        <p:nvSpPr>
          <p:cNvPr id="15" name="Rounded Rectangle 14"/>
          <p:cNvSpPr/>
          <p:nvPr/>
        </p:nvSpPr>
        <p:spPr>
          <a:xfrm>
            <a:off x="1965960" y="4434840"/>
            <a:ext cx="5257800" cy="1280160"/>
          </a:xfrm>
          <a:prstGeom prst="roundRect">
            <a:avLst>
              <a:gd name="adj" fmla="val 8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4544568"/>
            <a:ext cx="4846320" cy="320040"/>
          </a:xfrm>
          <a:prstGeom prst="rect">
            <a:avLst/>
          </a:prstGeom>
          <a:noFill/>
        </p:spPr>
        <p:txBody>
          <a:bodyPr wrap="square" lIns="0" rIns="0" tIns="0" bIns="0" anchor="t">
            <a:spAutoFit/>
          </a:bodyPr>
          <a:lstStyle/>
          <a:p>
            <a:pPr algn="l">
              <a:lnSpc>
                <a:spcPct val="108000"/>
              </a:lnSpc>
              <a:spcAft>
                <a:spcPts val="0"/>
              </a:spcAft>
            </a:pPr>
            <a:r>
              <a:rPr sz="1500" b="1" i="0">
                <a:solidFill>
                  <a:srgbClr val="2C5A73"/>
                </a:solidFill>
                <a:latin typeface="Cambria"/>
              </a:rPr>
              <a:t>Kho báu của muôn loài</a:t>
            </a:r>
          </a:p>
        </p:txBody>
      </p:sp>
      <p:sp>
        <p:nvSpPr>
          <p:cNvPr id="17" name="TextBox 16"/>
          <p:cNvSpPr txBox="1"/>
          <p:nvPr/>
        </p:nvSpPr>
        <p:spPr>
          <a:xfrm>
            <a:off x="2194560" y="4892040"/>
            <a:ext cx="4846320" cy="822960"/>
          </a:xfrm>
          <a:prstGeom prst="rect">
            <a:avLst/>
          </a:prstGeom>
          <a:noFill/>
        </p:spPr>
        <p:txBody>
          <a:bodyPr wrap="square" lIns="0" rIns="0" tIns="0" bIns="0" anchor="t">
            <a:spAutoFit/>
          </a:bodyPr>
          <a:lstStyle/>
          <a:p>
            <a:pPr algn="l">
              <a:lnSpc>
                <a:spcPct val="105000"/>
              </a:lnSpc>
              <a:spcAft>
                <a:spcPts val="0"/>
              </a:spcAft>
            </a:pPr>
            <a:r>
              <a:rPr sz="1400" b="0" i="0">
                <a:solidFill>
                  <a:srgbClr val="2B211A"/>
                </a:solidFill>
                <a:latin typeface="Cambria"/>
              </a:rPr>
              <a:t>Linh dương Nhật Bản, đại bàng vàng, chim gõ kiến đen… sống trong rừng Buna và được bảo vệ.</a:t>
            </a:r>
          </a:p>
        </p:txBody>
      </p:sp>
      <p:sp>
        <p:nvSpPr>
          <p:cNvPr id="18" name="Rounded Rectangle 17"/>
          <p:cNvSpPr/>
          <p:nvPr/>
        </p:nvSpPr>
        <p:spPr>
          <a:xfrm>
            <a:off x="7543800" y="1600200"/>
            <a:ext cx="4096512" cy="1691640"/>
          </a:xfrm>
          <a:prstGeom prst="roundRect">
            <a:avLst>
              <a:gd name="adj" fmla="val 6000"/>
            </a:avLst>
          </a:prstGeom>
          <a:solidFill>
            <a:srgbClr val="F8E6EA"/>
          </a:solidFill>
          <a:ln w="9525">
            <a:solidFill>
              <a:srgbClr val="A833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0" y="1719072"/>
            <a:ext cx="3657600" cy="274320"/>
          </a:xfrm>
          <a:prstGeom prst="rect">
            <a:avLst/>
          </a:prstGeom>
          <a:noFill/>
        </p:spPr>
        <p:txBody>
          <a:bodyPr wrap="square" lIns="0" rIns="0" tIns="0" bIns="0" anchor="t">
            <a:spAutoFit/>
          </a:bodyPr>
          <a:lstStyle/>
          <a:p>
            <a:pPr algn="l">
              <a:lnSpc>
                <a:spcPct val="108000"/>
              </a:lnSpc>
              <a:spcAft>
                <a:spcPts val="0"/>
              </a:spcAft>
            </a:pPr>
            <a:r>
              <a:rPr sz="1150" b="1" i="0" spc="200">
                <a:solidFill>
                  <a:srgbClr val="A83349"/>
                </a:solidFill>
                <a:latin typeface="Cambria"/>
              </a:rPr>
              <a:t>SAU KHI NỔI TIẾNG…</a:t>
            </a:r>
          </a:p>
        </p:txBody>
      </p:sp>
      <p:sp>
        <p:nvSpPr>
          <p:cNvPr id="20" name="TextBox 19"/>
          <p:cNvSpPr txBox="1"/>
          <p:nvPr/>
        </p:nvSpPr>
        <p:spPr>
          <a:xfrm>
            <a:off x="7772400" y="2011680"/>
            <a:ext cx="3657600" cy="1280160"/>
          </a:xfrm>
          <a:prstGeom prst="rect">
            <a:avLst/>
          </a:prstGeom>
          <a:noFill/>
        </p:spPr>
        <p:txBody>
          <a:bodyPr wrap="square" lIns="0" rIns="0" tIns="0" bIns="0" anchor="t">
            <a:spAutoFit/>
          </a:bodyPr>
          <a:lstStyle/>
          <a:p>
            <a:pPr algn="l">
              <a:lnSpc>
                <a:spcPct val="105000"/>
              </a:lnSpc>
              <a:spcAft>
                <a:spcPts val="0"/>
              </a:spcAft>
            </a:pPr>
            <a:r>
              <a:rPr sz="1350" b="0" i="0">
                <a:solidFill>
                  <a:srgbClr val="2B211A"/>
                </a:solidFill>
                <a:latin typeface="Cambria"/>
              </a:rPr>
              <a:t>Nhiều người đến tham quan, nhưng cũng có người vứt rác bừa bãi, cắm trại, câu cá ở nơi bị cấm, làm hư hại cây cối, nhổ cả gốc cây mang về.</a:t>
            </a:r>
          </a:p>
        </p:txBody>
      </p:sp>
      <p:sp>
        <p:nvSpPr>
          <p:cNvPr id="21" name="Rounded Rectangle 20"/>
          <p:cNvSpPr/>
          <p:nvPr/>
        </p:nvSpPr>
        <p:spPr>
          <a:xfrm>
            <a:off x="7543800" y="3474720"/>
            <a:ext cx="4096512" cy="2606040"/>
          </a:xfrm>
          <a:prstGeom prst="roundRect">
            <a:avLst>
              <a:gd name="adj" fmla="val 5000"/>
            </a:avLst>
          </a:prstGeom>
          <a:solidFill>
            <a:srgbClr val="2B2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0" y="3611880"/>
            <a:ext cx="3657600" cy="274320"/>
          </a:xfrm>
          <a:prstGeom prst="rect">
            <a:avLst/>
          </a:prstGeom>
          <a:noFill/>
        </p:spPr>
        <p:txBody>
          <a:bodyPr wrap="square" lIns="0" rIns="0" tIns="0" bIns="0" anchor="t">
            <a:spAutoFit/>
          </a:bodyPr>
          <a:lstStyle/>
          <a:p>
            <a:pPr algn="l">
              <a:lnSpc>
                <a:spcPct val="108000"/>
              </a:lnSpc>
              <a:spcAft>
                <a:spcPts val="0"/>
              </a:spcAft>
            </a:pPr>
            <a:r>
              <a:rPr sz="1150" b="1" i="0" spc="200">
                <a:solidFill>
                  <a:srgbClr val="E8A03A"/>
                </a:solidFill>
                <a:latin typeface="Cambria"/>
              </a:rPr>
              <a:t>NGƯỜI DÂN ĐÃ LÀM GÌ?</a:t>
            </a:r>
          </a:p>
        </p:txBody>
      </p:sp>
      <p:sp>
        <p:nvSpPr>
          <p:cNvPr id="23" name="TextBox 22"/>
          <p:cNvSpPr txBox="1"/>
          <p:nvPr/>
        </p:nvSpPr>
        <p:spPr>
          <a:xfrm>
            <a:off x="7772400" y="3931920"/>
            <a:ext cx="3657600" cy="2103120"/>
          </a:xfrm>
          <a:prstGeom prst="rect">
            <a:avLst/>
          </a:prstGeom>
          <a:noFill/>
        </p:spPr>
        <p:txBody>
          <a:bodyPr wrap="square" lIns="0" rIns="0" tIns="0" bIns="0" anchor="t">
            <a:spAutoFit/>
          </a:bodyPr>
          <a:lstStyle/>
          <a:p>
            <a:pPr algn="l">
              <a:lnSpc>
                <a:spcPct val="105000"/>
              </a:lnSpc>
              <a:spcAft>
                <a:spcPts val="400"/>
              </a:spcAft>
            </a:pPr>
            <a:r>
              <a:rPr sz="1350" b="0" i="0">
                <a:solidFill>
                  <a:srgbClr val="FFFFFF"/>
                </a:solidFill>
                <a:latin typeface="Cambria"/>
              </a:rPr>
              <a:t>•  Phân chia rõ khu vực được vào và không được vào</a:t>
            </a:r>
          </a:p>
          <a:p>
            <a:pPr algn="l">
              <a:lnSpc>
                <a:spcPct val="105000"/>
              </a:lnSpc>
              <a:spcAft>
                <a:spcPts val="400"/>
              </a:spcAft>
            </a:pPr>
            <a:r>
              <a:rPr sz="1350" b="0" i="0">
                <a:solidFill>
                  <a:srgbClr val="FFFFFF"/>
                </a:solidFill>
                <a:latin typeface="Cambria"/>
              </a:rPr>
              <a:t>•  Dành một phần rừng làm nơi học tập, quan sát thiên nhiên</a:t>
            </a:r>
          </a:p>
          <a:p>
            <a:pPr algn="l">
              <a:lnSpc>
                <a:spcPct val="105000"/>
              </a:lnSpc>
              <a:spcAft>
                <a:spcPts val="400"/>
              </a:spcAft>
            </a:pPr>
            <a:r>
              <a:rPr sz="1350" b="0" i="0">
                <a:solidFill>
                  <a:srgbClr val="FFFFFF"/>
                </a:solidFill>
                <a:latin typeface="Cambria"/>
              </a:rPr>
              <a:t>•  Xây trung tâm để mọi người tìm hiểu môi trường</a:t>
            </a:r>
          </a:p>
          <a:p>
            <a:pPr algn="l">
              <a:lnSpc>
                <a:spcPct val="105000"/>
              </a:lnSpc>
              <a:spcAft>
                <a:spcPts val="400"/>
              </a:spcAft>
            </a:pPr>
            <a:r>
              <a:rPr sz="1350" b="0" i="0">
                <a:solidFill>
                  <a:srgbClr val="FFFFFF"/>
                </a:solidFill>
                <a:latin typeface="Cambria"/>
              </a:rPr>
              <a:t>•  Cả trẻ em cùng nhặt rác, trồng thêm cây Buna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74320"/>
          </a:xfrm>
          <a:prstGeom prst="rect">
            <a:avLst/>
          </a:prstGeom>
          <a:noFill/>
        </p:spPr>
        <p:txBody>
          <a:bodyPr wrap="square" lIns="0" rIns="0" tIns="0" bIns="0" anchor="t">
            <a:spAutoFit/>
          </a:bodyPr>
          <a:lstStyle/>
          <a:p>
            <a:pPr algn="l">
              <a:lnSpc>
                <a:spcPct val="108000"/>
              </a:lnSpc>
              <a:spcAft>
                <a:spcPts val="0"/>
              </a:spcAft>
            </a:pPr>
            <a:r>
              <a:rPr sz="1300" b="1" i="0" spc="200">
                <a:solidFill>
                  <a:srgbClr val="2C5A73"/>
                </a:solidFill>
                <a:latin typeface="Cambria"/>
              </a:rPr>
              <a:t>CHẶNG 4  ·  DỪNG LẠI ĐỂ NGHĨ</a:t>
            </a:r>
          </a:p>
        </p:txBody>
      </p:sp>
      <p:sp>
        <p:nvSpPr>
          <p:cNvPr id="3" name="TextBox 2"/>
          <p:cNvSpPr txBox="1"/>
          <p:nvPr/>
        </p:nvSpPr>
        <p:spPr>
          <a:xfrm>
            <a:off x="548640" y="713232"/>
            <a:ext cx="11064240" cy="640080"/>
          </a:xfrm>
          <a:prstGeom prst="rect">
            <a:avLst/>
          </a:prstGeom>
          <a:noFill/>
        </p:spPr>
        <p:txBody>
          <a:bodyPr wrap="square" lIns="0" rIns="0" tIns="0" bIns="0" anchor="t">
            <a:spAutoFit/>
          </a:bodyPr>
          <a:lstStyle/>
          <a:p>
            <a:pPr algn="l">
              <a:lnSpc>
                <a:spcPct val="108000"/>
              </a:lnSpc>
              <a:spcAft>
                <a:spcPts val="0"/>
              </a:spcAft>
            </a:pPr>
            <a:r>
              <a:rPr sz="3200" b="1" i="0">
                <a:solidFill>
                  <a:srgbClr val="2B211A"/>
                </a:solidFill>
                <a:latin typeface="Cambria"/>
              </a:rPr>
              <a:t>Không chạy theo lợi ích trước mắt?</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8000"/>
              </a:lnSpc>
              <a:spcAft>
                <a:spcPts val="0"/>
              </a:spcAft>
            </a:pPr>
            <a:r>
              <a:rPr sz="1000" b="0" i="0">
                <a:solidFill>
                  <a:srgbClr val="6B645C"/>
                </a:solidFill>
                <a:latin typeface="Cambria"/>
              </a:rPr>
              <a:t>Đạo đức lớp 5  |  Khu rừng Shirakami  |  40 phút</a:t>
            </a:r>
          </a:p>
        </p:txBody>
      </p:sp>
      <p:sp>
        <p:nvSpPr>
          <p:cNvPr id="5" name="TextBox 4"/>
          <p:cNvSpPr txBox="1"/>
          <p:nvPr/>
        </p:nvSpPr>
        <p:spPr>
          <a:xfrm>
            <a:off x="10698480" y="6473952"/>
            <a:ext cx="941832" cy="228600"/>
          </a:xfrm>
          <a:prstGeom prst="rect">
            <a:avLst/>
          </a:prstGeom>
          <a:noFill/>
        </p:spPr>
        <p:txBody>
          <a:bodyPr wrap="square" lIns="0" rIns="0" tIns="0" bIns="0" anchor="t">
            <a:spAutoFit/>
          </a:bodyPr>
          <a:lstStyle/>
          <a:p>
            <a:pPr algn="r">
              <a:lnSpc>
                <a:spcPct val="108000"/>
              </a:lnSpc>
              <a:spcAft>
                <a:spcPts val="0"/>
              </a:spcAft>
            </a:pPr>
            <a:r>
              <a:rPr sz="1000" b="0" i="0">
                <a:solidFill>
                  <a:srgbClr val="6B645C"/>
                </a:solidFill>
                <a:latin typeface="Cambria"/>
              </a:rPr>
              <a:t>15</a:t>
            </a:r>
          </a:p>
        </p:txBody>
      </p:sp>
      <p:sp>
        <p:nvSpPr>
          <p:cNvPr id="6" name="Rounded Rectangle 5"/>
          <p:cNvSpPr/>
          <p:nvPr/>
        </p:nvSpPr>
        <p:spPr>
          <a:xfrm>
            <a:off x="548640" y="1645920"/>
            <a:ext cx="2926080" cy="4297680"/>
          </a:xfrm>
          <a:prstGeom prst="roundRect">
            <a:avLst>
              <a:gd name="adj" fmla="val 4000"/>
            </a:avLst>
          </a:prstGeom>
          <a:solidFill>
            <a:srgbClr val="2B2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20240"/>
            <a:ext cx="2377440" cy="274320"/>
          </a:xfrm>
          <a:prstGeom prst="rect">
            <a:avLst/>
          </a:prstGeom>
          <a:noFill/>
        </p:spPr>
        <p:txBody>
          <a:bodyPr wrap="square" lIns="0" rIns="0" tIns="0" bIns="0" anchor="t">
            <a:spAutoFit/>
          </a:bodyPr>
          <a:lstStyle/>
          <a:p>
            <a:pPr algn="l">
              <a:lnSpc>
                <a:spcPct val="108000"/>
              </a:lnSpc>
              <a:spcAft>
                <a:spcPts val="0"/>
              </a:spcAft>
            </a:pPr>
            <a:r>
              <a:rPr sz="1400" b="1" i="0" spc="250">
                <a:solidFill>
                  <a:srgbClr val="E8A03A"/>
                </a:solidFill>
                <a:latin typeface="Cambria"/>
              </a:rPr>
              <a:t>THINK TIME</a:t>
            </a:r>
          </a:p>
        </p:txBody>
      </p:sp>
      <p:sp>
        <p:nvSpPr>
          <p:cNvPr id="8" name="TextBox 7"/>
          <p:cNvSpPr txBox="1"/>
          <p:nvPr/>
        </p:nvSpPr>
        <p:spPr>
          <a:xfrm>
            <a:off x="822960" y="2377440"/>
            <a:ext cx="2377440" cy="822960"/>
          </a:xfrm>
          <a:prstGeom prst="rect">
            <a:avLst/>
          </a:prstGeom>
          <a:noFill/>
        </p:spPr>
        <p:txBody>
          <a:bodyPr wrap="square" lIns="0" rIns="0" tIns="0" bIns="0" anchor="t">
            <a:spAutoFit/>
          </a:bodyPr>
          <a:lstStyle/>
          <a:p>
            <a:pPr algn="l">
              <a:lnSpc>
                <a:spcPct val="108000"/>
              </a:lnSpc>
              <a:spcAft>
                <a:spcPts val="0"/>
              </a:spcAft>
            </a:pPr>
            <a:r>
              <a:rPr sz="4400" b="1" i="0">
                <a:solidFill>
                  <a:srgbClr val="FFFFFF"/>
                </a:solidFill>
                <a:latin typeface="Cambria"/>
              </a:rPr>
              <a:t>1 phút</a:t>
            </a:r>
          </a:p>
        </p:txBody>
      </p:sp>
      <p:sp>
        <p:nvSpPr>
          <p:cNvPr id="9" name="TextBox 8"/>
          <p:cNvSpPr txBox="1"/>
          <p:nvPr/>
        </p:nvSpPr>
        <p:spPr>
          <a:xfrm>
            <a:off x="822960" y="3383280"/>
            <a:ext cx="2377440" cy="2377440"/>
          </a:xfrm>
          <a:prstGeom prst="rect">
            <a:avLst/>
          </a:prstGeom>
          <a:noFill/>
        </p:spPr>
        <p:txBody>
          <a:bodyPr wrap="square" lIns="0" rIns="0" tIns="0" bIns="0" anchor="t">
            <a:spAutoFit/>
          </a:bodyPr>
          <a:lstStyle/>
          <a:p>
            <a:pPr algn="l">
              <a:lnSpc>
                <a:spcPct val="115000"/>
              </a:lnSpc>
              <a:spcAft>
                <a:spcPts val="0"/>
              </a:spcAft>
            </a:pPr>
            <a:r>
              <a:rPr sz="1500" b="0" i="0">
                <a:solidFill>
                  <a:srgbClr val="E6DDD2"/>
                </a:solidFill>
                <a:latin typeface="Cambria"/>
              </a:rPr>
              <a:t>Viết hoặc vẽ vào thẻ của em.
Sau đó chia sẻ với bạn bên cạnh và nhóm 4 người.</a:t>
            </a:r>
          </a:p>
        </p:txBody>
      </p:sp>
      <p:sp>
        <p:nvSpPr>
          <p:cNvPr id="10" name="Rounded Rectangle 9"/>
          <p:cNvSpPr/>
          <p:nvPr/>
        </p:nvSpPr>
        <p:spPr>
          <a:xfrm>
            <a:off x="3749039" y="1645920"/>
            <a:ext cx="7891272" cy="1310640"/>
          </a:xfrm>
          <a:prstGeom prst="roundRect">
            <a:avLst>
              <a:gd name="adj" fmla="val 5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749039" y="1828800"/>
            <a:ext cx="82296" cy="944879"/>
          </a:xfrm>
          <a:prstGeom prst="rect">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69080" y="1801368"/>
            <a:ext cx="2743200" cy="274320"/>
          </a:xfrm>
          <a:prstGeom prst="rect">
            <a:avLst/>
          </a:prstGeom>
          <a:noFill/>
        </p:spPr>
        <p:txBody>
          <a:bodyPr wrap="square" lIns="0" rIns="0" tIns="0" bIns="0" anchor="t">
            <a:spAutoFit/>
          </a:bodyPr>
          <a:lstStyle/>
          <a:p>
            <a:pPr algn="l">
              <a:lnSpc>
                <a:spcPct val="108000"/>
              </a:lnSpc>
              <a:spcAft>
                <a:spcPts val="0"/>
              </a:spcAft>
            </a:pPr>
            <a:r>
              <a:rPr sz="1200" b="1" i="0" spc="200">
                <a:solidFill>
                  <a:srgbClr val="2C5A73"/>
                </a:solidFill>
                <a:latin typeface="Cambria"/>
              </a:rPr>
              <a:t>CÂU HỎI MỞ ĐẦU</a:t>
            </a:r>
          </a:p>
        </p:txBody>
      </p:sp>
      <p:sp>
        <p:nvSpPr>
          <p:cNvPr id="13" name="TextBox 12"/>
          <p:cNvSpPr txBox="1"/>
          <p:nvPr/>
        </p:nvSpPr>
        <p:spPr>
          <a:xfrm>
            <a:off x="4069080" y="2103120"/>
            <a:ext cx="7315200" cy="762000"/>
          </a:xfrm>
          <a:prstGeom prst="rect">
            <a:avLst/>
          </a:prstGeom>
          <a:noFill/>
        </p:spPr>
        <p:txBody>
          <a:bodyPr wrap="square" lIns="0" rIns="0" tIns="0" bIns="0" anchor="t">
            <a:spAutoFit/>
          </a:bodyPr>
          <a:lstStyle/>
          <a:p>
            <a:pPr algn="l">
              <a:lnSpc>
                <a:spcPct val="112000"/>
              </a:lnSpc>
              <a:spcAft>
                <a:spcPts val="0"/>
              </a:spcAft>
            </a:pPr>
            <a:r>
              <a:rPr sz="1900" b="0" i="1">
                <a:solidFill>
                  <a:srgbClr val="2B211A"/>
                </a:solidFill>
                <a:latin typeface="Cambria"/>
              </a:rPr>
              <a:t>Điều gì bất ngờ nhất với em ở kết thúc câu chuyện?</a:t>
            </a:r>
          </a:p>
        </p:txBody>
      </p:sp>
      <p:sp>
        <p:nvSpPr>
          <p:cNvPr id="14" name="Rounded Rectangle 13"/>
          <p:cNvSpPr/>
          <p:nvPr/>
        </p:nvSpPr>
        <p:spPr>
          <a:xfrm>
            <a:off x="3749039" y="3139440"/>
            <a:ext cx="7891272" cy="1310640"/>
          </a:xfrm>
          <a:prstGeom prst="roundRect">
            <a:avLst>
              <a:gd name="adj" fmla="val 5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749039" y="3322320"/>
            <a:ext cx="82296" cy="944879"/>
          </a:xfrm>
          <a:prstGeom prst="rect">
            <a:avLst/>
          </a:prstGeom>
          <a:solidFill>
            <a:srgbClr val="A833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69080" y="3294888"/>
            <a:ext cx="2743200" cy="274320"/>
          </a:xfrm>
          <a:prstGeom prst="rect">
            <a:avLst/>
          </a:prstGeom>
          <a:noFill/>
        </p:spPr>
        <p:txBody>
          <a:bodyPr wrap="square" lIns="0" rIns="0" tIns="0" bIns="0" anchor="t">
            <a:spAutoFit/>
          </a:bodyPr>
          <a:lstStyle/>
          <a:p>
            <a:pPr algn="l">
              <a:lnSpc>
                <a:spcPct val="108000"/>
              </a:lnSpc>
              <a:spcAft>
                <a:spcPts val="0"/>
              </a:spcAft>
            </a:pPr>
            <a:r>
              <a:rPr sz="1200" b="1" i="0" spc="200">
                <a:solidFill>
                  <a:srgbClr val="A83349"/>
                </a:solidFill>
                <a:latin typeface="Cambria"/>
              </a:rPr>
              <a:t>CÂU HỎI ĐÀO SÂU</a:t>
            </a:r>
          </a:p>
        </p:txBody>
      </p:sp>
      <p:sp>
        <p:nvSpPr>
          <p:cNvPr id="17" name="TextBox 16"/>
          <p:cNvSpPr txBox="1"/>
          <p:nvPr/>
        </p:nvSpPr>
        <p:spPr>
          <a:xfrm>
            <a:off x="4069080" y="3596640"/>
            <a:ext cx="7315200" cy="762000"/>
          </a:xfrm>
          <a:prstGeom prst="rect">
            <a:avLst/>
          </a:prstGeom>
          <a:noFill/>
        </p:spPr>
        <p:txBody>
          <a:bodyPr wrap="square" lIns="0" rIns="0" tIns="0" bIns="0" anchor="t">
            <a:spAutoFit/>
          </a:bodyPr>
          <a:lstStyle/>
          <a:p>
            <a:pPr algn="l">
              <a:lnSpc>
                <a:spcPct val="112000"/>
              </a:lnSpc>
              <a:spcAft>
                <a:spcPts val="0"/>
              </a:spcAft>
            </a:pPr>
            <a:r>
              <a:rPr sz="1900" b="0" i="1">
                <a:solidFill>
                  <a:srgbClr val="2B211A"/>
                </a:solidFill>
                <a:latin typeface="Cambria"/>
              </a:rPr>
              <a:t>Hái hết chồi thì sẽ được nhiều hơn. Vì sao người dân vẫn chỉ hái 2 chồi và chừa lại 3 chồi?</a:t>
            </a:r>
          </a:p>
        </p:txBody>
      </p:sp>
      <p:sp>
        <p:nvSpPr>
          <p:cNvPr id="18" name="Rounded Rectangle 17"/>
          <p:cNvSpPr/>
          <p:nvPr/>
        </p:nvSpPr>
        <p:spPr>
          <a:xfrm>
            <a:off x="3749039" y="4632960"/>
            <a:ext cx="7891272" cy="1310640"/>
          </a:xfrm>
          <a:prstGeom prst="roundRect">
            <a:avLst>
              <a:gd name="adj" fmla="val 5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749039" y="4815840"/>
            <a:ext cx="82296" cy="944879"/>
          </a:xfrm>
          <a:prstGeom prst="rect">
            <a:avLst/>
          </a:prstGeom>
          <a:solidFill>
            <a:srgbClr val="B874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69080" y="4788408"/>
            <a:ext cx="2743200" cy="274320"/>
          </a:xfrm>
          <a:prstGeom prst="rect">
            <a:avLst/>
          </a:prstGeom>
          <a:noFill/>
        </p:spPr>
        <p:txBody>
          <a:bodyPr wrap="square" lIns="0" rIns="0" tIns="0" bIns="0" anchor="t">
            <a:spAutoFit/>
          </a:bodyPr>
          <a:lstStyle/>
          <a:p>
            <a:pPr algn="l">
              <a:lnSpc>
                <a:spcPct val="108000"/>
              </a:lnSpc>
              <a:spcAft>
                <a:spcPts val="0"/>
              </a:spcAft>
            </a:pPr>
            <a:r>
              <a:rPr sz="1200" b="1" i="0" spc="200">
                <a:solidFill>
                  <a:srgbClr val="B87410"/>
                </a:solidFill>
                <a:latin typeface="Cambria"/>
              </a:rPr>
              <a:t>CÂU HỎI PHẢN BIỆN</a:t>
            </a:r>
          </a:p>
        </p:txBody>
      </p:sp>
      <p:sp>
        <p:nvSpPr>
          <p:cNvPr id="21" name="TextBox 20"/>
          <p:cNvSpPr txBox="1"/>
          <p:nvPr/>
        </p:nvSpPr>
        <p:spPr>
          <a:xfrm>
            <a:off x="4069080" y="5090160"/>
            <a:ext cx="7315200" cy="762000"/>
          </a:xfrm>
          <a:prstGeom prst="rect">
            <a:avLst/>
          </a:prstGeom>
          <a:noFill/>
        </p:spPr>
        <p:txBody>
          <a:bodyPr wrap="square" lIns="0" rIns="0" tIns="0" bIns="0" anchor="t">
            <a:spAutoFit/>
          </a:bodyPr>
          <a:lstStyle/>
          <a:p>
            <a:pPr algn="l">
              <a:lnSpc>
                <a:spcPct val="112000"/>
              </a:lnSpc>
              <a:spcAft>
                <a:spcPts val="0"/>
              </a:spcAft>
            </a:pPr>
            <a:r>
              <a:rPr sz="1900" b="0" i="1">
                <a:solidFill>
                  <a:srgbClr val="2B211A"/>
                </a:solidFill>
                <a:latin typeface="Cambria"/>
              </a:rPr>
              <a:t>Nhiều người đến tham quan là điều tốt, nhưng cũng làm hại rừng. Nếu em là người dân Shirakami, em sẽ làm gì?</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74320"/>
          </a:xfrm>
          <a:prstGeom prst="rect">
            <a:avLst/>
          </a:prstGeom>
          <a:noFill/>
        </p:spPr>
        <p:txBody>
          <a:bodyPr wrap="square" lIns="0" rIns="0" tIns="0" bIns="0" anchor="t">
            <a:spAutoFit/>
          </a:bodyPr>
          <a:lstStyle/>
          <a:p>
            <a:pPr algn="l">
              <a:lnSpc>
                <a:spcPct val="108000"/>
              </a:lnSpc>
              <a:spcAft>
                <a:spcPts val="0"/>
              </a:spcAft>
            </a:pPr>
            <a:r>
              <a:rPr sz="1300" b="1" i="0" spc="200">
                <a:solidFill>
                  <a:srgbClr val="2C5A73"/>
                </a:solidFill>
                <a:latin typeface="Cambria"/>
              </a:rPr>
              <a:t>REFLECTION  ·  6 PHÚT</a:t>
            </a:r>
          </a:p>
        </p:txBody>
      </p:sp>
      <p:sp>
        <p:nvSpPr>
          <p:cNvPr id="3" name="TextBox 2"/>
          <p:cNvSpPr txBox="1"/>
          <p:nvPr/>
        </p:nvSpPr>
        <p:spPr>
          <a:xfrm>
            <a:off x="548640" y="713232"/>
            <a:ext cx="11064240" cy="640080"/>
          </a:xfrm>
          <a:prstGeom prst="rect">
            <a:avLst/>
          </a:prstGeom>
          <a:noFill/>
        </p:spPr>
        <p:txBody>
          <a:bodyPr wrap="square" lIns="0" rIns="0" tIns="0" bIns="0" anchor="t">
            <a:spAutoFit/>
          </a:bodyPr>
          <a:lstStyle/>
          <a:p>
            <a:pPr algn="l">
              <a:lnSpc>
                <a:spcPct val="108000"/>
              </a:lnSpc>
              <a:spcAft>
                <a:spcPts val="0"/>
              </a:spcAft>
            </a:pPr>
            <a:r>
              <a:rPr sz="3200" b="1" i="0">
                <a:solidFill>
                  <a:srgbClr val="2B211A"/>
                </a:solidFill>
                <a:latin typeface="Cambria"/>
              </a:rPr>
              <a:t>Nhìn lại suy nghĩ của em</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8000"/>
              </a:lnSpc>
              <a:spcAft>
                <a:spcPts val="0"/>
              </a:spcAft>
            </a:pPr>
            <a:r>
              <a:rPr sz="1000" b="0" i="0">
                <a:solidFill>
                  <a:srgbClr val="6B645C"/>
                </a:solidFill>
                <a:latin typeface="Cambria"/>
              </a:rPr>
              <a:t>Đạo đức lớp 5  |  Khu rừng Shirakami  |  40 phút</a:t>
            </a:r>
          </a:p>
        </p:txBody>
      </p:sp>
      <p:sp>
        <p:nvSpPr>
          <p:cNvPr id="5" name="TextBox 4"/>
          <p:cNvSpPr txBox="1"/>
          <p:nvPr/>
        </p:nvSpPr>
        <p:spPr>
          <a:xfrm>
            <a:off x="10698480" y="6473952"/>
            <a:ext cx="941832" cy="228600"/>
          </a:xfrm>
          <a:prstGeom prst="rect">
            <a:avLst/>
          </a:prstGeom>
          <a:noFill/>
        </p:spPr>
        <p:txBody>
          <a:bodyPr wrap="square" lIns="0" rIns="0" tIns="0" bIns="0" anchor="t">
            <a:spAutoFit/>
          </a:bodyPr>
          <a:lstStyle/>
          <a:p>
            <a:pPr algn="r">
              <a:lnSpc>
                <a:spcPct val="108000"/>
              </a:lnSpc>
              <a:spcAft>
                <a:spcPts val="0"/>
              </a:spcAft>
            </a:pPr>
            <a:r>
              <a:rPr sz="1000" b="0" i="0">
                <a:solidFill>
                  <a:srgbClr val="6B645C"/>
                </a:solidFill>
                <a:latin typeface="Cambria"/>
              </a:rPr>
              <a:t>16</a:t>
            </a:r>
          </a:p>
        </p:txBody>
      </p:sp>
      <p:sp>
        <p:nvSpPr>
          <p:cNvPr id="6" name="Rounded Rectangle 5"/>
          <p:cNvSpPr/>
          <p:nvPr/>
        </p:nvSpPr>
        <p:spPr>
          <a:xfrm>
            <a:off x="548640" y="1645920"/>
            <a:ext cx="4480560" cy="4297680"/>
          </a:xfrm>
          <a:prstGeom prst="roundRect">
            <a:avLst>
              <a:gd name="adj" fmla="val 5000"/>
            </a:avLst>
          </a:prstGeom>
          <a:solidFill>
            <a:srgbClr val="2B2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20240"/>
            <a:ext cx="3840480" cy="274320"/>
          </a:xfrm>
          <a:prstGeom prst="rect">
            <a:avLst/>
          </a:prstGeom>
          <a:noFill/>
        </p:spPr>
        <p:txBody>
          <a:bodyPr wrap="square" lIns="0" rIns="0" tIns="0" bIns="0" anchor="t">
            <a:spAutoFit/>
          </a:bodyPr>
          <a:lstStyle/>
          <a:p>
            <a:pPr algn="l">
              <a:lnSpc>
                <a:spcPct val="108000"/>
              </a:lnSpc>
              <a:spcAft>
                <a:spcPts val="0"/>
              </a:spcAft>
            </a:pPr>
            <a:r>
              <a:rPr sz="1250" b="1" i="0" spc="250">
                <a:solidFill>
                  <a:srgbClr val="E8A03A"/>
                </a:solidFill>
                <a:latin typeface="Cambria"/>
              </a:rPr>
              <a:t>CÂU HỎI CUỐI GIỜ</a:t>
            </a:r>
          </a:p>
        </p:txBody>
      </p:sp>
      <p:sp>
        <p:nvSpPr>
          <p:cNvPr id="8" name="TextBox 7"/>
          <p:cNvSpPr txBox="1"/>
          <p:nvPr/>
        </p:nvSpPr>
        <p:spPr>
          <a:xfrm>
            <a:off x="868680" y="2377440"/>
            <a:ext cx="3840480" cy="2377440"/>
          </a:xfrm>
          <a:prstGeom prst="rect">
            <a:avLst/>
          </a:prstGeom>
          <a:noFill/>
        </p:spPr>
        <p:txBody>
          <a:bodyPr wrap="square" lIns="0" rIns="0" tIns="0" bIns="0" anchor="t">
            <a:spAutoFit/>
          </a:bodyPr>
          <a:lstStyle/>
          <a:p>
            <a:pPr algn="l">
              <a:lnSpc>
                <a:spcPct val="112000"/>
              </a:lnSpc>
              <a:spcAft>
                <a:spcPts val="0"/>
              </a:spcAft>
            </a:pPr>
            <a:r>
              <a:rPr sz="3200" b="1" i="0">
                <a:solidFill>
                  <a:srgbClr val="FFFFFF"/>
                </a:solidFill>
                <a:latin typeface="Cambria"/>
              </a:rPr>
              <a:t>Hôm nay, điều gì khiến em suy nghĩ nhiều nhất?</a:t>
            </a:r>
          </a:p>
        </p:txBody>
      </p:sp>
      <p:sp>
        <p:nvSpPr>
          <p:cNvPr id="9" name="TextBox 8"/>
          <p:cNvSpPr txBox="1"/>
          <p:nvPr/>
        </p:nvSpPr>
        <p:spPr>
          <a:xfrm>
            <a:off x="868680" y="4846320"/>
            <a:ext cx="3840480" cy="914400"/>
          </a:xfrm>
          <a:prstGeom prst="rect">
            <a:avLst/>
          </a:prstGeom>
          <a:noFill/>
        </p:spPr>
        <p:txBody>
          <a:bodyPr wrap="square" lIns="0" rIns="0" tIns="0" bIns="0" anchor="t">
            <a:spAutoFit/>
          </a:bodyPr>
          <a:lstStyle/>
          <a:p>
            <a:pPr algn="l">
              <a:lnSpc>
                <a:spcPct val="112000"/>
              </a:lnSpc>
              <a:spcAft>
                <a:spcPts val="0"/>
              </a:spcAft>
            </a:pPr>
            <a:r>
              <a:rPr sz="1400" b="0" i="1">
                <a:solidFill>
                  <a:srgbClr val="E6DDD2"/>
                </a:solidFill>
                <a:latin typeface="Cambria"/>
              </a:rPr>
              <a:t>Không có câu trả lời đúng hay sai. Mỗi bạn có thể có suy nghĩ riêng.</a:t>
            </a:r>
          </a:p>
        </p:txBody>
      </p:sp>
      <p:sp>
        <p:nvSpPr>
          <p:cNvPr id="10" name="Rounded Rectangle 9"/>
          <p:cNvSpPr/>
          <p:nvPr/>
        </p:nvSpPr>
        <p:spPr>
          <a:xfrm>
            <a:off x="5349240" y="1645920"/>
            <a:ext cx="6291072" cy="1325880"/>
          </a:xfrm>
          <a:prstGeom prst="roundRect">
            <a:avLst>
              <a:gd name="adj" fmla="val 7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577840" y="1828800"/>
            <a:ext cx="502920" cy="502920"/>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1</a:t>
            </a:r>
          </a:p>
        </p:txBody>
      </p:sp>
      <p:sp>
        <p:nvSpPr>
          <p:cNvPr id="12" name="TextBox 11"/>
          <p:cNvSpPr txBox="1"/>
          <p:nvPr/>
        </p:nvSpPr>
        <p:spPr>
          <a:xfrm>
            <a:off x="6309360" y="1847088"/>
            <a:ext cx="5120640" cy="457200"/>
          </a:xfrm>
          <a:prstGeom prst="rect">
            <a:avLst/>
          </a:prstGeom>
          <a:noFill/>
        </p:spPr>
        <p:txBody>
          <a:bodyPr wrap="square" lIns="0" rIns="0" tIns="0" bIns="0" anchor="ctr">
            <a:spAutoFit/>
          </a:bodyPr>
          <a:lstStyle/>
          <a:p>
            <a:pPr algn="l">
              <a:lnSpc>
                <a:spcPct val="108000"/>
              </a:lnSpc>
              <a:spcAft>
                <a:spcPts val="0"/>
              </a:spcAft>
            </a:pPr>
            <a:r>
              <a:rPr sz="1700" b="1" i="0">
                <a:solidFill>
                  <a:srgbClr val="2B211A"/>
                </a:solidFill>
                <a:latin typeface="Cambria"/>
              </a:rPr>
              <a:t>Trước giờ học, em nghĩ…</a:t>
            </a:r>
          </a:p>
        </p:txBody>
      </p:sp>
      <p:sp>
        <p:nvSpPr>
          <p:cNvPr id="13" name="TextBox 12"/>
          <p:cNvSpPr txBox="1"/>
          <p:nvPr/>
        </p:nvSpPr>
        <p:spPr>
          <a:xfrm>
            <a:off x="6309360" y="2423160"/>
            <a:ext cx="5120640" cy="365760"/>
          </a:xfrm>
          <a:prstGeom prst="rect">
            <a:avLst/>
          </a:prstGeom>
          <a:noFill/>
        </p:spPr>
        <p:txBody>
          <a:bodyPr wrap="square" lIns="0" rIns="0" tIns="0" bIns="0" anchor="t">
            <a:spAutoFit/>
          </a:bodyPr>
          <a:lstStyle/>
          <a:p>
            <a:pPr algn="l">
              <a:lnSpc>
                <a:spcPct val="108000"/>
              </a:lnSpc>
              <a:spcAft>
                <a:spcPts val="0"/>
              </a:spcAft>
            </a:pPr>
            <a:r>
              <a:rPr sz="1500" b="0" i="0">
                <a:solidFill>
                  <a:srgbClr val="C9D6DB"/>
                </a:solidFill>
                <a:latin typeface="Cambria"/>
              </a:rPr>
              <a:t>……………………………………………………………………</a:t>
            </a:r>
          </a:p>
        </p:txBody>
      </p:sp>
      <p:sp>
        <p:nvSpPr>
          <p:cNvPr id="14" name="Rounded Rectangle 13"/>
          <p:cNvSpPr/>
          <p:nvPr/>
        </p:nvSpPr>
        <p:spPr>
          <a:xfrm>
            <a:off x="5349240" y="3108960"/>
            <a:ext cx="6291072" cy="1325880"/>
          </a:xfrm>
          <a:prstGeom prst="roundRect">
            <a:avLst>
              <a:gd name="adj" fmla="val 7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577840" y="3291840"/>
            <a:ext cx="502920" cy="502920"/>
          </a:xfrm>
          <a:prstGeom prst="ellipse">
            <a:avLst/>
          </a:prstGeom>
          <a:solidFill>
            <a:srgbClr val="A833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2</a:t>
            </a:r>
          </a:p>
        </p:txBody>
      </p:sp>
      <p:sp>
        <p:nvSpPr>
          <p:cNvPr id="16" name="TextBox 15"/>
          <p:cNvSpPr txBox="1"/>
          <p:nvPr/>
        </p:nvSpPr>
        <p:spPr>
          <a:xfrm>
            <a:off x="6309360" y="3310128"/>
            <a:ext cx="5120640" cy="457200"/>
          </a:xfrm>
          <a:prstGeom prst="rect">
            <a:avLst/>
          </a:prstGeom>
          <a:noFill/>
        </p:spPr>
        <p:txBody>
          <a:bodyPr wrap="square" lIns="0" rIns="0" tIns="0" bIns="0" anchor="ctr">
            <a:spAutoFit/>
          </a:bodyPr>
          <a:lstStyle/>
          <a:p>
            <a:pPr algn="l">
              <a:lnSpc>
                <a:spcPct val="108000"/>
              </a:lnSpc>
              <a:spcAft>
                <a:spcPts val="0"/>
              </a:spcAft>
            </a:pPr>
            <a:r>
              <a:rPr sz="1700" b="1" i="0">
                <a:solidFill>
                  <a:srgbClr val="2B211A"/>
                </a:solidFill>
                <a:latin typeface="Cambria"/>
              </a:rPr>
              <a:t>Bây giờ, em nghĩ…  (chi tiết nào khiến em nghĩ như vậy?)</a:t>
            </a:r>
          </a:p>
        </p:txBody>
      </p:sp>
      <p:sp>
        <p:nvSpPr>
          <p:cNvPr id="17" name="TextBox 16"/>
          <p:cNvSpPr txBox="1"/>
          <p:nvPr/>
        </p:nvSpPr>
        <p:spPr>
          <a:xfrm>
            <a:off x="6309360" y="3886200"/>
            <a:ext cx="5120640" cy="365760"/>
          </a:xfrm>
          <a:prstGeom prst="rect">
            <a:avLst/>
          </a:prstGeom>
          <a:noFill/>
        </p:spPr>
        <p:txBody>
          <a:bodyPr wrap="square" lIns="0" rIns="0" tIns="0" bIns="0" anchor="t">
            <a:spAutoFit/>
          </a:bodyPr>
          <a:lstStyle/>
          <a:p>
            <a:pPr algn="l">
              <a:lnSpc>
                <a:spcPct val="108000"/>
              </a:lnSpc>
              <a:spcAft>
                <a:spcPts val="0"/>
              </a:spcAft>
            </a:pPr>
            <a:r>
              <a:rPr sz="1500" b="0" i="0">
                <a:solidFill>
                  <a:srgbClr val="C9D6DB"/>
                </a:solidFill>
                <a:latin typeface="Cambria"/>
              </a:rPr>
              <a:t>……………………………………………………………………</a:t>
            </a:r>
          </a:p>
        </p:txBody>
      </p:sp>
      <p:sp>
        <p:nvSpPr>
          <p:cNvPr id="18" name="Rounded Rectangle 17"/>
          <p:cNvSpPr/>
          <p:nvPr/>
        </p:nvSpPr>
        <p:spPr>
          <a:xfrm>
            <a:off x="5349240" y="4572000"/>
            <a:ext cx="6291072" cy="1325880"/>
          </a:xfrm>
          <a:prstGeom prst="roundRect">
            <a:avLst>
              <a:gd name="adj" fmla="val 7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577840" y="4754880"/>
            <a:ext cx="502920" cy="502920"/>
          </a:xfrm>
          <a:prstGeom prst="ellipse">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3</a:t>
            </a:r>
          </a:p>
        </p:txBody>
      </p:sp>
      <p:sp>
        <p:nvSpPr>
          <p:cNvPr id="20" name="TextBox 19"/>
          <p:cNvSpPr txBox="1"/>
          <p:nvPr/>
        </p:nvSpPr>
        <p:spPr>
          <a:xfrm>
            <a:off x="6309360" y="4773168"/>
            <a:ext cx="5120640" cy="457200"/>
          </a:xfrm>
          <a:prstGeom prst="rect">
            <a:avLst/>
          </a:prstGeom>
          <a:noFill/>
        </p:spPr>
        <p:txBody>
          <a:bodyPr wrap="square" lIns="0" rIns="0" tIns="0" bIns="0" anchor="ctr">
            <a:spAutoFit/>
          </a:bodyPr>
          <a:lstStyle/>
          <a:p>
            <a:pPr algn="l">
              <a:lnSpc>
                <a:spcPct val="108000"/>
              </a:lnSpc>
              <a:spcAft>
                <a:spcPts val="0"/>
              </a:spcAft>
            </a:pPr>
            <a:r>
              <a:rPr sz="1700" b="1" i="0">
                <a:solidFill>
                  <a:srgbClr val="2B211A"/>
                </a:solidFill>
                <a:latin typeface="Cambria"/>
              </a:rPr>
              <a:t>Một việc em có thể làm để giữ gìn vẻ đẹp nơi em sống:</a:t>
            </a:r>
          </a:p>
        </p:txBody>
      </p:sp>
      <p:sp>
        <p:nvSpPr>
          <p:cNvPr id="21" name="TextBox 20"/>
          <p:cNvSpPr txBox="1"/>
          <p:nvPr/>
        </p:nvSpPr>
        <p:spPr>
          <a:xfrm>
            <a:off x="6309360" y="5349240"/>
            <a:ext cx="5120640" cy="365760"/>
          </a:xfrm>
          <a:prstGeom prst="rect">
            <a:avLst/>
          </a:prstGeom>
          <a:noFill/>
        </p:spPr>
        <p:txBody>
          <a:bodyPr wrap="square" lIns="0" rIns="0" tIns="0" bIns="0" anchor="t">
            <a:spAutoFit/>
          </a:bodyPr>
          <a:lstStyle/>
          <a:p>
            <a:pPr algn="l">
              <a:lnSpc>
                <a:spcPct val="108000"/>
              </a:lnSpc>
              <a:spcAft>
                <a:spcPts val="0"/>
              </a:spcAft>
            </a:pPr>
            <a:r>
              <a:rPr sz="1500" b="0" i="0">
                <a:solidFill>
                  <a:srgbClr val="C9D6DB"/>
                </a:solidFill>
                <a:latin typeface="Cambria"/>
              </a:rPr>
              <a:t>……………………………………………………………………</a:t>
            </a:r>
          </a:p>
        </p:txBody>
      </p:sp>
      <p:sp>
        <p:nvSpPr>
          <p:cNvPr id="22" name="TextBox 21"/>
          <p:cNvSpPr txBox="1"/>
          <p:nvPr/>
        </p:nvSpPr>
        <p:spPr>
          <a:xfrm>
            <a:off x="5349240" y="6035040"/>
            <a:ext cx="6291072" cy="365760"/>
          </a:xfrm>
          <a:prstGeom prst="rect">
            <a:avLst/>
          </a:prstGeom>
          <a:noFill/>
        </p:spPr>
        <p:txBody>
          <a:bodyPr wrap="square" lIns="0" rIns="0" tIns="0" bIns="0" anchor="t">
            <a:spAutoFit/>
          </a:bodyPr>
          <a:lstStyle/>
          <a:p>
            <a:pPr algn="l">
              <a:lnSpc>
                <a:spcPct val="108000"/>
              </a:lnSpc>
              <a:spcAft>
                <a:spcPts val="0"/>
              </a:spcAft>
            </a:pPr>
            <a:r>
              <a:rPr sz="1250" b="0" i="1">
                <a:solidFill>
                  <a:srgbClr val="6B645C"/>
                </a:solidFill>
                <a:latin typeface="Cambria"/>
              </a:rPr>
              <a:t>Chia sẻ tự nguyện: 3–4 học sinh đọc phiếu của mình.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74320"/>
          </a:xfrm>
          <a:prstGeom prst="rect">
            <a:avLst/>
          </a:prstGeom>
          <a:noFill/>
        </p:spPr>
        <p:txBody>
          <a:bodyPr wrap="square" lIns="0" rIns="0" tIns="0" bIns="0" anchor="t">
            <a:spAutoFit/>
          </a:bodyPr>
          <a:lstStyle/>
          <a:p>
            <a:pPr algn="l">
              <a:lnSpc>
                <a:spcPct val="108000"/>
              </a:lnSpc>
              <a:spcAft>
                <a:spcPts val="0"/>
              </a:spcAft>
            </a:pPr>
            <a:r>
              <a:rPr sz="1300" b="1" i="0" spc="200">
                <a:solidFill>
                  <a:srgbClr val="2C5A73"/>
                </a:solidFill>
                <a:latin typeface="Cambria"/>
              </a:rPr>
              <a:t>PHỤ LỤC DÀNH CHO GIÁO VIÊN</a:t>
            </a:r>
          </a:p>
        </p:txBody>
      </p:sp>
      <p:sp>
        <p:nvSpPr>
          <p:cNvPr id="3" name="TextBox 2"/>
          <p:cNvSpPr txBox="1"/>
          <p:nvPr/>
        </p:nvSpPr>
        <p:spPr>
          <a:xfrm>
            <a:off x="548640" y="713232"/>
            <a:ext cx="11064240" cy="640080"/>
          </a:xfrm>
          <a:prstGeom prst="rect">
            <a:avLst/>
          </a:prstGeom>
          <a:noFill/>
        </p:spPr>
        <p:txBody>
          <a:bodyPr wrap="square" lIns="0" rIns="0" tIns="0" bIns="0" anchor="t">
            <a:spAutoFit/>
          </a:bodyPr>
          <a:lstStyle/>
          <a:p>
            <a:pPr algn="l">
              <a:lnSpc>
                <a:spcPct val="108000"/>
              </a:lnSpc>
              <a:spcAft>
                <a:spcPts val="0"/>
              </a:spcAft>
            </a:pPr>
            <a:r>
              <a:rPr sz="2900" b="1" i="0">
                <a:solidFill>
                  <a:srgbClr val="2B211A"/>
                </a:solidFill>
                <a:latin typeface="Cambria"/>
              </a:rPr>
              <a:t>Dự kiến câu trả lời của học sinh và cách hỏi tiếp</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8000"/>
              </a:lnSpc>
              <a:spcAft>
                <a:spcPts val="0"/>
              </a:spcAft>
            </a:pPr>
            <a:r>
              <a:rPr sz="1000" b="0" i="0">
                <a:solidFill>
                  <a:srgbClr val="6B645C"/>
                </a:solidFill>
                <a:latin typeface="Cambria"/>
              </a:rPr>
              <a:t>Đạo đức lớp 5  |  Khu rừng Shirakami  |  40 phút</a:t>
            </a:r>
          </a:p>
        </p:txBody>
      </p:sp>
      <p:sp>
        <p:nvSpPr>
          <p:cNvPr id="5" name="TextBox 4"/>
          <p:cNvSpPr txBox="1"/>
          <p:nvPr/>
        </p:nvSpPr>
        <p:spPr>
          <a:xfrm>
            <a:off x="10698480" y="6473952"/>
            <a:ext cx="941832" cy="228600"/>
          </a:xfrm>
          <a:prstGeom prst="rect">
            <a:avLst/>
          </a:prstGeom>
          <a:noFill/>
        </p:spPr>
        <p:txBody>
          <a:bodyPr wrap="square" lIns="0" rIns="0" tIns="0" bIns="0" anchor="t">
            <a:spAutoFit/>
          </a:bodyPr>
          <a:lstStyle/>
          <a:p>
            <a:pPr algn="r">
              <a:lnSpc>
                <a:spcPct val="108000"/>
              </a:lnSpc>
              <a:spcAft>
                <a:spcPts val="0"/>
              </a:spcAft>
            </a:pPr>
            <a:r>
              <a:rPr sz="1000" b="0" i="0">
                <a:solidFill>
                  <a:srgbClr val="6B645C"/>
                </a:solidFill>
                <a:latin typeface="Cambria"/>
              </a:rPr>
              <a:t>17</a:t>
            </a:r>
          </a:p>
        </p:txBody>
      </p:sp>
      <p:sp>
        <p:nvSpPr>
          <p:cNvPr id="6" name="TextBox 5"/>
          <p:cNvSpPr txBox="1"/>
          <p:nvPr/>
        </p:nvSpPr>
        <p:spPr>
          <a:xfrm>
            <a:off x="548640" y="1481328"/>
            <a:ext cx="4754880" cy="274320"/>
          </a:xfrm>
          <a:prstGeom prst="rect">
            <a:avLst/>
          </a:prstGeom>
          <a:noFill/>
        </p:spPr>
        <p:txBody>
          <a:bodyPr wrap="square" lIns="0" rIns="0" tIns="0" bIns="0" anchor="t">
            <a:spAutoFit/>
          </a:bodyPr>
          <a:lstStyle/>
          <a:p>
            <a:pPr algn="l">
              <a:lnSpc>
                <a:spcPct val="108000"/>
              </a:lnSpc>
              <a:spcAft>
                <a:spcPts val="0"/>
              </a:spcAft>
            </a:pPr>
            <a:r>
              <a:rPr sz="1200" b="1" i="0" spc="250">
                <a:solidFill>
                  <a:srgbClr val="A83349"/>
                </a:solidFill>
                <a:latin typeface="Cambria"/>
              </a:rPr>
              <a:t>HS CÓ THỂ NÓI</a:t>
            </a:r>
          </a:p>
        </p:txBody>
      </p:sp>
      <p:sp>
        <p:nvSpPr>
          <p:cNvPr id="7" name="TextBox 6"/>
          <p:cNvSpPr txBox="1"/>
          <p:nvPr/>
        </p:nvSpPr>
        <p:spPr>
          <a:xfrm>
            <a:off x="5532120" y="1481328"/>
            <a:ext cx="6035040" cy="274320"/>
          </a:xfrm>
          <a:prstGeom prst="rect">
            <a:avLst/>
          </a:prstGeom>
          <a:noFill/>
        </p:spPr>
        <p:txBody>
          <a:bodyPr wrap="square" lIns="0" rIns="0" tIns="0" bIns="0" anchor="t">
            <a:spAutoFit/>
          </a:bodyPr>
          <a:lstStyle/>
          <a:p>
            <a:pPr algn="l">
              <a:lnSpc>
                <a:spcPct val="108000"/>
              </a:lnSpc>
              <a:spcAft>
                <a:spcPts val="0"/>
              </a:spcAft>
            </a:pPr>
            <a:r>
              <a:rPr sz="1200" b="1" i="0" spc="250">
                <a:solidFill>
                  <a:srgbClr val="2C5A73"/>
                </a:solidFill>
                <a:latin typeface="Cambria"/>
              </a:rPr>
              <a:t>GV KHÔNG PHÁN XÉT – HỎI TIẾP</a:t>
            </a:r>
          </a:p>
        </p:txBody>
      </p:sp>
      <p:sp>
        <p:nvSpPr>
          <p:cNvPr id="8" name="Rounded Rectangle 7"/>
          <p:cNvSpPr/>
          <p:nvPr/>
        </p:nvSpPr>
        <p:spPr>
          <a:xfrm>
            <a:off x="548640" y="1828800"/>
            <a:ext cx="4754880" cy="804672"/>
          </a:xfrm>
          <a:prstGeom prst="roundRect">
            <a:avLst>
              <a:gd name="adj" fmla="val 10000"/>
            </a:avLst>
          </a:prstGeom>
          <a:solidFill>
            <a:srgbClr val="F8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4434840" cy="804672"/>
          </a:xfrm>
          <a:prstGeom prst="rect">
            <a:avLst/>
          </a:prstGeom>
          <a:noFill/>
        </p:spPr>
        <p:txBody>
          <a:bodyPr wrap="square" lIns="0" rIns="0" tIns="0" bIns="0" anchor="ctr">
            <a:spAutoFit/>
          </a:bodyPr>
          <a:lstStyle/>
          <a:p>
            <a:pPr algn="l">
              <a:lnSpc>
                <a:spcPct val="105000"/>
              </a:lnSpc>
              <a:spcAft>
                <a:spcPts val="0"/>
              </a:spcAft>
            </a:pPr>
            <a:r>
              <a:rPr sz="1300" b="0" i="1">
                <a:solidFill>
                  <a:srgbClr val="2B211A"/>
                </a:solidFill>
                <a:latin typeface="Cambria"/>
              </a:rPr>
              <a:t>“Em muốn có đường vì đi lại dễ, kiếm được nhiều tiền hơn.”</a:t>
            </a:r>
          </a:p>
        </p:txBody>
      </p:sp>
      <p:cxnSp>
        <p:nvCxnSpPr>
          <p:cNvPr id="10" name="Connector 9"/>
          <p:cNvCxnSpPr/>
          <p:nvPr/>
        </p:nvCxnSpPr>
        <p:spPr>
          <a:xfrm>
            <a:off x="5376672" y="2231136"/>
            <a:ext cx="109728" cy="0"/>
          </a:xfrm>
          <a:prstGeom prst="line">
            <a:avLst/>
          </a:prstGeom>
          <a:ln w="19050">
            <a:solidFill>
              <a:srgbClr val="6B645C"/>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532120" y="1828800"/>
            <a:ext cx="6108192" cy="804672"/>
          </a:xfrm>
          <a:prstGeom prst="roundRect">
            <a:avLst>
              <a:gd name="adj" fmla="val 10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15000" y="1828800"/>
            <a:ext cx="5760720" cy="804672"/>
          </a:xfrm>
          <a:prstGeom prst="rect">
            <a:avLst/>
          </a:prstGeom>
          <a:noFill/>
        </p:spPr>
        <p:txBody>
          <a:bodyPr wrap="square" lIns="0" rIns="0" tIns="0" bIns="0" anchor="ctr">
            <a:spAutoFit/>
          </a:bodyPr>
          <a:lstStyle/>
          <a:p>
            <a:pPr algn="l">
              <a:lnSpc>
                <a:spcPct val="105000"/>
              </a:lnSpc>
              <a:spcAft>
                <a:spcPts val="0"/>
              </a:spcAft>
            </a:pPr>
            <a:r>
              <a:rPr sz="1300" b="0" i="0">
                <a:solidFill>
                  <a:srgbClr val="2B211A"/>
                </a:solidFill>
                <a:latin typeface="Cambria"/>
              </a:rPr>
              <a:t>“Thu nhập cao hơn quan trọng với người dân thế nào? Còn điều gì họ có thể mất đi?”</a:t>
            </a:r>
          </a:p>
        </p:txBody>
      </p:sp>
      <p:sp>
        <p:nvSpPr>
          <p:cNvPr id="13" name="Rounded Rectangle 12"/>
          <p:cNvSpPr/>
          <p:nvPr/>
        </p:nvSpPr>
        <p:spPr>
          <a:xfrm>
            <a:off x="548640" y="2724912"/>
            <a:ext cx="4754880" cy="804672"/>
          </a:xfrm>
          <a:prstGeom prst="roundRect">
            <a:avLst>
              <a:gd name="adj" fmla="val 10000"/>
            </a:avLst>
          </a:prstGeom>
          <a:solidFill>
            <a:srgbClr val="F8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724912"/>
            <a:ext cx="4434840" cy="804672"/>
          </a:xfrm>
          <a:prstGeom prst="rect">
            <a:avLst/>
          </a:prstGeom>
          <a:noFill/>
        </p:spPr>
        <p:txBody>
          <a:bodyPr wrap="square" lIns="0" rIns="0" tIns="0" bIns="0" anchor="ctr">
            <a:spAutoFit/>
          </a:bodyPr>
          <a:lstStyle/>
          <a:p>
            <a:pPr algn="l">
              <a:lnSpc>
                <a:spcPct val="105000"/>
              </a:lnSpc>
              <a:spcAft>
                <a:spcPts val="0"/>
              </a:spcAft>
            </a:pPr>
            <a:r>
              <a:rPr sz="1300" b="0" i="1">
                <a:solidFill>
                  <a:srgbClr val="2B211A"/>
                </a:solidFill>
                <a:latin typeface="Cambria"/>
              </a:rPr>
              <a:t>“Em sẽ phản đối, không cho chặt rừng.”</a:t>
            </a:r>
          </a:p>
        </p:txBody>
      </p:sp>
      <p:cxnSp>
        <p:nvCxnSpPr>
          <p:cNvPr id="15" name="Connector 14"/>
          <p:cNvCxnSpPr/>
          <p:nvPr/>
        </p:nvCxnSpPr>
        <p:spPr>
          <a:xfrm>
            <a:off x="5376672" y="3127248"/>
            <a:ext cx="109728" cy="0"/>
          </a:xfrm>
          <a:prstGeom prst="line">
            <a:avLst/>
          </a:prstGeom>
          <a:ln w="19050">
            <a:solidFill>
              <a:srgbClr val="6B645C"/>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532120" y="2724912"/>
            <a:ext cx="6108192" cy="804672"/>
          </a:xfrm>
          <a:prstGeom prst="roundRect">
            <a:avLst>
              <a:gd name="adj" fmla="val 10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15000" y="2724912"/>
            <a:ext cx="5760720" cy="804672"/>
          </a:xfrm>
          <a:prstGeom prst="rect">
            <a:avLst/>
          </a:prstGeom>
          <a:noFill/>
        </p:spPr>
        <p:txBody>
          <a:bodyPr wrap="square" lIns="0" rIns="0" tIns="0" bIns="0" anchor="ctr">
            <a:spAutoFit/>
          </a:bodyPr>
          <a:lstStyle/>
          <a:p>
            <a:pPr algn="l">
              <a:lnSpc>
                <a:spcPct val="105000"/>
              </a:lnSpc>
              <a:spcAft>
                <a:spcPts val="0"/>
              </a:spcAft>
            </a:pPr>
            <a:r>
              <a:rPr sz="1300" b="0" i="0">
                <a:solidFill>
                  <a:srgbClr val="2B211A"/>
                </a:solidFill>
                <a:latin typeface="Cambria"/>
              </a:rPr>
              <a:t>“Em sẽ làm gì để mọi người nghe được em? Nếu bạn ấy đang cần tiền thì em nói gì?”</a:t>
            </a:r>
          </a:p>
        </p:txBody>
      </p:sp>
      <p:sp>
        <p:nvSpPr>
          <p:cNvPr id="18" name="Rounded Rectangle 17"/>
          <p:cNvSpPr/>
          <p:nvPr/>
        </p:nvSpPr>
        <p:spPr>
          <a:xfrm>
            <a:off x="548640" y="3621024"/>
            <a:ext cx="4754880" cy="804672"/>
          </a:xfrm>
          <a:prstGeom prst="roundRect">
            <a:avLst>
              <a:gd name="adj" fmla="val 10000"/>
            </a:avLst>
          </a:prstGeom>
          <a:solidFill>
            <a:srgbClr val="F8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621024"/>
            <a:ext cx="4434840" cy="804672"/>
          </a:xfrm>
          <a:prstGeom prst="rect">
            <a:avLst/>
          </a:prstGeom>
          <a:noFill/>
        </p:spPr>
        <p:txBody>
          <a:bodyPr wrap="square" lIns="0" rIns="0" tIns="0" bIns="0" anchor="ctr">
            <a:spAutoFit/>
          </a:bodyPr>
          <a:lstStyle/>
          <a:p>
            <a:pPr algn="l">
              <a:lnSpc>
                <a:spcPct val="105000"/>
              </a:lnSpc>
              <a:spcAft>
                <a:spcPts val="0"/>
              </a:spcAft>
            </a:pPr>
            <a:r>
              <a:rPr sz="1300" b="0" i="1">
                <a:solidFill>
                  <a:srgbClr val="2B211A"/>
                </a:solidFill>
                <a:latin typeface="Cambria"/>
              </a:rPr>
              <a:t>“Em thấy khó chọn, em không biết nên chọn cái nào.”</a:t>
            </a:r>
          </a:p>
        </p:txBody>
      </p:sp>
      <p:cxnSp>
        <p:nvCxnSpPr>
          <p:cNvPr id="20" name="Connector 19"/>
          <p:cNvCxnSpPr/>
          <p:nvPr/>
        </p:nvCxnSpPr>
        <p:spPr>
          <a:xfrm>
            <a:off x="5376672" y="4023360"/>
            <a:ext cx="109728" cy="0"/>
          </a:xfrm>
          <a:prstGeom prst="line">
            <a:avLst/>
          </a:prstGeom>
          <a:ln w="19050">
            <a:solidFill>
              <a:srgbClr val="6B645C"/>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532120" y="3621024"/>
            <a:ext cx="6108192" cy="804672"/>
          </a:xfrm>
          <a:prstGeom prst="roundRect">
            <a:avLst>
              <a:gd name="adj" fmla="val 10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5000" y="3621024"/>
            <a:ext cx="5760720" cy="804672"/>
          </a:xfrm>
          <a:prstGeom prst="rect">
            <a:avLst/>
          </a:prstGeom>
          <a:noFill/>
        </p:spPr>
        <p:txBody>
          <a:bodyPr wrap="square" lIns="0" rIns="0" tIns="0" bIns="0" anchor="ctr">
            <a:spAutoFit/>
          </a:bodyPr>
          <a:lstStyle/>
          <a:p>
            <a:pPr algn="l">
              <a:lnSpc>
                <a:spcPct val="105000"/>
              </a:lnSpc>
              <a:spcAft>
                <a:spcPts val="0"/>
              </a:spcAft>
            </a:pPr>
            <a:r>
              <a:rPr sz="1300" b="0" i="0">
                <a:solidFill>
                  <a:srgbClr val="2B211A"/>
                </a:solidFill>
                <a:latin typeface="Cambria"/>
              </a:rPr>
              <a:t>“Khó ở chỗ nào? Điều gì khiến em phân vân?” – Ghi nhận: chính sự giằng co ấy là điều cần suy nghĩ.</a:t>
            </a:r>
          </a:p>
        </p:txBody>
      </p:sp>
      <p:sp>
        <p:nvSpPr>
          <p:cNvPr id="23" name="Rounded Rectangle 22"/>
          <p:cNvSpPr/>
          <p:nvPr/>
        </p:nvSpPr>
        <p:spPr>
          <a:xfrm>
            <a:off x="548640" y="4517136"/>
            <a:ext cx="4754880" cy="804672"/>
          </a:xfrm>
          <a:prstGeom prst="roundRect">
            <a:avLst>
              <a:gd name="adj" fmla="val 10000"/>
            </a:avLst>
          </a:prstGeom>
          <a:solidFill>
            <a:srgbClr val="F8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4517136"/>
            <a:ext cx="4434840" cy="804672"/>
          </a:xfrm>
          <a:prstGeom prst="rect">
            <a:avLst/>
          </a:prstGeom>
          <a:noFill/>
        </p:spPr>
        <p:txBody>
          <a:bodyPr wrap="square" lIns="0" rIns="0" tIns="0" bIns="0" anchor="ctr">
            <a:spAutoFit/>
          </a:bodyPr>
          <a:lstStyle/>
          <a:p>
            <a:pPr algn="l">
              <a:lnSpc>
                <a:spcPct val="105000"/>
              </a:lnSpc>
              <a:spcAft>
                <a:spcPts val="0"/>
              </a:spcAft>
            </a:pPr>
            <a:r>
              <a:rPr sz="1300" b="0" i="1">
                <a:solidFill>
                  <a:srgbClr val="2B211A"/>
                </a:solidFill>
                <a:latin typeface="Cambria"/>
              </a:rPr>
              <a:t>“Hái hết chồi cho nhiều, bán được nhiều tiền.”</a:t>
            </a:r>
          </a:p>
        </p:txBody>
      </p:sp>
      <p:cxnSp>
        <p:nvCxnSpPr>
          <p:cNvPr id="25" name="Connector 24"/>
          <p:cNvCxnSpPr/>
          <p:nvPr/>
        </p:nvCxnSpPr>
        <p:spPr>
          <a:xfrm>
            <a:off x="5376672" y="4919472"/>
            <a:ext cx="109728" cy="0"/>
          </a:xfrm>
          <a:prstGeom prst="line">
            <a:avLst/>
          </a:prstGeom>
          <a:ln w="19050">
            <a:solidFill>
              <a:srgbClr val="6B645C"/>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532120" y="4517136"/>
            <a:ext cx="6108192" cy="804672"/>
          </a:xfrm>
          <a:prstGeom prst="roundRect">
            <a:avLst>
              <a:gd name="adj" fmla="val 10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15000" y="4517136"/>
            <a:ext cx="5760720" cy="804672"/>
          </a:xfrm>
          <a:prstGeom prst="rect">
            <a:avLst/>
          </a:prstGeom>
          <a:noFill/>
        </p:spPr>
        <p:txBody>
          <a:bodyPr wrap="square" lIns="0" rIns="0" tIns="0" bIns="0" anchor="ctr">
            <a:spAutoFit/>
          </a:bodyPr>
          <a:lstStyle/>
          <a:p>
            <a:pPr algn="l">
              <a:lnSpc>
                <a:spcPct val="105000"/>
              </a:lnSpc>
              <a:spcAft>
                <a:spcPts val="0"/>
              </a:spcAft>
            </a:pPr>
            <a:r>
              <a:rPr sz="1300" b="0" i="0">
                <a:solidFill>
                  <a:srgbClr val="2B211A"/>
                </a:solidFill>
                <a:latin typeface="Cambria"/>
              </a:rPr>
              <a:t>“Năm sau, khi cây không còn chồi để mọc, điều gì sẽ xảy ra với người dân?”</a:t>
            </a:r>
          </a:p>
        </p:txBody>
      </p:sp>
      <p:sp>
        <p:nvSpPr>
          <p:cNvPr id="28" name="Rounded Rectangle 27"/>
          <p:cNvSpPr/>
          <p:nvPr/>
        </p:nvSpPr>
        <p:spPr>
          <a:xfrm>
            <a:off x="548640" y="5532120"/>
            <a:ext cx="11091672" cy="777240"/>
          </a:xfrm>
          <a:prstGeom prst="roundRect">
            <a:avLst>
              <a:gd name="adj" fmla="val 12000"/>
            </a:avLst>
          </a:prstGeom>
          <a:solidFill>
            <a:srgbClr val="FFF3DC"/>
          </a:solidFill>
          <a:ln w="9525">
            <a:solidFill>
              <a:srgbClr val="E8A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532120"/>
            <a:ext cx="10698480" cy="777240"/>
          </a:xfrm>
          <a:prstGeom prst="rect">
            <a:avLst/>
          </a:prstGeom>
          <a:noFill/>
        </p:spPr>
        <p:txBody>
          <a:bodyPr wrap="square" lIns="0" rIns="0" tIns="0" bIns="0" anchor="ctr">
            <a:spAutoFit/>
          </a:bodyPr>
          <a:lstStyle/>
          <a:p>
            <a:pPr algn="l">
              <a:lnSpc>
                <a:spcPct val="105000"/>
              </a:lnSpc>
              <a:spcAft>
                <a:spcPts val="0"/>
              </a:spcAft>
            </a:pPr>
            <a:r>
              <a:rPr sz="1350" b="1" i="0">
                <a:solidFill>
                  <a:srgbClr val="B87410"/>
                </a:solidFill>
                <a:latin typeface="Cambria"/>
              </a:rPr>
              <a:t>Tránh câu hỏi kiểu Ngữ văn: </a:t>
            </a:r>
            <a:r>
              <a:rPr sz="1350" b="0" i="0">
                <a:solidFill>
                  <a:srgbClr val="2B211A"/>
                </a:solidFill>
                <a:latin typeface="Cambria"/>
              </a:rPr>
              <a:t>“Con đường tên là gì?”, “Rừng rộng bao nhiêu hecta?”  →  Thay bằng: </a:t>
            </a:r>
            <a:r>
              <a:rPr sz="1350" b="1" i="1">
                <a:solidFill>
                  <a:srgbClr val="2B211A"/>
                </a:solidFill>
                <a:latin typeface="Cambria"/>
              </a:rPr>
              <a:t>“Nếu em là người dân, em sẽ nghĩ gì?”</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274320"/>
          </a:xfrm>
          <a:prstGeom prst="rect">
            <a:avLst/>
          </a:prstGeom>
          <a:noFill/>
        </p:spPr>
        <p:txBody>
          <a:bodyPr wrap="square" lIns="0" rIns="0" tIns="0" bIns="0" anchor="t">
            <a:spAutoFit/>
          </a:bodyPr>
          <a:lstStyle/>
          <a:p>
            <a:pPr algn="l">
              <a:lnSpc>
                <a:spcPct val="108000"/>
              </a:lnSpc>
              <a:spcAft>
                <a:spcPts val="0"/>
              </a:spcAft>
            </a:pPr>
            <a:r>
              <a:rPr sz="1300" b="1" i="0" spc="200">
                <a:solidFill>
                  <a:srgbClr val="2C5A73"/>
                </a:solidFill>
                <a:latin typeface="Cambria"/>
              </a:rPr>
              <a:t>PHỤ LỤC DÀNH CHO GIÁO VIÊN</a:t>
            </a:r>
          </a:p>
        </p:txBody>
      </p:sp>
      <p:sp>
        <p:nvSpPr>
          <p:cNvPr id="3" name="TextBox 2"/>
          <p:cNvSpPr txBox="1"/>
          <p:nvPr/>
        </p:nvSpPr>
        <p:spPr>
          <a:xfrm>
            <a:off x="548640" y="713232"/>
            <a:ext cx="11064240" cy="640080"/>
          </a:xfrm>
          <a:prstGeom prst="rect">
            <a:avLst/>
          </a:prstGeom>
          <a:noFill/>
        </p:spPr>
        <p:txBody>
          <a:bodyPr wrap="square" lIns="0" rIns="0" tIns="0" bIns="0" anchor="t">
            <a:spAutoFit/>
          </a:bodyPr>
          <a:lstStyle/>
          <a:p>
            <a:pPr algn="l">
              <a:lnSpc>
                <a:spcPct val="108000"/>
              </a:lnSpc>
              <a:spcAft>
                <a:spcPts val="0"/>
              </a:spcAft>
            </a:pPr>
            <a:r>
              <a:rPr sz="3200" b="1" i="0">
                <a:solidFill>
                  <a:srgbClr val="2B211A"/>
                </a:solidFill>
                <a:latin typeface="Cambria"/>
              </a:rPr>
              <a:t>Giờ học thành công khi nào?</a:t>
            </a:r>
          </a:p>
        </p:txBody>
      </p:sp>
      <p:sp>
        <p:nvSpPr>
          <p:cNvPr id="4" name="TextBox 3"/>
          <p:cNvSpPr txBox="1"/>
          <p:nvPr/>
        </p:nvSpPr>
        <p:spPr>
          <a:xfrm>
            <a:off x="548640" y="6473952"/>
            <a:ext cx="7315200" cy="228600"/>
          </a:xfrm>
          <a:prstGeom prst="rect">
            <a:avLst/>
          </a:prstGeom>
          <a:noFill/>
        </p:spPr>
        <p:txBody>
          <a:bodyPr wrap="square" lIns="0" rIns="0" tIns="0" bIns="0" anchor="t">
            <a:spAutoFit/>
          </a:bodyPr>
          <a:lstStyle/>
          <a:p>
            <a:pPr algn="l">
              <a:lnSpc>
                <a:spcPct val="108000"/>
              </a:lnSpc>
              <a:spcAft>
                <a:spcPts val="0"/>
              </a:spcAft>
            </a:pPr>
            <a:r>
              <a:rPr sz="1000" b="0" i="0">
                <a:solidFill>
                  <a:srgbClr val="6B645C"/>
                </a:solidFill>
                <a:latin typeface="Cambria"/>
              </a:rPr>
              <a:t>Đạo đức lớp 5  |  Khu rừng Shirakami  |  40 phút</a:t>
            </a:r>
          </a:p>
        </p:txBody>
      </p:sp>
      <p:sp>
        <p:nvSpPr>
          <p:cNvPr id="5" name="TextBox 4"/>
          <p:cNvSpPr txBox="1"/>
          <p:nvPr/>
        </p:nvSpPr>
        <p:spPr>
          <a:xfrm>
            <a:off x="10698480" y="6473952"/>
            <a:ext cx="941832" cy="228600"/>
          </a:xfrm>
          <a:prstGeom prst="rect">
            <a:avLst/>
          </a:prstGeom>
          <a:noFill/>
        </p:spPr>
        <p:txBody>
          <a:bodyPr wrap="square" lIns="0" rIns="0" tIns="0" bIns="0" anchor="t">
            <a:spAutoFit/>
          </a:bodyPr>
          <a:lstStyle/>
          <a:p>
            <a:pPr algn="r">
              <a:lnSpc>
                <a:spcPct val="108000"/>
              </a:lnSpc>
              <a:spcAft>
                <a:spcPts val="0"/>
              </a:spcAft>
            </a:pPr>
            <a:r>
              <a:rPr sz="1000" b="0" i="0">
                <a:solidFill>
                  <a:srgbClr val="6B645C"/>
                </a:solidFill>
                <a:latin typeface="Cambria"/>
              </a:rPr>
              <a:t>18</a:t>
            </a:r>
          </a:p>
        </p:txBody>
      </p:sp>
      <p:sp>
        <p:nvSpPr>
          <p:cNvPr id="6" name="TextBox 5"/>
          <p:cNvSpPr txBox="1"/>
          <p:nvPr/>
        </p:nvSpPr>
        <p:spPr>
          <a:xfrm>
            <a:off x="548640" y="1417320"/>
            <a:ext cx="11064240" cy="457200"/>
          </a:xfrm>
          <a:prstGeom prst="rect">
            <a:avLst/>
          </a:prstGeom>
          <a:noFill/>
        </p:spPr>
        <p:txBody>
          <a:bodyPr wrap="square" lIns="0" rIns="0" tIns="0" bIns="0" anchor="t">
            <a:spAutoFit/>
          </a:bodyPr>
          <a:lstStyle/>
          <a:p>
            <a:pPr algn="l">
              <a:lnSpc>
                <a:spcPct val="108000"/>
              </a:lnSpc>
              <a:spcAft>
                <a:spcPts val="0"/>
              </a:spcAft>
            </a:pPr>
            <a:r>
              <a:rPr sz="1600" b="1" i="0">
                <a:solidFill>
                  <a:srgbClr val="A83349"/>
                </a:solidFill>
                <a:latin typeface="Cambria"/>
              </a:rPr>
              <a:t>KHÔNG PHẢI: </a:t>
            </a:r>
            <a:r>
              <a:rPr sz="1600" b="0" i="1">
                <a:solidFill>
                  <a:srgbClr val="2B211A"/>
                </a:solidFill>
                <a:latin typeface="Cambria"/>
              </a:rPr>
              <a:t>“GV giảng hay, giải thích cuốn hút.”   </a:t>
            </a:r>
            <a:r>
              <a:rPr sz="1600" b="1" i="0">
                <a:solidFill>
                  <a:srgbClr val="2C5A73"/>
                </a:solidFill>
                <a:latin typeface="Cambria"/>
              </a:rPr>
              <a:t>MÀ LÀ – sau giờ học, học sinh:</a:t>
            </a:r>
          </a:p>
        </p:txBody>
      </p:sp>
      <p:sp>
        <p:nvSpPr>
          <p:cNvPr id="7" name="Rounded Rectangle 6"/>
          <p:cNvSpPr/>
          <p:nvPr/>
        </p:nvSpPr>
        <p:spPr>
          <a:xfrm>
            <a:off x="548640" y="2103120"/>
            <a:ext cx="2606040" cy="2926080"/>
          </a:xfrm>
          <a:prstGeom prst="roundRect">
            <a:avLst>
              <a:gd name="adj" fmla="val 5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103120"/>
            <a:ext cx="2606040" cy="128016"/>
          </a:xfrm>
          <a:prstGeom prst="rect">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77240" y="2468880"/>
            <a:ext cx="548640" cy="548640"/>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1</a:t>
            </a:r>
          </a:p>
        </p:txBody>
      </p:sp>
      <p:sp>
        <p:nvSpPr>
          <p:cNvPr id="10" name="TextBox 9"/>
          <p:cNvSpPr txBox="1"/>
          <p:nvPr/>
        </p:nvSpPr>
        <p:spPr>
          <a:xfrm>
            <a:off x="777240" y="3200400"/>
            <a:ext cx="2194560" cy="640080"/>
          </a:xfrm>
          <a:prstGeom prst="rect">
            <a:avLst/>
          </a:prstGeom>
          <a:noFill/>
        </p:spPr>
        <p:txBody>
          <a:bodyPr wrap="square" lIns="0" rIns="0" tIns="0" bIns="0" anchor="t">
            <a:spAutoFit/>
          </a:bodyPr>
          <a:lstStyle/>
          <a:p>
            <a:pPr algn="l">
              <a:lnSpc>
                <a:spcPct val="100000"/>
              </a:lnSpc>
              <a:spcAft>
                <a:spcPts val="0"/>
              </a:spcAft>
            </a:pPr>
            <a:r>
              <a:rPr sz="1700" b="1" i="0">
                <a:solidFill>
                  <a:srgbClr val="2B211A"/>
                </a:solidFill>
                <a:latin typeface="Cambria"/>
              </a:rPr>
              <a:t>Suy nghĩ nhiều hơn</a:t>
            </a:r>
          </a:p>
        </p:txBody>
      </p:sp>
      <p:sp>
        <p:nvSpPr>
          <p:cNvPr id="11" name="TextBox 10"/>
          <p:cNvSpPr txBox="1"/>
          <p:nvPr/>
        </p:nvSpPr>
        <p:spPr>
          <a:xfrm>
            <a:off x="777240" y="3840480"/>
            <a:ext cx="2194560" cy="1188720"/>
          </a:xfrm>
          <a:prstGeom prst="rect">
            <a:avLst/>
          </a:prstGeom>
          <a:noFill/>
        </p:spPr>
        <p:txBody>
          <a:bodyPr wrap="square" lIns="0" rIns="0" tIns="0" bIns="0" anchor="t">
            <a:spAutoFit/>
          </a:bodyPr>
          <a:lstStyle/>
          <a:p>
            <a:pPr algn="l">
              <a:lnSpc>
                <a:spcPct val="110000"/>
              </a:lnSpc>
              <a:spcAft>
                <a:spcPts val="0"/>
              </a:spcAft>
            </a:pPr>
            <a:r>
              <a:rPr sz="1250" b="0" i="0">
                <a:solidFill>
                  <a:srgbClr val="6B645C"/>
                </a:solidFill>
                <a:latin typeface="Cambria"/>
              </a:rPr>
              <a:t>Viết/vẽ được vào thẻ Think Time; giải thích được “vì sao” cho lựa chọn của mình.</a:t>
            </a:r>
          </a:p>
        </p:txBody>
      </p:sp>
      <p:sp>
        <p:nvSpPr>
          <p:cNvPr id="12" name="Rounded Rectangle 11"/>
          <p:cNvSpPr/>
          <p:nvPr/>
        </p:nvSpPr>
        <p:spPr>
          <a:xfrm>
            <a:off x="3374136" y="2103120"/>
            <a:ext cx="2606040" cy="2926080"/>
          </a:xfrm>
          <a:prstGeom prst="roundRect">
            <a:avLst>
              <a:gd name="adj" fmla="val 5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74136" y="2103120"/>
            <a:ext cx="2606040" cy="128016"/>
          </a:xfrm>
          <a:prstGeom prst="rect">
            <a:avLst/>
          </a:prstGeom>
          <a:solidFill>
            <a:srgbClr val="3E7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02736" y="2468880"/>
            <a:ext cx="548640" cy="548640"/>
          </a:xfrm>
          <a:prstGeom prst="ellipse">
            <a:avLst/>
          </a:prstGeom>
          <a:solidFill>
            <a:srgbClr val="3E78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2</a:t>
            </a:r>
          </a:p>
        </p:txBody>
      </p:sp>
      <p:sp>
        <p:nvSpPr>
          <p:cNvPr id="15" name="TextBox 14"/>
          <p:cNvSpPr txBox="1"/>
          <p:nvPr/>
        </p:nvSpPr>
        <p:spPr>
          <a:xfrm>
            <a:off x="3602736" y="3200400"/>
            <a:ext cx="2194560" cy="640080"/>
          </a:xfrm>
          <a:prstGeom prst="rect">
            <a:avLst/>
          </a:prstGeom>
          <a:noFill/>
        </p:spPr>
        <p:txBody>
          <a:bodyPr wrap="square" lIns="0" rIns="0" tIns="0" bIns="0" anchor="t">
            <a:spAutoFit/>
          </a:bodyPr>
          <a:lstStyle/>
          <a:p>
            <a:pPr algn="l">
              <a:lnSpc>
                <a:spcPct val="100000"/>
              </a:lnSpc>
              <a:spcAft>
                <a:spcPts val="0"/>
              </a:spcAft>
            </a:pPr>
            <a:r>
              <a:rPr sz="1700" b="1" i="0">
                <a:solidFill>
                  <a:srgbClr val="2B211A"/>
                </a:solidFill>
                <a:latin typeface="Cambria"/>
              </a:rPr>
              <a:t>Đặt nhiều câu hỏi hơn</a:t>
            </a:r>
          </a:p>
        </p:txBody>
      </p:sp>
      <p:sp>
        <p:nvSpPr>
          <p:cNvPr id="16" name="TextBox 15"/>
          <p:cNvSpPr txBox="1"/>
          <p:nvPr/>
        </p:nvSpPr>
        <p:spPr>
          <a:xfrm>
            <a:off x="3602736" y="3840480"/>
            <a:ext cx="2194560" cy="1188720"/>
          </a:xfrm>
          <a:prstGeom prst="rect">
            <a:avLst/>
          </a:prstGeom>
          <a:noFill/>
        </p:spPr>
        <p:txBody>
          <a:bodyPr wrap="square" lIns="0" rIns="0" tIns="0" bIns="0" anchor="t">
            <a:spAutoFit/>
          </a:bodyPr>
          <a:lstStyle/>
          <a:p>
            <a:pPr algn="l">
              <a:lnSpc>
                <a:spcPct val="110000"/>
              </a:lnSpc>
              <a:spcAft>
                <a:spcPts val="0"/>
              </a:spcAft>
            </a:pPr>
            <a:r>
              <a:rPr sz="1250" b="0" i="0">
                <a:solidFill>
                  <a:srgbClr val="6B645C"/>
                </a:solidFill>
                <a:latin typeface="Cambria"/>
              </a:rPr>
              <a:t>Hỏi lại bạn hoặc hỏi về người dân, khu rừng: “Nếu…thì sao?”</a:t>
            </a:r>
          </a:p>
        </p:txBody>
      </p:sp>
      <p:sp>
        <p:nvSpPr>
          <p:cNvPr id="17" name="Rounded Rectangle 16"/>
          <p:cNvSpPr/>
          <p:nvPr/>
        </p:nvSpPr>
        <p:spPr>
          <a:xfrm>
            <a:off x="6199631" y="2103120"/>
            <a:ext cx="2606040" cy="2926080"/>
          </a:xfrm>
          <a:prstGeom prst="roundRect">
            <a:avLst>
              <a:gd name="adj" fmla="val 5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99631" y="2103120"/>
            <a:ext cx="2606040" cy="128016"/>
          </a:xfrm>
          <a:prstGeom prst="rect">
            <a:avLst/>
          </a:prstGeom>
          <a:solidFill>
            <a:srgbClr val="B874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28231" y="2468880"/>
            <a:ext cx="548640" cy="548640"/>
          </a:xfrm>
          <a:prstGeom prst="ellipse">
            <a:avLst/>
          </a:prstGeom>
          <a:solidFill>
            <a:srgbClr val="B8741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3</a:t>
            </a:r>
          </a:p>
        </p:txBody>
      </p:sp>
      <p:sp>
        <p:nvSpPr>
          <p:cNvPr id="20" name="TextBox 19"/>
          <p:cNvSpPr txBox="1"/>
          <p:nvPr/>
        </p:nvSpPr>
        <p:spPr>
          <a:xfrm>
            <a:off x="6428231" y="3200400"/>
            <a:ext cx="2194560" cy="640080"/>
          </a:xfrm>
          <a:prstGeom prst="rect">
            <a:avLst/>
          </a:prstGeom>
          <a:noFill/>
        </p:spPr>
        <p:txBody>
          <a:bodyPr wrap="square" lIns="0" rIns="0" tIns="0" bIns="0" anchor="t">
            <a:spAutoFit/>
          </a:bodyPr>
          <a:lstStyle/>
          <a:p>
            <a:pPr algn="l">
              <a:lnSpc>
                <a:spcPct val="100000"/>
              </a:lnSpc>
              <a:spcAft>
                <a:spcPts val="0"/>
              </a:spcAft>
            </a:pPr>
            <a:r>
              <a:rPr sz="1700" b="1" i="0">
                <a:solidFill>
                  <a:srgbClr val="2B211A"/>
                </a:solidFill>
                <a:latin typeface="Cambria"/>
              </a:rPr>
              <a:t>Nhìn từ nhiều góc độ</a:t>
            </a:r>
          </a:p>
        </p:txBody>
      </p:sp>
      <p:sp>
        <p:nvSpPr>
          <p:cNvPr id="21" name="TextBox 20"/>
          <p:cNvSpPr txBox="1"/>
          <p:nvPr/>
        </p:nvSpPr>
        <p:spPr>
          <a:xfrm>
            <a:off x="6428231" y="3840480"/>
            <a:ext cx="2194560" cy="1188720"/>
          </a:xfrm>
          <a:prstGeom prst="rect">
            <a:avLst/>
          </a:prstGeom>
          <a:noFill/>
        </p:spPr>
        <p:txBody>
          <a:bodyPr wrap="square" lIns="0" rIns="0" tIns="0" bIns="0" anchor="t">
            <a:spAutoFit/>
          </a:bodyPr>
          <a:lstStyle/>
          <a:p>
            <a:pPr algn="l">
              <a:lnSpc>
                <a:spcPct val="110000"/>
              </a:lnSpc>
              <a:spcAft>
                <a:spcPts val="0"/>
              </a:spcAft>
            </a:pPr>
            <a:r>
              <a:rPr sz="1250" b="0" i="0">
                <a:solidFill>
                  <a:srgbClr val="6B645C"/>
                </a:solidFill>
                <a:latin typeface="Cambria"/>
              </a:rPr>
              <a:t>Nêu được cả lợi ích lẫn mất mát của cả hai phía (mở đường và giữ rừng).</a:t>
            </a:r>
          </a:p>
        </p:txBody>
      </p:sp>
      <p:sp>
        <p:nvSpPr>
          <p:cNvPr id="22" name="Rounded Rectangle 21"/>
          <p:cNvSpPr/>
          <p:nvPr/>
        </p:nvSpPr>
        <p:spPr>
          <a:xfrm>
            <a:off x="9025128" y="2103120"/>
            <a:ext cx="2606040" cy="2926080"/>
          </a:xfrm>
          <a:prstGeom prst="roundRect">
            <a:avLst>
              <a:gd name="adj" fmla="val 5000"/>
            </a:avLst>
          </a:prstGeom>
          <a:solidFill>
            <a:srgbClr val="E9F1F3"/>
          </a:solidFill>
          <a:ln w="9525">
            <a:solidFill>
              <a:srgbClr val="C9D6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25128" y="2103120"/>
            <a:ext cx="2606040" cy="128016"/>
          </a:xfrm>
          <a:prstGeom prst="rect">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253728" y="2468880"/>
            <a:ext cx="548640" cy="548640"/>
          </a:xfrm>
          <a:prstGeom prst="ellipse">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4</a:t>
            </a:r>
          </a:p>
        </p:txBody>
      </p:sp>
      <p:sp>
        <p:nvSpPr>
          <p:cNvPr id="25" name="TextBox 24"/>
          <p:cNvSpPr txBox="1"/>
          <p:nvPr/>
        </p:nvSpPr>
        <p:spPr>
          <a:xfrm>
            <a:off x="9253728" y="3200400"/>
            <a:ext cx="2194560" cy="640080"/>
          </a:xfrm>
          <a:prstGeom prst="rect">
            <a:avLst/>
          </a:prstGeom>
          <a:noFill/>
        </p:spPr>
        <p:txBody>
          <a:bodyPr wrap="square" lIns="0" rIns="0" tIns="0" bIns="0" anchor="t">
            <a:spAutoFit/>
          </a:bodyPr>
          <a:lstStyle/>
          <a:p>
            <a:pPr algn="l">
              <a:lnSpc>
                <a:spcPct val="100000"/>
              </a:lnSpc>
              <a:spcAft>
                <a:spcPts val="0"/>
              </a:spcAft>
            </a:pPr>
            <a:r>
              <a:rPr sz="1700" b="1" i="0">
                <a:solidFill>
                  <a:srgbClr val="2B211A"/>
                </a:solidFill>
                <a:latin typeface="Cambria"/>
              </a:rPr>
              <a:t>Thay đổi cách nhìn</a:t>
            </a:r>
          </a:p>
        </p:txBody>
      </p:sp>
      <p:sp>
        <p:nvSpPr>
          <p:cNvPr id="26" name="TextBox 25"/>
          <p:cNvSpPr txBox="1"/>
          <p:nvPr/>
        </p:nvSpPr>
        <p:spPr>
          <a:xfrm>
            <a:off x="9253728" y="3840480"/>
            <a:ext cx="2194560" cy="1188720"/>
          </a:xfrm>
          <a:prstGeom prst="rect">
            <a:avLst/>
          </a:prstGeom>
          <a:noFill/>
        </p:spPr>
        <p:txBody>
          <a:bodyPr wrap="square" lIns="0" rIns="0" tIns="0" bIns="0" anchor="t">
            <a:spAutoFit/>
          </a:bodyPr>
          <a:lstStyle/>
          <a:p>
            <a:pPr algn="l">
              <a:lnSpc>
                <a:spcPct val="110000"/>
              </a:lnSpc>
              <a:spcAft>
                <a:spcPts val="0"/>
              </a:spcAft>
            </a:pPr>
            <a:r>
              <a:rPr sz="1250" b="0" i="0">
                <a:solidFill>
                  <a:srgbClr val="6B645C"/>
                </a:solidFill>
                <a:latin typeface="Cambria"/>
              </a:rPr>
              <a:t>Phiếu Reflection: “Trước…” khác “Bây giờ…”; HS nói được điều gì làm mình đổi ý.</a:t>
            </a:r>
          </a:p>
        </p:txBody>
      </p:sp>
      <p:sp>
        <p:nvSpPr>
          <p:cNvPr id="27" name="Rounded Rectangle 26"/>
          <p:cNvSpPr/>
          <p:nvPr/>
        </p:nvSpPr>
        <p:spPr>
          <a:xfrm>
            <a:off x="548640" y="5303520"/>
            <a:ext cx="11091672" cy="868680"/>
          </a:xfrm>
          <a:prstGeom prst="roundRect">
            <a:avLst>
              <a:gd name="adj" fmla="val 10000"/>
            </a:avLst>
          </a:prstGeom>
          <a:solidFill>
            <a:srgbClr val="2B2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303520"/>
            <a:ext cx="10515600" cy="868680"/>
          </a:xfrm>
          <a:prstGeom prst="rect">
            <a:avLst/>
          </a:prstGeom>
          <a:noFill/>
        </p:spPr>
        <p:txBody>
          <a:bodyPr wrap="square" lIns="0" rIns="0" tIns="0" bIns="0" anchor="ctr">
            <a:spAutoFit/>
          </a:bodyPr>
          <a:lstStyle/>
          <a:p>
            <a:pPr algn="ctr">
              <a:lnSpc>
                <a:spcPct val="108000"/>
              </a:lnSpc>
              <a:spcAft>
                <a:spcPts val="0"/>
              </a:spcAft>
            </a:pPr>
            <a:r>
              <a:rPr sz="1500" b="0" i="1">
                <a:solidFill>
                  <a:srgbClr val="FFFFFF"/>
                </a:solidFill>
                <a:latin typeface="Cambria"/>
              </a:rPr>
              <a:t>Ghi chép nhanh của GV trong giờ:  tên HS  –  ý nổi bật  –  có thay đổi suy nghĩ không.  Không chấm đúng/sai.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