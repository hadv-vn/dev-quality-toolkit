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KHỞI ĐỘNG  ·  KHOẢNG 10 PHÚT</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Trò chơi: Đúng hay Sai - Việc làm quanh ta</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Ôn lại kiến thức tiết trước và hé mở nội dung mới qua các nhận định thú vị.</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2</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Cách chơi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2</a:t>
            </a:r>
          </a:p>
        </p:txBody>
      </p:sp>
      <p:sp>
        <p:nvSpPr>
          <p:cNvPr id="7" name="Rounded Rectangle 6"/>
          <p:cNvSpPr/>
          <p:nvPr/>
        </p:nvSpPr>
        <p:spPr>
          <a:xfrm>
            <a:off x="56692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Chia đội</a:t>
            </a:r>
          </a:p>
        </p:txBody>
      </p:sp>
      <p:sp>
        <p:nvSpPr>
          <p:cNvPr id="11" name="TextBox 10"/>
          <p:cNvSpPr txBox="1"/>
          <p:nvPr/>
        </p:nvSpPr>
        <p:spPr>
          <a:xfrm>
            <a:off x="76809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Lớp chia thành 4 đội như tiết trước. Mỗi đội chuẩn bị bảng/thẻ “Đúng - Sai” để giơ khi GV đọc nhận định.</a:t>
            </a:r>
          </a:p>
        </p:txBody>
      </p:sp>
      <p:sp>
        <p:nvSpPr>
          <p:cNvPr id="12" name="Rounded Rectangle 11"/>
          <p:cNvSpPr/>
          <p:nvPr/>
        </p:nvSpPr>
        <p:spPr>
          <a:xfrm>
            <a:off x="433821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Nghe nhận định, giơ thẻ</a:t>
            </a:r>
          </a:p>
        </p:txBody>
      </p:sp>
      <p:sp>
        <p:nvSpPr>
          <p:cNvPr id="16" name="TextBox 15"/>
          <p:cNvSpPr txBox="1"/>
          <p:nvPr/>
        </p:nvSpPr>
        <p:spPr>
          <a:xfrm>
            <a:off x="453938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GV lần lượt đọc 4 nhận định liên quan lao động, việc làm. Các đội có 10 giây suy nghĩ rồi đồng loạt giơ thẻ.</a:t>
            </a:r>
          </a:p>
        </p:txBody>
      </p:sp>
      <p:sp>
        <p:nvSpPr>
          <p:cNvPr id="17" name="Rounded Rectangle 16"/>
          <p:cNvSpPr/>
          <p:nvPr/>
        </p:nvSpPr>
        <p:spPr>
          <a:xfrm>
            <a:off x="8109508" y="1783080"/>
            <a:ext cx="3515258" cy="4389120"/>
          </a:xfrm>
          <a:prstGeom prst="roundRect">
            <a:avLst>
              <a:gd name="adj" fmla="val 9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Tính điểm</a:t>
            </a:r>
          </a:p>
        </p:txBody>
      </p:sp>
      <p:sp>
        <p:nvSpPr>
          <p:cNvPr id="21" name="TextBox 20"/>
          <p:cNvSpPr txBox="1"/>
          <p:nvPr/>
        </p:nvSpPr>
        <p:spPr>
          <a:xfrm>
            <a:off x="831067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Mỗi nhận định trả lời đúng: 10 điểm. Đội nào có điểm cao nhất sau 4 lượt sẽ chiến thắng.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Nhận định Đúng - Sai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3</a:t>
            </a:r>
          </a:p>
        </p:txBody>
      </p:sp>
      <p:sp>
        <p:nvSpPr>
          <p:cNvPr id="7" name="Rounded Rectangle 6"/>
          <p:cNvSpPr/>
          <p:nvPr/>
        </p:nvSpPr>
        <p:spPr>
          <a:xfrm>
            <a:off x="566928" y="1783080"/>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39112"/>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39112"/>
            <a:ext cx="384048" cy="384048"/>
          </a:xfrm>
          <a:prstGeom prst="rect">
            <a:avLst/>
          </a:prstGeom>
          <a:noFill/>
        </p:spPr>
        <p:txBody>
          <a:bodyPr wrap="square" anchor="ctr" lIns="0" rIns="0" tIns="0" bIns="0">
            <a:noAutofit/>
          </a:bodyPr>
          <a:lstStyle/>
          <a:p>
            <a:pPr algn="ctr"/>
            <a:r>
              <a:rPr sz="1400" b="1" i="0">
                <a:solidFill>
                  <a:srgbClr val="FFFFFF"/>
                </a:solidFill>
                <a:latin typeface="Cambria"/>
              </a:rPr>
              <a:t>1</a:t>
            </a:r>
          </a:p>
        </p:txBody>
      </p:sp>
      <p:sp>
        <p:nvSpPr>
          <p:cNvPr id="10" name="TextBox 9"/>
          <p:cNvSpPr txBox="1"/>
          <p:nvPr/>
        </p:nvSpPr>
        <p:spPr>
          <a:xfrm>
            <a:off x="1280160" y="1783080"/>
            <a:ext cx="1005199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Người thất nghiệp tạm thời không có thu nhập thì không được xem là đang tham gia thị trường lao động.</a:t>
            </a:r>
          </a:p>
        </p:txBody>
      </p:sp>
      <p:sp>
        <p:nvSpPr>
          <p:cNvPr id="11" name="Rounded Rectangle 10"/>
          <p:cNvSpPr/>
          <p:nvPr/>
        </p:nvSpPr>
        <p:spPr>
          <a:xfrm>
            <a:off x="566928" y="2825496"/>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1528"/>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81528"/>
            <a:ext cx="384048" cy="384048"/>
          </a:xfrm>
          <a:prstGeom prst="rect">
            <a:avLst/>
          </a:prstGeom>
          <a:noFill/>
        </p:spPr>
        <p:txBody>
          <a:bodyPr wrap="square" anchor="ctr" lIns="0" rIns="0" tIns="0" bIns="0">
            <a:noAutofit/>
          </a:bodyPr>
          <a:lstStyle/>
          <a:p>
            <a:pPr algn="ctr"/>
            <a:r>
              <a:rPr sz="1400" b="1" i="0">
                <a:solidFill>
                  <a:srgbClr val="FFFFFF"/>
                </a:solidFill>
                <a:latin typeface="Cambria"/>
              </a:rPr>
              <a:t>2</a:t>
            </a:r>
          </a:p>
        </p:txBody>
      </p:sp>
      <p:sp>
        <p:nvSpPr>
          <p:cNvPr id="14" name="TextBox 13"/>
          <p:cNvSpPr txBox="1"/>
          <p:nvPr/>
        </p:nvSpPr>
        <p:spPr>
          <a:xfrm>
            <a:off x="1280160" y="2825496"/>
            <a:ext cx="1005199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Một bạn sinh viên đi dạy gia sư vào buổi tối được xem là có việc làm bán thời gian.</a:t>
            </a:r>
          </a:p>
        </p:txBody>
      </p:sp>
      <p:sp>
        <p:nvSpPr>
          <p:cNvPr id="15" name="Rounded Rectangle 14"/>
          <p:cNvSpPr/>
          <p:nvPr/>
        </p:nvSpPr>
        <p:spPr>
          <a:xfrm>
            <a:off x="566928" y="3867912"/>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123944"/>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23944"/>
            <a:ext cx="384048" cy="384048"/>
          </a:xfrm>
          <a:prstGeom prst="rect">
            <a:avLst/>
          </a:prstGeom>
          <a:noFill/>
        </p:spPr>
        <p:txBody>
          <a:bodyPr wrap="square" anchor="ctr" lIns="0" rIns="0" tIns="0" bIns="0">
            <a:noAutofit/>
          </a:bodyPr>
          <a:lstStyle/>
          <a:p>
            <a:pPr algn="ctr"/>
            <a:r>
              <a:rPr sz="1400" b="1" i="0">
                <a:solidFill>
                  <a:srgbClr val="FFFFFF"/>
                </a:solidFill>
                <a:latin typeface="Cambria"/>
              </a:rPr>
              <a:t>3</a:t>
            </a:r>
          </a:p>
        </p:txBody>
      </p:sp>
      <p:sp>
        <p:nvSpPr>
          <p:cNvPr id="18" name="TextBox 17"/>
          <p:cNvSpPr txBox="1"/>
          <p:nvPr/>
        </p:nvSpPr>
        <p:spPr>
          <a:xfrm>
            <a:off x="1280160" y="3867912"/>
            <a:ext cx="1005199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Chỉ có báo, đài mới là kênh kết nối giữa người lao động và nhà tuyển dụng.</a:t>
            </a:r>
          </a:p>
        </p:txBody>
      </p:sp>
      <p:sp>
        <p:nvSpPr>
          <p:cNvPr id="19" name="Rounded Rectangle 18"/>
          <p:cNvSpPr/>
          <p:nvPr/>
        </p:nvSpPr>
        <p:spPr>
          <a:xfrm>
            <a:off x="566928" y="4910328"/>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5166360"/>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66360"/>
            <a:ext cx="384048" cy="384048"/>
          </a:xfrm>
          <a:prstGeom prst="rect">
            <a:avLst/>
          </a:prstGeom>
          <a:noFill/>
        </p:spPr>
        <p:txBody>
          <a:bodyPr wrap="square" anchor="ctr" lIns="0" rIns="0" tIns="0" bIns="0">
            <a:noAutofit/>
          </a:bodyPr>
          <a:lstStyle/>
          <a:p>
            <a:pPr algn="ctr"/>
            <a:r>
              <a:rPr sz="1400" b="1" i="0">
                <a:solidFill>
                  <a:srgbClr val="FFFFFF"/>
                </a:solidFill>
                <a:latin typeface="Cambria"/>
              </a:rPr>
              <a:t>4</a:t>
            </a:r>
          </a:p>
        </p:txBody>
      </p:sp>
      <p:sp>
        <p:nvSpPr>
          <p:cNvPr id="22" name="TextBox 21"/>
          <p:cNvSpPr txBox="1"/>
          <p:nvPr/>
        </p:nvSpPr>
        <p:spPr>
          <a:xfrm>
            <a:off x="1280160" y="4910328"/>
            <a:ext cx="1005199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Thị trường việc làm giúp người lao động và doanh nghiệp nhanh chóng “gặp nhau” hơn.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KHỞI ĐỘNG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Đáp án &amp; Kết nối vào bài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4</a:t>
            </a:r>
          </a:p>
        </p:txBody>
      </p:sp>
      <p:sp>
        <p:nvSpPr>
          <p:cNvPr id="7" name="Rounded Rectangle 6"/>
          <p:cNvSpPr/>
          <p:nvPr/>
        </p:nvSpPr>
        <p:spPr>
          <a:xfrm>
            <a:off x="566928" y="1783080"/>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39112"/>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39112"/>
            <a:ext cx="384048" cy="384048"/>
          </a:xfrm>
          <a:prstGeom prst="rect">
            <a:avLst/>
          </a:prstGeom>
          <a:noFill/>
        </p:spPr>
        <p:txBody>
          <a:bodyPr wrap="square" anchor="ctr" lIns="0" rIns="0" tIns="0" bIns="0">
            <a:noAutofit/>
          </a:bodyPr>
          <a:lstStyle/>
          <a:p>
            <a:pPr algn="ctr"/>
            <a:r>
              <a:rPr sz="1400" b="1" i="0">
                <a:solidFill>
                  <a:srgbClr val="FFFFFF"/>
                </a:solidFill>
                <a:latin typeface="Cambria"/>
              </a:rPr>
              <a:t>1</a:t>
            </a:r>
          </a:p>
        </p:txBody>
      </p:sp>
      <p:sp>
        <p:nvSpPr>
          <p:cNvPr id="10" name="TextBox 9"/>
          <p:cNvSpPr txBox="1"/>
          <p:nvPr/>
        </p:nvSpPr>
        <p:spPr>
          <a:xfrm>
            <a:off x="1280160" y="1783080"/>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Người thất nghiệp tạm thời không có thu nhập thì không được xem là đang tham gia thị trường lao động.</a:t>
            </a:r>
          </a:p>
        </p:txBody>
      </p:sp>
      <p:sp>
        <p:nvSpPr>
          <p:cNvPr id="11" name="Rounded Rectangle 10"/>
          <p:cNvSpPr/>
          <p:nvPr/>
        </p:nvSpPr>
        <p:spPr>
          <a:xfrm>
            <a:off x="10618927" y="1984248"/>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18927" y="1984248"/>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13" name="Rounded Rectangle 12"/>
          <p:cNvSpPr/>
          <p:nvPr/>
        </p:nvSpPr>
        <p:spPr>
          <a:xfrm>
            <a:off x="566928" y="2825496"/>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081528"/>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84048" cy="384048"/>
          </a:xfrm>
          <a:prstGeom prst="rect">
            <a:avLst/>
          </a:prstGeom>
          <a:noFill/>
        </p:spPr>
        <p:txBody>
          <a:bodyPr wrap="square" anchor="ctr" lIns="0" rIns="0" tIns="0" bIns="0">
            <a:noAutofit/>
          </a:bodyPr>
          <a:lstStyle/>
          <a:p>
            <a:pPr algn="ctr"/>
            <a:r>
              <a:rPr sz="1400" b="1" i="0">
                <a:solidFill>
                  <a:srgbClr val="FFFFFF"/>
                </a:solidFill>
                <a:latin typeface="Cambria"/>
              </a:rPr>
              <a:t>2</a:t>
            </a:r>
          </a:p>
        </p:txBody>
      </p:sp>
      <p:sp>
        <p:nvSpPr>
          <p:cNvPr id="16" name="TextBox 15"/>
          <p:cNvSpPr txBox="1"/>
          <p:nvPr/>
        </p:nvSpPr>
        <p:spPr>
          <a:xfrm>
            <a:off x="1280160" y="2825496"/>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Một bạn sinh viên đi dạy gia sư vào buổi tối được xem là có việc làm bán thời gian.</a:t>
            </a:r>
          </a:p>
        </p:txBody>
      </p:sp>
      <p:sp>
        <p:nvSpPr>
          <p:cNvPr id="17" name="Rounded Rectangle 16"/>
          <p:cNvSpPr/>
          <p:nvPr/>
        </p:nvSpPr>
        <p:spPr>
          <a:xfrm>
            <a:off x="10618927" y="3026664"/>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18927" y="3026664"/>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19" name="Rounded Rectangle 18"/>
          <p:cNvSpPr/>
          <p:nvPr/>
        </p:nvSpPr>
        <p:spPr>
          <a:xfrm>
            <a:off x="566928" y="3867912"/>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4123944"/>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123944"/>
            <a:ext cx="384048" cy="384048"/>
          </a:xfrm>
          <a:prstGeom prst="rect">
            <a:avLst/>
          </a:prstGeom>
          <a:noFill/>
        </p:spPr>
        <p:txBody>
          <a:bodyPr wrap="square" anchor="ctr" lIns="0" rIns="0" tIns="0" bIns="0">
            <a:noAutofit/>
          </a:bodyPr>
          <a:lstStyle/>
          <a:p>
            <a:pPr algn="ctr"/>
            <a:r>
              <a:rPr sz="1400" b="1" i="0">
                <a:solidFill>
                  <a:srgbClr val="FFFFFF"/>
                </a:solidFill>
                <a:latin typeface="Cambria"/>
              </a:rPr>
              <a:t>3</a:t>
            </a:r>
          </a:p>
        </p:txBody>
      </p:sp>
      <p:sp>
        <p:nvSpPr>
          <p:cNvPr id="22" name="TextBox 21"/>
          <p:cNvSpPr txBox="1"/>
          <p:nvPr/>
        </p:nvSpPr>
        <p:spPr>
          <a:xfrm>
            <a:off x="1280160" y="3867912"/>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Chỉ có báo, đài mới là kênh kết nối giữa người lao động và nhà tuyển dụng.</a:t>
            </a:r>
          </a:p>
        </p:txBody>
      </p:sp>
      <p:sp>
        <p:nvSpPr>
          <p:cNvPr id="23" name="Rounded Rectangle 22"/>
          <p:cNvSpPr/>
          <p:nvPr/>
        </p:nvSpPr>
        <p:spPr>
          <a:xfrm>
            <a:off x="10618927" y="4069080"/>
            <a:ext cx="868680" cy="475488"/>
          </a:xfrm>
          <a:prstGeom prst="roundRect">
            <a:avLst>
              <a:gd name="adj" fmla="val 30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18927" y="4069080"/>
            <a:ext cx="868680" cy="475488"/>
          </a:xfrm>
          <a:prstGeom prst="rect">
            <a:avLst/>
          </a:prstGeom>
          <a:noFill/>
        </p:spPr>
        <p:txBody>
          <a:bodyPr wrap="square" anchor="ctr" lIns="0" rIns="0" tIns="0" bIns="0">
            <a:noAutofit/>
          </a:bodyPr>
          <a:lstStyle/>
          <a:p>
            <a:pPr algn="ctr"/>
            <a:r>
              <a:rPr sz="1250" b="1" i="0">
                <a:solidFill>
                  <a:srgbClr val="FFFFFF"/>
                </a:solidFill>
                <a:latin typeface="Cambria"/>
              </a:rPr>
              <a:t>SAI</a:t>
            </a:r>
          </a:p>
        </p:txBody>
      </p:sp>
      <p:sp>
        <p:nvSpPr>
          <p:cNvPr id="25" name="Rounded Rectangle 24"/>
          <p:cNvSpPr/>
          <p:nvPr/>
        </p:nvSpPr>
        <p:spPr>
          <a:xfrm>
            <a:off x="566928" y="4910328"/>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1520" y="5166360"/>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66360"/>
            <a:ext cx="384048" cy="384048"/>
          </a:xfrm>
          <a:prstGeom prst="rect">
            <a:avLst/>
          </a:prstGeom>
          <a:noFill/>
        </p:spPr>
        <p:txBody>
          <a:bodyPr wrap="square" anchor="ctr" lIns="0" rIns="0" tIns="0" bIns="0">
            <a:noAutofit/>
          </a:bodyPr>
          <a:lstStyle/>
          <a:p>
            <a:pPr algn="ctr"/>
            <a:r>
              <a:rPr sz="1400" b="1" i="0">
                <a:solidFill>
                  <a:srgbClr val="FFFFFF"/>
                </a:solidFill>
                <a:latin typeface="Cambria"/>
              </a:rPr>
              <a:t>4</a:t>
            </a:r>
          </a:p>
        </p:txBody>
      </p:sp>
      <p:sp>
        <p:nvSpPr>
          <p:cNvPr id="28" name="TextBox 27"/>
          <p:cNvSpPr txBox="1"/>
          <p:nvPr/>
        </p:nvSpPr>
        <p:spPr>
          <a:xfrm>
            <a:off x="1280160" y="4910328"/>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Thị trường việc làm giúp người lao động và doanh nghiệp nhanh chóng “gặp nhau” hơn.</a:t>
            </a:r>
          </a:p>
        </p:txBody>
      </p:sp>
      <p:sp>
        <p:nvSpPr>
          <p:cNvPr id="29" name="Rounded Rectangle 28"/>
          <p:cNvSpPr/>
          <p:nvPr/>
        </p:nvSpPr>
        <p:spPr>
          <a:xfrm>
            <a:off x="10618927" y="5111496"/>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18927" y="5111496"/>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A13D52"/>
                </a:solidFill>
                <a:latin typeface="Cambria"/>
              </a:rPr>
              <a:t>GỢI MỞ</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Vì sao có ngành “khát” nhân lực, có ngành lại khó xin việc?</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5</a:t>
            </a:r>
          </a:p>
        </p:txBody>
      </p:sp>
      <p:sp>
        <p:nvSpPr>
          <p:cNvPr id="7" name="Rounded Rectangle 6"/>
          <p:cNvSpPr/>
          <p:nvPr/>
        </p:nvSpPr>
        <p:spPr>
          <a:xfrm>
            <a:off x="566928" y="1783080"/>
            <a:ext cx="11057839" cy="1051560"/>
          </a:xfrm>
          <a:prstGeom prst="roundRect">
            <a:avLst>
              <a:gd name="adj" fmla="val 9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QUAN SÁT THỰC TẾ</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Hiện nay, nhiều ngành như công nghệ thông tin, thương mại điện tử, logistics... liên tục tuyển dụng với mức lương hấp dẫn; trong khi một số công việc giản đơn, ít đòi hỏi kỹ năng lại ngày càng khó cạnh tranh.</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Cùng suy nghĩ</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Điều gì kết nối người tìm việc với những vị trí đang “khát” nhân lực đó?</a:t>
            </a:r>
          </a:p>
          <a:p>
            <a:pPr>
              <a:spcAft>
                <a:spcPts val="1000"/>
              </a:spcAft>
            </a:pPr>
            <a:r>
              <a:rPr sz="1400" b="1" i="0">
                <a:solidFill>
                  <a:srgbClr val="B87410"/>
                </a:solidFill>
                <a:latin typeface="Cambria"/>
              </a:rPr>
              <a:t>•  Xu hướng tuyển dụng đang thay đổi theo hướng nào?</a:t>
            </a:r>
            <a:r>
              <a:rPr sz="1400" b="0" i="0">
                <a:solidFill>
                  <a:srgbClr val="2B211A"/>
                </a:solidFill>
                <a:latin typeface="Cambria"/>
              </a:rPr>
              <a:t>  Và học sinh như chúng ta cần chuẩn bị gì để không “lạc nhịp” với thị trường lao động tương lai?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9052560" y="-1371600"/>
            <a:ext cx="3840480" cy="384048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46920" y="-822960"/>
            <a:ext cx="2194560" cy="2194560"/>
          </a:xfrm>
          <a:prstGeom prst="ellipse">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960120"/>
            <a:ext cx="8412480" cy="365760"/>
          </a:xfrm>
          <a:prstGeom prst="rect">
            <a:avLst/>
          </a:prstGeom>
          <a:noFill/>
        </p:spPr>
        <p:txBody>
          <a:bodyPr wrap="square" anchor="t" lIns="0" rIns="0" tIns="0" bIns="0">
            <a:noAutofit/>
          </a:bodyPr>
          <a:lstStyle/>
          <a:p>
            <a:pPr algn="l"/>
            <a:r>
              <a:rPr sz="1500" b="1" i="0">
                <a:solidFill>
                  <a:srgbClr val="E8A03A"/>
                </a:solidFill>
                <a:latin typeface="Cambria"/>
              </a:rPr>
              <a:t>GIÁO DỤC KINH TẾ VÀ PHÁP LUẬT 11</a:t>
            </a:r>
          </a:p>
        </p:txBody>
      </p:sp>
      <p:sp>
        <p:nvSpPr>
          <p:cNvPr id="5" name="TextBox 4"/>
          <p:cNvSpPr txBox="1"/>
          <p:nvPr/>
        </p:nvSpPr>
        <p:spPr>
          <a:xfrm>
            <a:off x="566928" y="1417320"/>
            <a:ext cx="9509760" cy="1371600"/>
          </a:xfrm>
          <a:prstGeom prst="rect">
            <a:avLst/>
          </a:prstGeom>
          <a:noFill/>
        </p:spPr>
        <p:txBody>
          <a:bodyPr wrap="square" anchor="t" lIns="0" rIns="0" tIns="0" bIns="0">
            <a:noAutofit/>
          </a:bodyPr>
          <a:lstStyle/>
          <a:p>
            <a:pPr algn="l">
              <a:lnSpc>
                <a:spcPct val="102000"/>
              </a:lnSpc>
            </a:pPr>
            <a:r>
              <a:rPr sz="4000" b="1" i="0">
                <a:solidFill>
                  <a:srgbClr val="FFFFFF"/>
                </a:solidFill>
                <a:latin typeface="Cambria"/>
              </a:rPr>
              <a:t>Bài 5: Thị trường lao động và việc làm</a:t>
            </a:r>
          </a:p>
        </p:txBody>
      </p:sp>
      <p:sp>
        <p:nvSpPr>
          <p:cNvPr id="6" name="TextBox 5"/>
          <p:cNvSpPr txBox="1"/>
          <p:nvPr/>
        </p:nvSpPr>
        <p:spPr>
          <a:xfrm>
            <a:off x="566928" y="2606040"/>
            <a:ext cx="9509760" cy="914400"/>
          </a:xfrm>
          <a:prstGeom prst="rect">
            <a:avLst/>
          </a:prstGeom>
          <a:noFill/>
        </p:spPr>
        <p:txBody>
          <a:bodyPr wrap="square" anchor="t" lIns="0" rIns="0" tIns="0" bIns="0">
            <a:noAutofit/>
          </a:bodyPr>
          <a:lstStyle/>
          <a:p>
            <a:pPr algn="l"/>
            <a:r>
              <a:rPr sz="2200" b="1" i="1">
                <a:solidFill>
                  <a:srgbClr val="FFFFFF"/>
                </a:solidFill>
                <a:latin typeface="Cambria"/>
              </a:rPr>
              <a:t>Tiết 2: </a:t>
            </a:r>
            <a:r>
              <a:rPr sz="2200" b="1" i="1">
                <a:solidFill>
                  <a:srgbClr val="E8A03A"/>
                </a:solidFill>
                <a:latin typeface="Cambria"/>
              </a:rPr>
              <a:t>Việc làm, thị trường việc làm và trách nhiệm công dân</a:t>
            </a:r>
          </a:p>
        </p:txBody>
      </p:sp>
      <p:sp>
        <p:nvSpPr>
          <p:cNvPr id="7" name="Rectangle 6"/>
          <p:cNvSpPr/>
          <p:nvPr/>
        </p:nvSpPr>
        <p:spPr>
          <a:xfrm>
            <a:off x="566928" y="4434840"/>
            <a:ext cx="640080" cy="38100"/>
          </a:xfrm>
          <a:prstGeom prst="rect">
            <a:avLst/>
          </a:prstGeom>
          <a:solidFill>
            <a:srgbClr val="E8A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17720"/>
            <a:ext cx="9509760" cy="1097280"/>
          </a:xfrm>
          <a:prstGeom prst="rect">
            <a:avLst/>
          </a:prstGeom>
          <a:noFill/>
        </p:spPr>
        <p:txBody>
          <a:bodyPr wrap="square" anchor="t" lIns="0" rIns="0" tIns="0" bIns="0">
            <a:noAutofit/>
          </a:bodyPr>
          <a:lstStyle/>
          <a:p>
            <a:pPr algn="l">
              <a:lnSpc>
                <a:spcPct val="125000"/>
              </a:lnSpc>
            </a:pPr>
            <a:r>
              <a:rPr sz="1300" b="0" i="0">
                <a:solidFill>
                  <a:srgbClr val="FFFFFF"/>
                </a:solidFill>
                <a:latin typeface="Cambria"/>
              </a:rPr>
              <a:t>Chủ đề 3: Thị trường lao động, việc làm</a:t>
            </a:r>
          </a:p>
          <a:p>
            <a:pPr algn="l">
              <a:lnSpc>
                <a:spcPct val="125000"/>
              </a:lnSpc>
            </a:pPr>
            <a:r>
              <a:rPr sz="1300" b="0" i="0">
                <a:solidFill>
                  <a:srgbClr val="FFFFFF"/>
                </a:solidFill>
                <a:latin typeface="Cambria"/>
              </a:rPr>
              <a:t>Trường Quốc tế Nhật Bản | Năm học 2026-2027</a:t>
            </a:r>
          </a:p>
          <a:p>
            <a:pPr algn="l">
              <a:lnSpc>
                <a:spcPct val="125000"/>
              </a:lnSpc>
            </a:pPr>
            <a:r>
              <a:rPr sz="1300" b="0" i="0">
                <a:solidFill>
                  <a:srgbClr val="FFFFFF"/>
                </a:solidFill>
                <a:latin typeface="Cambria"/>
              </a:rPr>
              <a:t>Thời lượng: 45 phút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2C5A73"/>
                </a:solidFill>
                <a:latin typeface="Cambria"/>
              </a:rPr>
              <a:t>MỤC TIÊU</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Mục tiêu cần đạt - Tiết 2</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7</a:t>
            </a:r>
          </a:p>
        </p:txBody>
      </p:sp>
      <p:sp>
        <p:nvSpPr>
          <p:cNvPr id="7" name="Rounded Rectangle 6"/>
          <p:cNvSpPr/>
          <p:nvPr/>
        </p:nvSpPr>
        <p:spPr>
          <a:xfrm>
            <a:off x="566928" y="1783080"/>
            <a:ext cx="3515258" cy="4389120"/>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K</a:t>
            </a:r>
          </a:p>
        </p:txBody>
      </p:sp>
      <p:sp>
        <p:nvSpPr>
          <p:cNvPr id="10" name="TextBox 9"/>
          <p:cNvSpPr txBox="1"/>
          <p:nvPr/>
        </p:nvSpPr>
        <p:spPr>
          <a:xfrm>
            <a:off x="133502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Kiến thức</a:t>
            </a:r>
          </a:p>
        </p:txBody>
      </p:sp>
      <p:sp>
        <p:nvSpPr>
          <p:cNvPr id="11" name="TextBox 10"/>
          <p:cNvSpPr txBox="1"/>
          <p:nvPr/>
        </p:nvSpPr>
        <p:spPr>
          <a:xfrm>
            <a:off x="76809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Nêu được khái niệm việc làm, thị trường việc làm; chỉ ra mối quan hệ giữa thị trường lao động và thị trường việc làm; nhận biết các xu hướng tuyển dụng lao động hiện nay.</a:t>
            </a:r>
          </a:p>
        </p:txBody>
      </p:sp>
      <p:sp>
        <p:nvSpPr>
          <p:cNvPr id="12" name="Rounded Rectangle 11"/>
          <p:cNvSpPr/>
          <p:nvPr/>
        </p:nvSpPr>
        <p:spPr>
          <a:xfrm>
            <a:off x="4338218" y="1783080"/>
            <a:ext cx="3515258" cy="4389120"/>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39386"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38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N</a:t>
            </a:r>
          </a:p>
        </p:txBody>
      </p:sp>
      <p:sp>
        <p:nvSpPr>
          <p:cNvPr id="15" name="TextBox 14"/>
          <p:cNvSpPr txBox="1"/>
          <p:nvPr/>
        </p:nvSpPr>
        <p:spPr>
          <a:xfrm>
            <a:off x="510631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Năng lực</a:t>
            </a:r>
          </a:p>
        </p:txBody>
      </p:sp>
      <p:sp>
        <p:nvSpPr>
          <p:cNvPr id="16" name="TextBox 15"/>
          <p:cNvSpPr txBox="1"/>
          <p:nvPr/>
        </p:nvSpPr>
        <p:spPr>
          <a:xfrm>
            <a:off x="453938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Phân tích ví dụ thực tế về xu hướng tuyển dụng; xác định trách nhiệm bản thân trong định hướng nghề nghiệp phù hợp.</a:t>
            </a:r>
          </a:p>
        </p:txBody>
      </p:sp>
      <p:sp>
        <p:nvSpPr>
          <p:cNvPr id="17" name="Rounded Rectangle 16"/>
          <p:cNvSpPr/>
          <p:nvPr/>
        </p:nvSpPr>
        <p:spPr>
          <a:xfrm>
            <a:off x="8109508" y="1783080"/>
            <a:ext cx="3515258" cy="4389120"/>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1067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067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P</a:t>
            </a:r>
          </a:p>
        </p:txBody>
      </p:sp>
      <p:sp>
        <p:nvSpPr>
          <p:cNvPr id="20" name="TextBox 19"/>
          <p:cNvSpPr txBox="1"/>
          <p:nvPr/>
        </p:nvSpPr>
        <p:spPr>
          <a:xfrm>
            <a:off x="8877604" y="1956816"/>
            <a:ext cx="2545994" cy="365760"/>
          </a:xfrm>
          <a:prstGeom prst="rect">
            <a:avLst/>
          </a:prstGeom>
          <a:noFill/>
        </p:spPr>
        <p:txBody>
          <a:bodyPr wrap="square" anchor="t" lIns="0" rIns="0" tIns="0" bIns="0">
            <a:noAutofit/>
          </a:bodyPr>
          <a:lstStyle/>
          <a:p>
            <a:pPr algn="l"/>
            <a:r>
              <a:rPr sz="1450" b="1" i="0">
                <a:solidFill>
                  <a:srgbClr val="2B211A"/>
                </a:solidFill>
                <a:latin typeface="Cambria"/>
              </a:rPr>
              <a:t>Phẩm chất</a:t>
            </a:r>
          </a:p>
        </p:txBody>
      </p:sp>
      <p:sp>
        <p:nvSpPr>
          <p:cNvPr id="21" name="TextBox 20"/>
          <p:cNvSpPr txBox="1"/>
          <p:nvPr/>
        </p:nvSpPr>
        <p:spPr>
          <a:xfrm>
            <a:off x="8310676" y="2478024"/>
            <a:ext cx="3112922" cy="3493008"/>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Có trách nhiệm chủ động định hướng nghề nghiệp; chăm chỉ rèn luyện kiến thức, kỹ năng ngay từ khi còn ngồi trên ghế nhà trường.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2C5A73"/>
                </a:solidFill>
                <a:latin typeface="Cambria"/>
              </a:rPr>
              <a:t>MỤC TIÊU</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Nội dung trọng tâm tiết học</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8</a:t>
            </a:r>
          </a:p>
        </p:txBody>
      </p:sp>
      <p:sp>
        <p:nvSpPr>
          <p:cNvPr id="7" name="Rounded Rectangle 6"/>
          <p:cNvSpPr/>
          <p:nvPr/>
        </p:nvSpPr>
        <p:spPr>
          <a:xfrm>
            <a:off x="566928" y="1783080"/>
            <a:ext cx="1105783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10600639" cy="548640"/>
          </a:xfrm>
          <a:prstGeom prst="rect">
            <a:avLst/>
          </a:prstGeom>
          <a:noFill/>
        </p:spPr>
        <p:txBody>
          <a:bodyPr wrap="square" anchor="ctr" lIns="0" rIns="0" tIns="0" bIns="0">
            <a:noAutofit/>
          </a:bodyPr>
          <a:lstStyle/>
          <a:p>
            <a:pPr algn="l">
              <a:lnSpc>
                <a:spcPct val="110000"/>
              </a:lnSpc>
            </a:pPr>
            <a:r>
              <a:rPr sz="1350" b="0" i="1">
                <a:solidFill>
                  <a:srgbClr val="2B211A"/>
                </a:solidFill>
                <a:latin typeface="Cambria"/>
              </a:rPr>
              <a:t>Tiếp nối tiết 1, hôm nay chúng ta tìm hiểu 3 nội dung chính:</a:t>
            </a:r>
          </a:p>
        </p:txBody>
      </p:sp>
      <p:sp>
        <p:nvSpPr>
          <p:cNvPr id="9" name="TextBox 8"/>
          <p:cNvSpPr txBox="1"/>
          <p:nvPr/>
        </p:nvSpPr>
        <p:spPr>
          <a:xfrm>
            <a:off x="612648" y="2788920"/>
            <a:ext cx="10966399" cy="3429000"/>
          </a:xfrm>
          <a:prstGeom prst="rect">
            <a:avLst/>
          </a:prstGeom>
          <a:noFill/>
        </p:spPr>
        <p:txBody>
          <a:bodyPr wrap="square" lIns="0" rIns="0" tIns="0" bIns="0">
            <a:noAutofit/>
          </a:bodyPr>
          <a:lstStyle/>
          <a:p>
            <a:pPr>
              <a:spcAft>
                <a:spcPts val="1200"/>
              </a:spcAft>
            </a:pPr>
            <a:r>
              <a:rPr sz="1500" b="1" i="0">
                <a:solidFill>
                  <a:srgbClr val="2C5A73"/>
                </a:solidFill>
                <a:latin typeface="Cambria"/>
              </a:rPr>
              <a:t>•  Việc làm và thị trường việc làm</a:t>
            </a:r>
            <a:r>
              <a:rPr sz="1500" b="0" i="0">
                <a:solidFill>
                  <a:srgbClr val="2B211A"/>
                </a:solidFill>
                <a:latin typeface="Cambria"/>
              </a:rPr>
              <a:t>  khái niệm và mối quan hệ giữa thị trường lao động - thị trường việc làm.</a:t>
            </a:r>
          </a:p>
          <a:p>
            <a:pPr>
              <a:spcAft>
                <a:spcPts val="1200"/>
              </a:spcAft>
            </a:pPr>
            <a:r>
              <a:rPr sz="1500" b="1" i="0">
                <a:solidFill>
                  <a:srgbClr val="2C5A73"/>
                </a:solidFill>
                <a:latin typeface="Cambria"/>
              </a:rPr>
              <a:t>•  Xu hướng tuyển dụng lao động hiện nay ở Việt Nam</a:t>
            </a:r>
            <a:r>
              <a:rPr sz="1500" b="0" i="0">
                <a:solidFill>
                  <a:srgbClr val="2B211A"/>
                </a:solidFill>
                <a:latin typeface="Cambria"/>
              </a:rPr>
              <a:t>  bốn xu hướng nổi bật và ví dụ minh hoạ.</a:t>
            </a:r>
          </a:p>
          <a:p>
            <a:pPr>
              <a:spcAft>
                <a:spcPts val="1200"/>
              </a:spcAft>
            </a:pPr>
            <a:r>
              <a:rPr sz="1500" b="1" i="0">
                <a:solidFill>
                  <a:srgbClr val="2C5A73"/>
                </a:solidFill>
                <a:latin typeface="Cambria"/>
              </a:rPr>
              <a:t>•  Trách nhiệm của công dân, học sinh</a:t>
            </a:r>
            <a:r>
              <a:rPr sz="1500" b="0" i="0">
                <a:solidFill>
                  <a:srgbClr val="2B211A"/>
                </a:solidFill>
                <a:latin typeface="Cambria"/>
              </a:rPr>
              <a:t>  trong việc chuẩn bị hành trang tham gia thị trường lao động, việc làm.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538235"/>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KHÁM PHÁ NỘI DUNG</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2. Việc làm và thị trường việc làm</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Tìm hiểu “bến đỗ” của sức lao động và nơi kết nối người tìm việc với nhà tuyển dụng.</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2</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VIỆC LÀM</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Khái niệm việc làm</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10</a:t>
            </a:r>
          </a:p>
        </p:txBody>
      </p:sp>
      <p:sp>
        <p:nvSpPr>
          <p:cNvPr id="7" name="Rounded Rectangle 6"/>
          <p:cNvSpPr/>
          <p:nvPr/>
        </p:nvSpPr>
        <p:spPr>
          <a:xfrm>
            <a:off x="566928" y="1783080"/>
            <a:ext cx="11057839" cy="1051560"/>
          </a:xfrm>
          <a:prstGeom prst="roundRect">
            <a:avLst>
              <a:gd name="adj" fmla="val 9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ĐỊNH NGHĨA</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Việc làm là hoạt động lao động tạo ra thu nhập mà pháp luật không cấm; có thể là việc làm toàn thời gian hoặc bán thời gian.</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Đặc điểm của việc làm</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Việc làm phải hợp pháp:</a:t>
            </a:r>
            <a:r>
              <a:rPr sz="1400" b="0" i="0">
                <a:solidFill>
                  <a:srgbClr val="2B211A"/>
                </a:solidFill>
                <a:latin typeface="Cambria"/>
              </a:rPr>
              <a:t>  không thuộc danh mục hoạt động bị pháp luật cấm.</a:t>
            </a:r>
          </a:p>
          <a:p>
            <a:pPr>
              <a:spcAft>
                <a:spcPts val="1000"/>
              </a:spcAft>
            </a:pPr>
            <a:r>
              <a:rPr sz="1400" b="1" i="0">
                <a:solidFill>
                  <a:srgbClr val="B87410"/>
                </a:solidFill>
                <a:latin typeface="Cambria"/>
              </a:rPr>
              <a:t>•  Việc làm gắn với thu nhập:</a:t>
            </a:r>
            <a:r>
              <a:rPr sz="1400" b="0" i="0">
                <a:solidFill>
                  <a:srgbClr val="2B211A"/>
                </a:solidFill>
                <a:latin typeface="Cambria"/>
              </a:rPr>
              <a:t>  mang lại nguồn thu nhập cho người lao động, dưới nhiều hình thức (lương, công, hoa hồng...).</a:t>
            </a:r>
          </a:p>
          <a:p>
            <a:pPr>
              <a:spcAft>
                <a:spcPts val="1000"/>
              </a:spcAft>
            </a:pPr>
            <a:r>
              <a:rPr sz="1400" b="1" i="0">
                <a:solidFill>
                  <a:srgbClr val="B87410"/>
                </a:solidFill>
                <a:latin typeface="Cambria"/>
              </a:rPr>
              <a:t>•  Việc làm rất đa dạng:</a:t>
            </a:r>
            <a:r>
              <a:rPr sz="1400" b="0" i="0">
                <a:solidFill>
                  <a:srgbClr val="2B211A"/>
                </a:solidFill>
                <a:latin typeface="Cambria"/>
              </a:rPr>
              <a:t>  làm công ăn lương, tự tạo việc làm, làm việc theo mùa vụ, bán thời gian...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VIỆC LÀM</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Nhận diện: Đâu là việc làm hợp pháp?</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11</a:t>
            </a:r>
          </a:p>
        </p:txBody>
      </p:sp>
      <p:sp>
        <p:nvSpPr>
          <p:cNvPr id="7" name="Rounded Rectangle 6"/>
          <p:cNvSpPr/>
          <p:nvPr/>
        </p:nvSpPr>
        <p:spPr>
          <a:xfrm>
            <a:off x="566928" y="1783080"/>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Bạn A dạy kèm tiếng Anh vào cuối tuần, có thu nhập</a:t>
            </a:r>
          </a:p>
        </p:txBody>
      </p:sp>
      <p:sp>
        <p:nvSpPr>
          <p:cNvPr id="11" name="TextBox 10"/>
          <p:cNvSpPr txBox="1"/>
          <p:nvPr/>
        </p:nvSpPr>
        <p:spPr>
          <a:xfrm>
            <a:off x="768096"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Là việc làm hợp pháp, hình thức bán thời gian.</a:t>
            </a:r>
          </a:p>
        </p:txBody>
      </p:sp>
      <p:sp>
        <p:nvSpPr>
          <p:cNvPr id="12" name="Rounded Rectangle 11"/>
          <p:cNvSpPr/>
          <p:nvPr/>
        </p:nvSpPr>
        <p:spPr>
          <a:xfrm>
            <a:off x="6223863" y="1783080"/>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5031" y="1984248"/>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5031"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6991959"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Anh B làm nhân viên giao hàng công nghệ (shipper)</a:t>
            </a:r>
          </a:p>
        </p:txBody>
      </p:sp>
      <p:sp>
        <p:nvSpPr>
          <p:cNvPr id="16" name="TextBox 15"/>
          <p:cNvSpPr txBox="1"/>
          <p:nvPr/>
        </p:nvSpPr>
        <p:spPr>
          <a:xfrm>
            <a:off x="6425031"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Là việc làm hợp pháp, gắn với nền tảng công nghệ, có thu nhập theo đơn hàng.</a:t>
            </a:r>
          </a:p>
        </p:txBody>
      </p:sp>
      <p:sp>
        <p:nvSpPr>
          <p:cNvPr id="17" name="Rounded Rectangle 16"/>
          <p:cNvSpPr/>
          <p:nvPr/>
        </p:nvSpPr>
        <p:spPr>
          <a:xfrm>
            <a:off x="566928" y="4105656"/>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8096" y="4306824"/>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1335024"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Chị C bán hàng cấm theo quy định pháp luật để kiếm lời</a:t>
            </a:r>
          </a:p>
        </p:txBody>
      </p:sp>
      <p:sp>
        <p:nvSpPr>
          <p:cNvPr id="21" name="TextBox 20"/>
          <p:cNvSpPr txBox="1"/>
          <p:nvPr/>
        </p:nvSpPr>
        <p:spPr>
          <a:xfrm>
            <a:off x="768096"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Không được coi là việc làm hợp pháp vì thuộc danh mục hoạt động bị pháp luật cấm.</a:t>
            </a:r>
          </a:p>
        </p:txBody>
      </p:sp>
      <p:sp>
        <p:nvSpPr>
          <p:cNvPr id="22" name="Rounded Rectangle 21"/>
          <p:cNvSpPr/>
          <p:nvPr/>
        </p:nvSpPr>
        <p:spPr>
          <a:xfrm>
            <a:off x="6223863" y="4105656"/>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5031" y="4306824"/>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4</a:t>
            </a:r>
          </a:p>
        </p:txBody>
      </p:sp>
      <p:sp>
        <p:nvSpPr>
          <p:cNvPr id="25" name="TextBox 24"/>
          <p:cNvSpPr txBox="1"/>
          <p:nvPr/>
        </p:nvSpPr>
        <p:spPr>
          <a:xfrm>
            <a:off x="6991959"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Cô D làm nội trợ, chăm sóc gia đình, không nhận lương</a:t>
            </a:r>
          </a:p>
        </p:txBody>
      </p:sp>
      <p:sp>
        <p:nvSpPr>
          <p:cNvPr id="26" name="TextBox 25"/>
          <p:cNvSpPr txBox="1"/>
          <p:nvPr/>
        </p:nvSpPr>
        <p:spPr>
          <a:xfrm>
            <a:off x="6425031"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Không được tính là việc làm theo khái niệm kinh tế học vì không tạo ra thu nhập.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VIỆC LÀM</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Khái niệm thị trường việc làm</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12</a:t>
            </a:r>
          </a:p>
        </p:txBody>
      </p:sp>
      <p:sp>
        <p:nvSpPr>
          <p:cNvPr id="7" name="Rounded Rectangle 6"/>
          <p:cNvSpPr/>
          <p:nvPr/>
        </p:nvSpPr>
        <p:spPr>
          <a:xfrm>
            <a:off x="566928" y="1783080"/>
            <a:ext cx="11057839" cy="1051560"/>
          </a:xfrm>
          <a:prstGeom prst="roundRect">
            <a:avLst>
              <a:gd name="adj" fmla="val 9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ĐỊNH NGHĨA</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Thị trường việc làm là nơi diễn ra sự kết nối, trao đổi thông tin giữa cung lao động và cầu lao động, giúp người lao động tìm được việc làm phù hợp và người sử dụng lao động tìm được nhân sự phù hợp.</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Các kênh kết nối chính</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Phiên/hội chợ giao dịch việc làm:</a:t>
            </a:r>
            <a:r>
              <a:rPr sz="1400" b="0" i="0">
                <a:solidFill>
                  <a:srgbClr val="2B211A"/>
                </a:solidFill>
                <a:latin typeface="Cambria"/>
              </a:rPr>
              <a:t>  sự kiện kết nối trực tiếp giữa doanh nghiệp và người tìm việc.</a:t>
            </a:r>
          </a:p>
          <a:p>
            <a:pPr>
              <a:spcAft>
                <a:spcPts val="1000"/>
              </a:spcAft>
            </a:pPr>
            <a:r>
              <a:rPr sz="1400" b="1" i="0">
                <a:solidFill>
                  <a:srgbClr val="B87410"/>
                </a:solidFill>
                <a:latin typeface="Cambria"/>
              </a:rPr>
              <a:t>•  Trung tâm dịch vụ việc làm:</a:t>
            </a:r>
            <a:r>
              <a:rPr sz="1400" b="0" i="0">
                <a:solidFill>
                  <a:srgbClr val="2B211A"/>
                </a:solidFill>
                <a:latin typeface="Cambria"/>
              </a:rPr>
              <a:t>  tư vấn, giới thiệu việc làm, cung cấp thông tin thị trường lao động.</a:t>
            </a:r>
          </a:p>
          <a:p>
            <a:pPr>
              <a:spcAft>
                <a:spcPts val="1000"/>
              </a:spcAft>
            </a:pPr>
            <a:r>
              <a:rPr sz="1400" b="1" i="0">
                <a:solidFill>
                  <a:srgbClr val="B87410"/>
                </a:solidFill>
                <a:latin typeface="Cambria"/>
              </a:rPr>
              <a:t>•  Phương tiện thông tin đại chúng, nền tảng trực tuyến:</a:t>
            </a:r>
            <a:r>
              <a:rPr sz="1400" b="0" i="0">
                <a:solidFill>
                  <a:srgbClr val="2B211A"/>
                </a:solidFill>
                <a:latin typeface="Cambria"/>
              </a:rPr>
              <a:t>  website, mạng xã hội, ứng dụng tuyển dụng...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THỊ TRƯỜNG VIỆC LÀM</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Mối quan hệ giữa thị trường lao động và thị trường việc làm</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13</a:t>
            </a:r>
          </a:p>
        </p:txBody>
      </p:sp>
      <p:sp>
        <p:nvSpPr>
          <p:cNvPr id="7" name="Rounded Rectangle 6"/>
          <p:cNvSpPr/>
          <p:nvPr/>
        </p:nvSpPr>
        <p:spPr>
          <a:xfrm>
            <a:off x="566928" y="1965960"/>
            <a:ext cx="3551834" cy="2788920"/>
          </a:xfrm>
          <a:prstGeom prst="roundRect">
            <a:avLst>
              <a:gd name="adj" fmla="val 7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 y="2148840"/>
            <a:ext cx="457200" cy="45720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148840"/>
            <a:ext cx="457200" cy="457200"/>
          </a:xfrm>
          <a:prstGeom prst="rect">
            <a:avLst/>
          </a:prstGeom>
          <a:noFill/>
        </p:spPr>
        <p:txBody>
          <a:bodyPr wrap="square" anchor="ctr" lIns="0" rIns="0" tIns="0" bIns="0">
            <a:noAutofit/>
          </a:bodyPr>
          <a:lstStyle/>
          <a:p>
            <a:pPr algn="ctr"/>
            <a:r>
              <a:rPr sz="1600" b="1" i="0">
                <a:solidFill>
                  <a:srgbClr val="FFFFFF"/>
                </a:solidFill>
                <a:latin typeface="Cambria"/>
              </a:rPr>
              <a:t>1</a:t>
            </a:r>
          </a:p>
        </p:txBody>
      </p:sp>
      <p:sp>
        <p:nvSpPr>
          <p:cNvPr id="10" name="TextBox 9"/>
          <p:cNvSpPr txBox="1"/>
          <p:nvPr/>
        </p:nvSpPr>
        <p:spPr>
          <a:xfrm>
            <a:off x="749808" y="2743200"/>
            <a:ext cx="3186074" cy="640080"/>
          </a:xfrm>
          <a:prstGeom prst="rect">
            <a:avLst/>
          </a:prstGeom>
          <a:noFill/>
        </p:spPr>
        <p:txBody>
          <a:bodyPr wrap="square" anchor="t" lIns="0" rIns="0" tIns="0" bIns="0">
            <a:noAutofit/>
          </a:bodyPr>
          <a:lstStyle/>
          <a:p>
            <a:pPr algn="l">
              <a:lnSpc>
                <a:spcPct val="105000"/>
              </a:lnSpc>
            </a:pPr>
            <a:r>
              <a:rPr sz="1350" b="1" i="0">
                <a:solidFill>
                  <a:srgbClr val="2B211A"/>
                </a:solidFill>
                <a:latin typeface="Cambria"/>
              </a:rPr>
              <a:t>Người lao động (Cung)</a:t>
            </a:r>
          </a:p>
        </p:txBody>
      </p:sp>
      <p:sp>
        <p:nvSpPr>
          <p:cNvPr id="11" name="TextBox 10"/>
          <p:cNvSpPr txBox="1"/>
          <p:nvPr/>
        </p:nvSpPr>
        <p:spPr>
          <a:xfrm>
            <a:off x="749808" y="3383280"/>
            <a:ext cx="3186074" cy="1234440"/>
          </a:xfrm>
          <a:prstGeom prst="rect">
            <a:avLst/>
          </a:prstGeom>
          <a:noFill/>
        </p:spPr>
        <p:txBody>
          <a:bodyPr wrap="square" anchor="t" lIns="0" rIns="0" tIns="0" bIns="0">
            <a:noAutofit/>
          </a:bodyPr>
          <a:lstStyle/>
          <a:p>
            <a:pPr algn="l">
              <a:lnSpc>
                <a:spcPct val="112000"/>
              </a:lnSpc>
            </a:pPr>
            <a:r>
              <a:rPr sz="1150" b="0" i="0">
                <a:solidFill>
                  <a:srgbClr val="6B645C"/>
                </a:solidFill>
                <a:latin typeface="Cambria"/>
              </a:rPr>
              <a:t>Người tìm việc mang theo trình độ, kỹ năng, mong muốn về công việc và mức lương.</a:t>
            </a:r>
          </a:p>
        </p:txBody>
      </p:sp>
      <p:sp>
        <p:nvSpPr>
          <p:cNvPr id="12" name="Rounded Rectangle 11"/>
          <p:cNvSpPr/>
          <p:nvPr/>
        </p:nvSpPr>
        <p:spPr>
          <a:xfrm>
            <a:off x="4319930" y="1965960"/>
            <a:ext cx="3551834" cy="2788920"/>
          </a:xfrm>
          <a:prstGeom prst="roundRect">
            <a:avLst>
              <a:gd name="adj" fmla="val 7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02810" y="2148840"/>
            <a:ext cx="457200" cy="457200"/>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2810" y="2148840"/>
            <a:ext cx="457200" cy="457200"/>
          </a:xfrm>
          <a:prstGeom prst="rect">
            <a:avLst/>
          </a:prstGeom>
          <a:noFill/>
        </p:spPr>
        <p:txBody>
          <a:bodyPr wrap="square" anchor="ctr" lIns="0" rIns="0" tIns="0" bIns="0">
            <a:noAutofit/>
          </a:bodyPr>
          <a:lstStyle/>
          <a:p>
            <a:pPr algn="ctr"/>
            <a:r>
              <a:rPr sz="1600" b="1" i="0">
                <a:solidFill>
                  <a:srgbClr val="FFFFFF"/>
                </a:solidFill>
                <a:latin typeface="Cambria"/>
              </a:rPr>
              <a:t>2</a:t>
            </a:r>
          </a:p>
        </p:txBody>
      </p:sp>
      <p:sp>
        <p:nvSpPr>
          <p:cNvPr id="15" name="TextBox 14"/>
          <p:cNvSpPr txBox="1"/>
          <p:nvPr/>
        </p:nvSpPr>
        <p:spPr>
          <a:xfrm>
            <a:off x="4502810" y="2743200"/>
            <a:ext cx="3186074" cy="640080"/>
          </a:xfrm>
          <a:prstGeom prst="rect">
            <a:avLst/>
          </a:prstGeom>
          <a:noFill/>
        </p:spPr>
        <p:txBody>
          <a:bodyPr wrap="square" anchor="t" lIns="0" rIns="0" tIns="0" bIns="0">
            <a:noAutofit/>
          </a:bodyPr>
          <a:lstStyle/>
          <a:p>
            <a:pPr algn="l">
              <a:lnSpc>
                <a:spcPct val="105000"/>
              </a:lnSpc>
            </a:pPr>
            <a:r>
              <a:rPr sz="1350" b="1" i="0">
                <a:solidFill>
                  <a:srgbClr val="2B211A"/>
                </a:solidFill>
                <a:latin typeface="Cambria"/>
              </a:rPr>
              <a:t>Thị trường việc làm (Kết nối)</a:t>
            </a:r>
          </a:p>
        </p:txBody>
      </p:sp>
      <p:sp>
        <p:nvSpPr>
          <p:cNvPr id="16" name="TextBox 15"/>
          <p:cNvSpPr txBox="1"/>
          <p:nvPr/>
        </p:nvSpPr>
        <p:spPr>
          <a:xfrm>
            <a:off x="4502810" y="3383280"/>
            <a:ext cx="3186074" cy="1234440"/>
          </a:xfrm>
          <a:prstGeom prst="rect">
            <a:avLst/>
          </a:prstGeom>
          <a:noFill/>
        </p:spPr>
        <p:txBody>
          <a:bodyPr wrap="square" anchor="t" lIns="0" rIns="0" tIns="0" bIns="0">
            <a:noAutofit/>
          </a:bodyPr>
          <a:lstStyle/>
          <a:p>
            <a:pPr algn="l">
              <a:lnSpc>
                <a:spcPct val="112000"/>
              </a:lnSpc>
            </a:pPr>
            <a:r>
              <a:rPr sz="1150" b="0" i="0">
                <a:solidFill>
                  <a:srgbClr val="6B645C"/>
                </a:solidFill>
                <a:latin typeface="Cambria"/>
              </a:rPr>
              <a:t>Phiên giao dịch, trung tâm dịch vụ việc làm, nền tảng tuyển dụng... giúp hai bên gặp nhau nhanh hơn.</a:t>
            </a:r>
          </a:p>
        </p:txBody>
      </p:sp>
      <p:sp>
        <p:nvSpPr>
          <p:cNvPr id="17" name="Rounded Rectangle 16"/>
          <p:cNvSpPr/>
          <p:nvPr/>
        </p:nvSpPr>
        <p:spPr>
          <a:xfrm>
            <a:off x="8072932" y="1965960"/>
            <a:ext cx="3551834" cy="2788920"/>
          </a:xfrm>
          <a:prstGeom prst="roundRect">
            <a:avLst>
              <a:gd name="adj" fmla="val 7000"/>
            </a:avLst>
          </a:prstGeom>
          <a:solidFill>
            <a:srgbClr val="F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55812" y="2148840"/>
            <a:ext cx="457200" cy="457200"/>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55812" y="2148840"/>
            <a:ext cx="457200" cy="457200"/>
          </a:xfrm>
          <a:prstGeom prst="rect">
            <a:avLst/>
          </a:prstGeom>
          <a:noFill/>
        </p:spPr>
        <p:txBody>
          <a:bodyPr wrap="square" anchor="ctr" lIns="0" rIns="0" tIns="0" bIns="0">
            <a:noAutofit/>
          </a:bodyPr>
          <a:lstStyle/>
          <a:p>
            <a:pPr algn="ctr"/>
            <a:r>
              <a:rPr sz="1600" b="1" i="0">
                <a:solidFill>
                  <a:srgbClr val="FFFFFF"/>
                </a:solidFill>
                <a:latin typeface="Cambria"/>
              </a:rPr>
              <a:t>3</a:t>
            </a:r>
          </a:p>
        </p:txBody>
      </p:sp>
      <p:sp>
        <p:nvSpPr>
          <p:cNvPr id="20" name="TextBox 19"/>
          <p:cNvSpPr txBox="1"/>
          <p:nvPr/>
        </p:nvSpPr>
        <p:spPr>
          <a:xfrm>
            <a:off x="8255812" y="2743200"/>
            <a:ext cx="3186074" cy="640080"/>
          </a:xfrm>
          <a:prstGeom prst="rect">
            <a:avLst/>
          </a:prstGeom>
          <a:noFill/>
        </p:spPr>
        <p:txBody>
          <a:bodyPr wrap="square" anchor="t" lIns="0" rIns="0" tIns="0" bIns="0">
            <a:noAutofit/>
          </a:bodyPr>
          <a:lstStyle/>
          <a:p>
            <a:pPr algn="l">
              <a:lnSpc>
                <a:spcPct val="105000"/>
              </a:lnSpc>
            </a:pPr>
            <a:r>
              <a:rPr sz="1350" b="1" i="0">
                <a:solidFill>
                  <a:srgbClr val="2B211A"/>
                </a:solidFill>
                <a:latin typeface="Cambria"/>
              </a:rPr>
              <a:t>Doanh nghiệp (Cầu)</a:t>
            </a:r>
          </a:p>
        </p:txBody>
      </p:sp>
      <p:sp>
        <p:nvSpPr>
          <p:cNvPr id="21" name="TextBox 20"/>
          <p:cNvSpPr txBox="1"/>
          <p:nvPr/>
        </p:nvSpPr>
        <p:spPr>
          <a:xfrm>
            <a:off x="8255812" y="3383280"/>
            <a:ext cx="3186074" cy="1234440"/>
          </a:xfrm>
          <a:prstGeom prst="rect">
            <a:avLst/>
          </a:prstGeom>
          <a:noFill/>
        </p:spPr>
        <p:txBody>
          <a:bodyPr wrap="square" anchor="t" lIns="0" rIns="0" tIns="0" bIns="0">
            <a:noAutofit/>
          </a:bodyPr>
          <a:lstStyle/>
          <a:p>
            <a:pPr algn="l">
              <a:lnSpc>
                <a:spcPct val="112000"/>
              </a:lnSpc>
            </a:pPr>
            <a:r>
              <a:rPr sz="1150" b="0" i="0">
                <a:solidFill>
                  <a:srgbClr val="6B645C"/>
                </a:solidFill>
                <a:latin typeface="Cambria"/>
              </a:rPr>
              <a:t>Người sử dụng lao động có nhu cầu tuyển dụng về số lượng, chất lượng nhân sự.</a:t>
            </a:r>
          </a:p>
        </p:txBody>
      </p:sp>
      <p:sp>
        <p:nvSpPr>
          <p:cNvPr id="22" name="TextBox 21"/>
          <p:cNvSpPr txBox="1"/>
          <p:nvPr/>
        </p:nvSpPr>
        <p:spPr>
          <a:xfrm>
            <a:off x="566928" y="4956048"/>
            <a:ext cx="11057839" cy="548640"/>
          </a:xfrm>
          <a:prstGeom prst="rect">
            <a:avLst/>
          </a:prstGeom>
          <a:noFill/>
        </p:spPr>
        <p:txBody>
          <a:bodyPr wrap="square" anchor="t" lIns="0" rIns="0" tIns="0" bIns="0">
            <a:noAutofit/>
          </a:bodyPr>
          <a:lstStyle/>
          <a:p>
            <a:pPr algn="l"/>
            <a:r>
              <a:rPr sz="1250" b="0" i="1">
                <a:solidFill>
                  <a:srgbClr val="6B645C"/>
                </a:solidFill>
                <a:latin typeface="Cambria"/>
              </a:rPr>
              <a:t>Nhờ có thị trường việc làm làm cầu nối, thị trường lao động nhanh chóng đạt trạng thái cân bằng cung - cầu hơn.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XU HƯỚNG TUYỂN DỤNG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Xu hướng tuyển dụng lao động hiện nay ở Việt Nam</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14</a:t>
            </a:r>
          </a:p>
        </p:txBody>
      </p:sp>
      <p:sp>
        <p:nvSpPr>
          <p:cNvPr id="7" name="Rounded Rectangle 6"/>
          <p:cNvSpPr/>
          <p:nvPr/>
        </p:nvSpPr>
        <p:spPr>
          <a:xfrm>
            <a:off x="566928" y="1783080"/>
            <a:ext cx="5400903" cy="2066544"/>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1984248"/>
            <a:ext cx="420624" cy="420624"/>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1</a:t>
            </a:r>
          </a:p>
        </p:txBody>
      </p:sp>
      <p:sp>
        <p:nvSpPr>
          <p:cNvPr id="10" name="TextBox 9"/>
          <p:cNvSpPr txBox="1"/>
          <p:nvPr/>
        </p:nvSpPr>
        <p:spPr>
          <a:xfrm>
            <a:off x="1335024"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Gia tăng lao động trên nền tảng công nghệ</a:t>
            </a:r>
          </a:p>
        </p:txBody>
      </p:sp>
      <p:sp>
        <p:nvSpPr>
          <p:cNvPr id="11" name="TextBox 10"/>
          <p:cNvSpPr txBox="1"/>
          <p:nvPr/>
        </p:nvSpPr>
        <p:spPr>
          <a:xfrm>
            <a:off x="768096"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Shipper công nghệ, tài xế công nghệ, freelancer trực tuyến... ngày càng phổ biến.</a:t>
            </a:r>
          </a:p>
        </p:txBody>
      </p:sp>
      <p:sp>
        <p:nvSpPr>
          <p:cNvPr id="12" name="Rounded Rectangle 11"/>
          <p:cNvSpPr/>
          <p:nvPr/>
        </p:nvSpPr>
        <p:spPr>
          <a:xfrm>
            <a:off x="6223863" y="1783080"/>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5031" y="1984248"/>
            <a:ext cx="420624" cy="420624"/>
          </a:xfrm>
          <a:prstGeom prst="ellipse">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5031" y="1984248"/>
            <a:ext cx="420624" cy="420624"/>
          </a:xfrm>
          <a:prstGeom prst="rect">
            <a:avLst/>
          </a:prstGeom>
          <a:noFill/>
        </p:spPr>
        <p:txBody>
          <a:bodyPr wrap="square" anchor="ctr" lIns="0" rIns="0" tIns="0" bIns="0">
            <a:noAutofit/>
          </a:bodyPr>
          <a:lstStyle/>
          <a:p>
            <a:pPr algn="ctr"/>
            <a:r>
              <a:rPr sz="1500" b="1" i="0">
                <a:solidFill>
                  <a:srgbClr val="FFFFFF"/>
                </a:solidFill>
                <a:latin typeface="Cambria"/>
              </a:rPr>
              <a:t>2</a:t>
            </a:r>
          </a:p>
        </p:txBody>
      </p:sp>
      <p:sp>
        <p:nvSpPr>
          <p:cNvPr id="15" name="TextBox 14"/>
          <p:cNvSpPr txBox="1"/>
          <p:nvPr/>
        </p:nvSpPr>
        <p:spPr>
          <a:xfrm>
            <a:off x="6991959" y="1956816"/>
            <a:ext cx="4431639" cy="365760"/>
          </a:xfrm>
          <a:prstGeom prst="rect">
            <a:avLst/>
          </a:prstGeom>
          <a:noFill/>
        </p:spPr>
        <p:txBody>
          <a:bodyPr wrap="square" anchor="t" lIns="0" rIns="0" tIns="0" bIns="0">
            <a:noAutofit/>
          </a:bodyPr>
          <a:lstStyle/>
          <a:p>
            <a:pPr algn="l"/>
            <a:r>
              <a:rPr sz="1450" b="1" i="0">
                <a:solidFill>
                  <a:srgbClr val="2B211A"/>
                </a:solidFill>
                <a:latin typeface="Cambria"/>
              </a:rPr>
              <a:t>Chuyển dịch nghề nghiệp gắn với kỹ năng mềm</a:t>
            </a:r>
          </a:p>
        </p:txBody>
      </p:sp>
      <p:sp>
        <p:nvSpPr>
          <p:cNvPr id="16" name="TextBox 15"/>
          <p:cNvSpPr txBox="1"/>
          <p:nvPr/>
        </p:nvSpPr>
        <p:spPr>
          <a:xfrm>
            <a:off x="6425031" y="2478024"/>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Nhà tuyển dụng ngày càng coi trọng kỹ năng giao tiếp, làm việc nhóm, tư duy giải quyết vấn đề.</a:t>
            </a:r>
          </a:p>
        </p:txBody>
      </p:sp>
      <p:sp>
        <p:nvSpPr>
          <p:cNvPr id="17" name="Rounded Rectangle 16"/>
          <p:cNvSpPr/>
          <p:nvPr/>
        </p:nvSpPr>
        <p:spPr>
          <a:xfrm>
            <a:off x="566928" y="4105656"/>
            <a:ext cx="5400903" cy="2066544"/>
          </a:xfrm>
          <a:prstGeom prst="roundRect">
            <a:avLst>
              <a:gd name="adj" fmla="val 9000"/>
            </a:avLst>
          </a:prstGeom>
          <a:solidFill>
            <a:srgbClr val="F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68096" y="4306824"/>
            <a:ext cx="420624" cy="420624"/>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3</a:t>
            </a:r>
          </a:p>
        </p:txBody>
      </p:sp>
      <p:sp>
        <p:nvSpPr>
          <p:cNvPr id="20" name="TextBox 19"/>
          <p:cNvSpPr txBox="1"/>
          <p:nvPr/>
        </p:nvSpPr>
        <p:spPr>
          <a:xfrm>
            <a:off x="1335024"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Lao động giản đơn ngày càng yếu thế</a:t>
            </a:r>
          </a:p>
        </p:txBody>
      </p:sp>
      <p:sp>
        <p:nvSpPr>
          <p:cNvPr id="21" name="TextBox 20"/>
          <p:cNvSpPr txBox="1"/>
          <p:nvPr/>
        </p:nvSpPr>
        <p:spPr>
          <a:xfrm>
            <a:off x="768096"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Công việc tay nghề thấp dễ bị thay thế bởi máy móc, tự động hoá, robot.</a:t>
            </a:r>
          </a:p>
        </p:txBody>
      </p:sp>
      <p:sp>
        <p:nvSpPr>
          <p:cNvPr id="22" name="Rounded Rectangle 21"/>
          <p:cNvSpPr/>
          <p:nvPr/>
        </p:nvSpPr>
        <p:spPr>
          <a:xfrm>
            <a:off x="6223863" y="4105656"/>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5031" y="4306824"/>
            <a:ext cx="420624" cy="420624"/>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5031" y="4306824"/>
            <a:ext cx="420624" cy="420624"/>
          </a:xfrm>
          <a:prstGeom prst="rect">
            <a:avLst/>
          </a:prstGeom>
          <a:noFill/>
        </p:spPr>
        <p:txBody>
          <a:bodyPr wrap="square" anchor="ctr" lIns="0" rIns="0" tIns="0" bIns="0">
            <a:noAutofit/>
          </a:bodyPr>
          <a:lstStyle/>
          <a:p>
            <a:pPr algn="ctr"/>
            <a:r>
              <a:rPr sz="1500" b="1" i="0">
                <a:solidFill>
                  <a:srgbClr val="FFFFFF"/>
                </a:solidFill>
                <a:latin typeface="Cambria"/>
              </a:rPr>
              <a:t>4</a:t>
            </a:r>
          </a:p>
        </p:txBody>
      </p:sp>
      <p:sp>
        <p:nvSpPr>
          <p:cNvPr id="25" name="TextBox 24"/>
          <p:cNvSpPr txBox="1"/>
          <p:nvPr/>
        </p:nvSpPr>
        <p:spPr>
          <a:xfrm>
            <a:off x="6991959" y="4279392"/>
            <a:ext cx="4431639" cy="365760"/>
          </a:xfrm>
          <a:prstGeom prst="rect">
            <a:avLst/>
          </a:prstGeom>
          <a:noFill/>
        </p:spPr>
        <p:txBody>
          <a:bodyPr wrap="square" anchor="t" lIns="0" rIns="0" tIns="0" bIns="0">
            <a:noAutofit/>
          </a:bodyPr>
          <a:lstStyle/>
          <a:p>
            <a:pPr algn="l"/>
            <a:r>
              <a:rPr sz="1450" b="1" i="0">
                <a:solidFill>
                  <a:srgbClr val="2B211A"/>
                </a:solidFill>
                <a:latin typeface="Cambria"/>
              </a:rPr>
              <a:t>Gia tăng lao động “phi chính thức”</a:t>
            </a:r>
          </a:p>
        </p:txBody>
      </p:sp>
      <p:sp>
        <p:nvSpPr>
          <p:cNvPr id="26" name="TextBox 25"/>
          <p:cNvSpPr txBox="1"/>
          <p:nvPr/>
        </p:nvSpPr>
        <p:spPr>
          <a:xfrm>
            <a:off x="6425031" y="4800600"/>
            <a:ext cx="4998567" cy="1170432"/>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Việc làm không có hợp đồng lao động chính thức, ít được bảo vệ bởi các chế độ an sinh xã hội.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XU HƯỚNG TUYỂN DỤNG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Vì sao các xu hướng này lại xuất hiện?</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15</a:t>
            </a:r>
          </a:p>
        </p:txBody>
      </p:sp>
      <p:sp>
        <p:nvSpPr>
          <p:cNvPr id="7" name="Rounded Rectangle 6"/>
          <p:cNvSpPr/>
          <p:nvPr/>
        </p:nvSpPr>
        <p:spPr>
          <a:xfrm>
            <a:off x="566928" y="1783080"/>
            <a:ext cx="11057839" cy="777240"/>
          </a:xfrm>
          <a:prstGeom prst="roundRect">
            <a:avLst>
              <a:gd name="adj" fmla="val 10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01952"/>
            <a:ext cx="10600639" cy="548640"/>
          </a:xfrm>
          <a:prstGeom prst="rect">
            <a:avLst/>
          </a:prstGeom>
          <a:noFill/>
        </p:spPr>
        <p:txBody>
          <a:bodyPr wrap="square" anchor="ctr" lIns="0" rIns="0" tIns="0" bIns="0">
            <a:noAutofit/>
          </a:bodyPr>
          <a:lstStyle/>
          <a:p>
            <a:pPr algn="l">
              <a:lnSpc>
                <a:spcPct val="110000"/>
              </a:lnSpc>
            </a:pPr>
            <a:r>
              <a:rPr sz="1350" b="0" i="1">
                <a:solidFill>
                  <a:srgbClr val="2B211A"/>
                </a:solidFill>
                <a:latin typeface="Cambria"/>
              </a:rPr>
              <a:t>Các xu hướng tuyển dụng gắn chặt với sự phát triển của khoa học công nghệ và yêu cầu nguồn nhân lực chất lượng cao.</a:t>
            </a:r>
          </a:p>
        </p:txBody>
      </p:sp>
      <p:sp>
        <p:nvSpPr>
          <p:cNvPr id="9" name="TextBox 8"/>
          <p:cNvSpPr txBox="1"/>
          <p:nvPr/>
        </p:nvSpPr>
        <p:spPr>
          <a:xfrm>
            <a:off x="612648" y="2788920"/>
            <a:ext cx="10966399" cy="3429000"/>
          </a:xfrm>
          <a:prstGeom prst="rect">
            <a:avLst/>
          </a:prstGeom>
          <a:noFill/>
        </p:spPr>
        <p:txBody>
          <a:bodyPr wrap="square" lIns="0" rIns="0" tIns="0" bIns="0">
            <a:noAutofit/>
          </a:bodyPr>
          <a:lstStyle/>
          <a:p>
            <a:pPr>
              <a:spcAft>
                <a:spcPts val="1200"/>
              </a:spcAft>
            </a:pPr>
            <a:r>
              <a:rPr sz="1500" b="1" i="0">
                <a:solidFill>
                  <a:srgbClr val="2C5A73"/>
                </a:solidFill>
                <a:latin typeface="Cambria"/>
              </a:rPr>
              <a:t>•  Công nghệ số và kinh tế chia sẻ phát triển,</a:t>
            </a:r>
            <a:r>
              <a:rPr sz="1500" b="0" i="0">
                <a:solidFill>
                  <a:srgbClr val="2B211A"/>
                </a:solidFill>
                <a:latin typeface="Cambria"/>
              </a:rPr>
              <a:t>  tạo ra nhiều hình thức việc làm linh hoạt (bán thời gian, theo dự án, theo nền tảng).</a:t>
            </a:r>
          </a:p>
          <a:p>
            <a:pPr>
              <a:spcAft>
                <a:spcPts val="1200"/>
              </a:spcAft>
            </a:pPr>
            <a:r>
              <a:rPr sz="1500" b="1" i="0">
                <a:solidFill>
                  <a:srgbClr val="2C5A73"/>
                </a:solidFill>
                <a:latin typeface="Cambria"/>
              </a:rPr>
              <a:t>•  Doanh nghiệp đẩy mạnh tự động hoá, ứng dụng công nghệ,</a:t>
            </a:r>
            <a:r>
              <a:rPr sz="1500" b="0" i="0">
                <a:solidFill>
                  <a:srgbClr val="2B211A"/>
                </a:solidFill>
                <a:latin typeface="Cambria"/>
              </a:rPr>
              <a:t>  khiến nhu cầu lao động giản đơn giảm dần, đòi hỏi người lao động phải nâng cao trình độ, kỹ năng.</a:t>
            </a:r>
          </a:p>
          <a:p>
            <a:pPr>
              <a:spcAft>
                <a:spcPts val="1200"/>
              </a:spcAft>
            </a:pPr>
            <a:r>
              <a:rPr sz="1500" b="1" i="0">
                <a:solidFill>
                  <a:srgbClr val="2C5A73"/>
                </a:solidFill>
                <a:latin typeface="Cambria"/>
              </a:rPr>
              <a:t>•  Chiến lược phát triển kinh tế - xã hội của đất nước</a:t>
            </a:r>
            <a:r>
              <a:rPr sz="1500" b="0" i="0">
                <a:solidFill>
                  <a:srgbClr val="2B211A"/>
                </a:solidFill>
                <a:latin typeface="Cambria"/>
              </a:rPr>
              <a:t>  luôn gắn với yêu cầu phát triển nguồn nhân lực chất lượng cao, đáp ứng hội nhập quốc tế.</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538235"/>
                </a:solidFill>
                <a:latin typeface="Cambria"/>
              </a:rPr>
              <a:t>KHÁM PHÁ  ·  TRÁCH NHIỆM CÔNG DÂN</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Trách nhiệm của công dân, học sinh</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16</a:t>
            </a:r>
          </a:p>
        </p:txBody>
      </p:sp>
      <p:sp>
        <p:nvSpPr>
          <p:cNvPr id="7" name="Rounded Rectangle 6"/>
          <p:cNvSpPr/>
          <p:nvPr/>
        </p:nvSpPr>
        <p:spPr>
          <a:xfrm>
            <a:off x="566928" y="1783080"/>
            <a:ext cx="5400903" cy="2066544"/>
          </a:xfrm>
          <a:prstGeom prst="roundRect">
            <a:avLst>
              <a:gd name="adj" fmla="val 9000"/>
            </a:avLst>
          </a:prstGeom>
          <a:solidFill>
            <a:srgbClr val="E9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1984248"/>
            <a:ext cx="4998567" cy="365760"/>
          </a:xfrm>
          <a:prstGeom prst="rect">
            <a:avLst/>
          </a:prstGeom>
          <a:noFill/>
        </p:spPr>
        <p:txBody>
          <a:bodyPr wrap="square" anchor="t" lIns="0" rIns="0" tIns="0" bIns="0">
            <a:noAutofit/>
          </a:bodyPr>
          <a:lstStyle/>
          <a:p>
            <a:pPr algn="l"/>
            <a:r>
              <a:rPr sz="1450" b="1" i="0">
                <a:solidFill>
                  <a:srgbClr val="2C5A73"/>
                </a:solidFill>
                <a:latin typeface="Cambria"/>
              </a:rPr>
              <a:t>Trang bị kiến thức, kỹ năng nghề nghiệp</a:t>
            </a:r>
          </a:p>
        </p:txBody>
      </p:sp>
      <p:sp>
        <p:nvSpPr>
          <p:cNvPr id="9" name="TextBox 8"/>
          <p:cNvSpPr txBox="1"/>
          <p:nvPr/>
        </p:nvSpPr>
        <p:spPr>
          <a:xfrm>
            <a:off x="768096" y="2368296"/>
            <a:ext cx="4998567" cy="1280160"/>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Học tập nghiêm túc, chủ động rèn luyện kỹ năng mềm, ngoại ngữ, công nghệ thông tin.</a:t>
            </a:r>
          </a:p>
        </p:txBody>
      </p:sp>
      <p:sp>
        <p:nvSpPr>
          <p:cNvPr id="10" name="Rounded Rectangle 9"/>
          <p:cNvSpPr/>
          <p:nvPr/>
        </p:nvSpPr>
        <p:spPr>
          <a:xfrm>
            <a:off x="6223863" y="1783080"/>
            <a:ext cx="5400903" cy="2066544"/>
          </a:xfrm>
          <a:prstGeom prst="roundRect">
            <a:avLst>
              <a:gd name="adj" fmla="val 9000"/>
            </a:avLst>
          </a:prstGeom>
          <a:solidFill>
            <a:srgbClr val="FB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5031" y="1984248"/>
            <a:ext cx="4998567" cy="365760"/>
          </a:xfrm>
          <a:prstGeom prst="rect">
            <a:avLst/>
          </a:prstGeom>
          <a:noFill/>
        </p:spPr>
        <p:txBody>
          <a:bodyPr wrap="square" anchor="t" lIns="0" rIns="0" tIns="0" bIns="0">
            <a:noAutofit/>
          </a:bodyPr>
          <a:lstStyle/>
          <a:p>
            <a:pPr algn="l"/>
            <a:r>
              <a:rPr sz="1450" b="1" i="0">
                <a:solidFill>
                  <a:srgbClr val="B87410"/>
                </a:solidFill>
                <a:latin typeface="Cambria"/>
              </a:rPr>
              <a:t>Cập nhật xu hướng thị trường lao động</a:t>
            </a:r>
          </a:p>
        </p:txBody>
      </p:sp>
      <p:sp>
        <p:nvSpPr>
          <p:cNvPr id="12" name="TextBox 11"/>
          <p:cNvSpPr txBox="1"/>
          <p:nvPr/>
        </p:nvSpPr>
        <p:spPr>
          <a:xfrm>
            <a:off x="6425031" y="2368296"/>
            <a:ext cx="4998567" cy="1280160"/>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Tìm hiểu thông tin về ngành nghề “khát” nhân lực, xu hướng tuyển dụng để định hướng phù hợp.</a:t>
            </a:r>
          </a:p>
        </p:txBody>
      </p:sp>
      <p:sp>
        <p:nvSpPr>
          <p:cNvPr id="13" name="Rounded Rectangle 12"/>
          <p:cNvSpPr/>
          <p:nvPr/>
        </p:nvSpPr>
        <p:spPr>
          <a:xfrm>
            <a:off x="566928" y="4105656"/>
            <a:ext cx="5400903" cy="2066544"/>
          </a:xfrm>
          <a:prstGeom prst="roundRect">
            <a:avLst>
              <a:gd name="adj" fmla="val 9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306824"/>
            <a:ext cx="4998567" cy="365760"/>
          </a:xfrm>
          <a:prstGeom prst="rect">
            <a:avLst/>
          </a:prstGeom>
          <a:noFill/>
        </p:spPr>
        <p:txBody>
          <a:bodyPr wrap="square" anchor="t" lIns="0" rIns="0" tIns="0" bIns="0">
            <a:noAutofit/>
          </a:bodyPr>
          <a:lstStyle/>
          <a:p>
            <a:pPr algn="l"/>
            <a:r>
              <a:rPr sz="1450" b="1" i="0">
                <a:solidFill>
                  <a:srgbClr val="538235"/>
                </a:solidFill>
                <a:latin typeface="Cambria"/>
              </a:rPr>
              <a:t>Tự đánh giá bản thân</a:t>
            </a:r>
          </a:p>
        </p:txBody>
      </p:sp>
      <p:sp>
        <p:nvSpPr>
          <p:cNvPr id="15" name="TextBox 14"/>
          <p:cNvSpPr txBox="1"/>
          <p:nvPr/>
        </p:nvSpPr>
        <p:spPr>
          <a:xfrm>
            <a:off x="768096" y="4690872"/>
            <a:ext cx="4998567" cy="1280160"/>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Xác định sở trường, sở thích, điều kiện gia đình để lựa chọn nghề nghiệp, ngành học phù hợp.</a:t>
            </a:r>
          </a:p>
        </p:txBody>
      </p:sp>
      <p:sp>
        <p:nvSpPr>
          <p:cNvPr id="16" name="Rounded Rectangle 15"/>
          <p:cNvSpPr/>
          <p:nvPr/>
        </p:nvSpPr>
        <p:spPr>
          <a:xfrm>
            <a:off x="6223863" y="4105656"/>
            <a:ext cx="5400903" cy="2066544"/>
          </a:xfrm>
          <a:prstGeom prst="roundRect">
            <a:avLst>
              <a:gd name="adj" fmla="val 9000"/>
            </a:avLst>
          </a:prstGeom>
          <a:solidFill>
            <a:srgbClr val="F7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5031" y="4306824"/>
            <a:ext cx="4998567" cy="365760"/>
          </a:xfrm>
          <a:prstGeom prst="rect">
            <a:avLst/>
          </a:prstGeom>
          <a:noFill/>
        </p:spPr>
        <p:txBody>
          <a:bodyPr wrap="square" anchor="t" lIns="0" rIns="0" tIns="0" bIns="0">
            <a:noAutofit/>
          </a:bodyPr>
          <a:lstStyle/>
          <a:p>
            <a:pPr algn="l"/>
            <a:r>
              <a:rPr sz="1450" b="1" i="0">
                <a:solidFill>
                  <a:srgbClr val="A13D52"/>
                </a:solidFill>
                <a:latin typeface="Cambria"/>
              </a:rPr>
              <a:t>Tuân thủ pháp luật lao động</a:t>
            </a:r>
          </a:p>
        </p:txBody>
      </p:sp>
      <p:sp>
        <p:nvSpPr>
          <p:cNvPr id="18" name="TextBox 17"/>
          <p:cNvSpPr txBox="1"/>
          <p:nvPr/>
        </p:nvSpPr>
        <p:spPr>
          <a:xfrm>
            <a:off x="6425031" y="4690872"/>
            <a:ext cx="4998567" cy="1280160"/>
          </a:xfrm>
          <a:prstGeom prst="rect">
            <a:avLst/>
          </a:prstGeom>
          <a:noFill/>
        </p:spPr>
        <p:txBody>
          <a:bodyPr wrap="square" anchor="t" lIns="0" rIns="0" tIns="0" bIns="0">
            <a:noAutofit/>
          </a:bodyPr>
          <a:lstStyle/>
          <a:p>
            <a:pPr algn="l">
              <a:lnSpc>
                <a:spcPct val="112000"/>
              </a:lnSpc>
            </a:pPr>
            <a:r>
              <a:rPr sz="1250" b="0" i="0">
                <a:solidFill>
                  <a:srgbClr val="2B211A"/>
                </a:solidFill>
                <a:latin typeface="Cambria"/>
              </a:rPr>
              <a:t>Hiểu và thực hiện đúng quyền, nghĩa vụ khi tham gia thị trường lao động sau này (kí hợp đồng lao động...).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3A52"/>
        </a:solidFill>
        <a:effectLst/>
      </p:bgPr>
    </p:bg>
    <p:spTree>
      <p:nvGrpSpPr>
        <p:cNvPr id="1" name=""/>
        <p:cNvGrpSpPr/>
        <p:nvPr/>
      </p:nvGrpSpPr>
      <p:grpSpPr/>
      <p:sp>
        <p:nvSpPr>
          <p:cNvPr id="2" name="Oval 1"/>
          <p:cNvSpPr/>
          <p:nvPr/>
        </p:nvSpPr>
        <p:spPr>
          <a:xfrm>
            <a:off x="-1280160" y="4206240"/>
            <a:ext cx="3291840" cy="3291840"/>
          </a:xfrm>
          <a:prstGeom prst="ellipse">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148840"/>
            <a:ext cx="5486400" cy="365760"/>
          </a:xfrm>
          <a:prstGeom prst="rect">
            <a:avLst/>
          </a:prstGeom>
          <a:noFill/>
        </p:spPr>
        <p:txBody>
          <a:bodyPr wrap="square" anchor="t" lIns="0" rIns="0" tIns="0" bIns="0">
            <a:noAutofit/>
          </a:bodyPr>
          <a:lstStyle/>
          <a:p>
            <a:pPr algn="l"/>
            <a:r>
              <a:rPr sz="1500" b="1" i="0">
                <a:solidFill>
                  <a:srgbClr val="E8A03A"/>
                </a:solidFill>
                <a:latin typeface="Cambria"/>
              </a:rPr>
              <a:t>LUYỆN TẬP</a:t>
            </a:r>
          </a:p>
        </p:txBody>
      </p:sp>
      <p:sp>
        <p:nvSpPr>
          <p:cNvPr id="4" name="TextBox 3"/>
          <p:cNvSpPr txBox="1"/>
          <p:nvPr/>
        </p:nvSpPr>
        <p:spPr>
          <a:xfrm>
            <a:off x="566928" y="2560320"/>
            <a:ext cx="9875520" cy="1463040"/>
          </a:xfrm>
          <a:prstGeom prst="rect">
            <a:avLst/>
          </a:prstGeom>
          <a:noFill/>
        </p:spPr>
        <p:txBody>
          <a:bodyPr wrap="square" anchor="t" lIns="0" rIns="0" tIns="0" bIns="0">
            <a:noAutofit/>
          </a:bodyPr>
          <a:lstStyle/>
          <a:p>
            <a:pPr algn="l">
              <a:lnSpc>
                <a:spcPct val="103000"/>
              </a:lnSpc>
            </a:pPr>
            <a:r>
              <a:rPr sz="3400" b="1" i="0">
                <a:solidFill>
                  <a:srgbClr val="FFFFFF"/>
                </a:solidFill>
                <a:latin typeface="Cambria"/>
              </a:rPr>
              <a:t>Cùng củng cố kiến thức tiết 2</a:t>
            </a:r>
          </a:p>
        </p:txBody>
      </p:sp>
      <p:sp>
        <p:nvSpPr>
          <p:cNvPr id="5" name="TextBox 4"/>
          <p:cNvSpPr txBox="1"/>
          <p:nvPr/>
        </p:nvSpPr>
        <p:spPr>
          <a:xfrm>
            <a:off x="566928" y="3703320"/>
            <a:ext cx="8778240" cy="914400"/>
          </a:xfrm>
          <a:prstGeom prst="rect">
            <a:avLst/>
          </a:prstGeom>
          <a:noFill/>
        </p:spPr>
        <p:txBody>
          <a:bodyPr wrap="square" anchor="t" lIns="0" rIns="0" tIns="0" bIns="0">
            <a:noAutofit/>
          </a:bodyPr>
          <a:lstStyle/>
          <a:p>
            <a:pPr algn="l"/>
            <a:r>
              <a:rPr sz="1600" b="0" i="1">
                <a:solidFill>
                  <a:srgbClr val="FFFFFF"/>
                </a:solidFill>
                <a:latin typeface="Cambria"/>
              </a:rPr>
              <a:t>Vận dụng những gì vừa học để trả lời các câu hỏi sau.</a:t>
            </a:r>
          </a:p>
        </p:txBody>
      </p:sp>
      <p:sp>
        <p:nvSpPr>
          <p:cNvPr id="6" name="Rectangle 5"/>
          <p:cNvSpPr/>
          <p:nvPr/>
        </p:nvSpPr>
        <p:spPr>
          <a:xfrm>
            <a:off x="566928" y="6400800"/>
            <a:ext cx="11057839" cy="11430"/>
          </a:xfrm>
          <a:prstGeom prst="rect">
            <a:avLst/>
          </a:prstGeom>
          <a:solidFill>
            <a:srgbClr val="5B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FFFFFF"/>
                </a:solidFill>
                <a:latin typeface="Cambria"/>
              </a:rPr>
              <a:t>GDKTPL 11 | Bài 5: Thị trường lao động và việc làm - Tiết 2</a:t>
            </a:r>
          </a:p>
        </p:txBody>
      </p:sp>
      <p:sp>
        <p:nvSpPr>
          <p:cNvPr id="8" name="TextBox 7"/>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FFFFFF"/>
                </a:solidFill>
                <a:latin typeface="Cambri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1E3A52"/>
                </a:solidFill>
                <a:latin typeface="Cambria"/>
              </a:rPr>
              <a:t>LUYỆN TẬP</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Bài tập 1: Đúng hay sai?</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18</a:t>
            </a:r>
          </a:p>
        </p:txBody>
      </p:sp>
      <p:sp>
        <p:nvSpPr>
          <p:cNvPr id="7" name="Rounded Rectangle 6"/>
          <p:cNvSpPr/>
          <p:nvPr/>
        </p:nvSpPr>
        <p:spPr>
          <a:xfrm>
            <a:off x="566928" y="1783080"/>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39112"/>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39112"/>
            <a:ext cx="384048" cy="384048"/>
          </a:xfrm>
          <a:prstGeom prst="rect">
            <a:avLst/>
          </a:prstGeom>
          <a:noFill/>
        </p:spPr>
        <p:txBody>
          <a:bodyPr wrap="square" anchor="ctr" lIns="0" rIns="0" tIns="0" bIns="0">
            <a:noAutofit/>
          </a:bodyPr>
          <a:lstStyle/>
          <a:p>
            <a:pPr algn="ctr"/>
            <a:r>
              <a:rPr sz="1400" b="1" i="0">
                <a:solidFill>
                  <a:srgbClr val="FFFFFF"/>
                </a:solidFill>
                <a:latin typeface="Cambria"/>
              </a:rPr>
              <a:t>1</a:t>
            </a:r>
          </a:p>
        </p:txBody>
      </p:sp>
      <p:sp>
        <p:nvSpPr>
          <p:cNvPr id="10" name="TextBox 9"/>
          <p:cNvSpPr txBox="1"/>
          <p:nvPr/>
        </p:nvSpPr>
        <p:spPr>
          <a:xfrm>
            <a:off x="1280160" y="1783080"/>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Việc làm là hoạt động lao động tạo ra thu nhập mà pháp luật không cấm.</a:t>
            </a:r>
          </a:p>
        </p:txBody>
      </p:sp>
      <p:sp>
        <p:nvSpPr>
          <p:cNvPr id="11" name="Rounded Rectangle 10"/>
          <p:cNvSpPr/>
          <p:nvPr/>
        </p:nvSpPr>
        <p:spPr>
          <a:xfrm>
            <a:off x="10618927" y="1984248"/>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18927" y="1984248"/>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13" name="Rounded Rectangle 12"/>
          <p:cNvSpPr/>
          <p:nvPr/>
        </p:nvSpPr>
        <p:spPr>
          <a:xfrm>
            <a:off x="566928" y="2825496"/>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31520" y="3081528"/>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81528"/>
            <a:ext cx="384048" cy="384048"/>
          </a:xfrm>
          <a:prstGeom prst="rect">
            <a:avLst/>
          </a:prstGeom>
          <a:noFill/>
        </p:spPr>
        <p:txBody>
          <a:bodyPr wrap="square" anchor="ctr" lIns="0" rIns="0" tIns="0" bIns="0">
            <a:noAutofit/>
          </a:bodyPr>
          <a:lstStyle/>
          <a:p>
            <a:pPr algn="ctr"/>
            <a:r>
              <a:rPr sz="1400" b="1" i="0">
                <a:solidFill>
                  <a:srgbClr val="FFFFFF"/>
                </a:solidFill>
                <a:latin typeface="Cambria"/>
              </a:rPr>
              <a:t>2</a:t>
            </a:r>
          </a:p>
        </p:txBody>
      </p:sp>
      <p:sp>
        <p:nvSpPr>
          <p:cNvPr id="16" name="TextBox 15"/>
          <p:cNvSpPr txBox="1"/>
          <p:nvPr/>
        </p:nvSpPr>
        <p:spPr>
          <a:xfrm>
            <a:off x="1280160" y="2825496"/>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Thị trường việc làm chỉ có chức năng cung cấp thông tin, không giúp cân bằng cung - cầu lao động.</a:t>
            </a:r>
          </a:p>
        </p:txBody>
      </p:sp>
      <p:sp>
        <p:nvSpPr>
          <p:cNvPr id="17" name="Rounded Rectangle 16"/>
          <p:cNvSpPr/>
          <p:nvPr/>
        </p:nvSpPr>
        <p:spPr>
          <a:xfrm>
            <a:off x="10618927" y="3026664"/>
            <a:ext cx="868680" cy="475488"/>
          </a:xfrm>
          <a:prstGeom prst="roundRect">
            <a:avLst>
              <a:gd name="adj" fmla="val 30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618927" y="3026664"/>
            <a:ext cx="868680" cy="475488"/>
          </a:xfrm>
          <a:prstGeom prst="rect">
            <a:avLst/>
          </a:prstGeom>
          <a:noFill/>
        </p:spPr>
        <p:txBody>
          <a:bodyPr wrap="square" anchor="ctr" lIns="0" rIns="0" tIns="0" bIns="0">
            <a:noAutofit/>
          </a:bodyPr>
          <a:lstStyle/>
          <a:p>
            <a:pPr algn="ctr"/>
            <a:r>
              <a:rPr sz="1250" b="1" i="0">
                <a:solidFill>
                  <a:srgbClr val="FFFFFF"/>
                </a:solidFill>
                <a:latin typeface="Cambria"/>
              </a:rPr>
              <a:t>SAI</a:t>
            </a:r>
          </a:p>
        </p:txBody>
      </p:sp>
      <p:sp>
        <p:nvSpPr>
          <p:cNvPr id="19" name="Rounded Rectangle 18"/>
          <p:cNvSpPr/>
          <p:nvPr/>
        </p:nvSpPr>
        <p:spPr>
          <a:xfrm>
            <a:off x="566928" y="3867912"/>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4123944"/>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123944"/>
            <a:ext cx="384048" cy="384048"/>
          </a:xfrm>
          <a:prstGeom prst="rect">
            <a:avLst/>
          </a:prstGeom>
          <a:noFill/>
        </p:spPr>
        <p:txBody>
          <a:bodyPr wrap="square" anchor="ctr" lIns="0" rIns="0" tIns="0" bIns="0">
            <a:noAutofit/>
          </a:bodyPr>
          <a:lstStyle/>
          <a:p>
            <a:pPr algn="ctr"/>
            <a:r>
              <a:rPr sz="1400" b="1" i="0">
                <a:solidFill>
                  <a:srgbClr val="FFFFFF"/>
                </a:solidFill>
                <a:latin typeface="Cambria"/>
              </a:rPr>
              <a:t>3</a:t>
            </a:r>
          </a:p>
        </p:txBody>
      </p:sp>
      <p:sp>
        <p:nvSpPr>
          <p:cNvPr id="22" name="TextBox 21"/>
          <p:cNvSpPr txBox="1"/>
          <p:nvPr/>
        </p:nvSpPr>
        <p:spPr>
          <a:xfrm>
            <a:off x="1280160" y="3867912"/>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Một trong các xu hướng tuyển dụng hiện nay là gia tăng lao động trên nền tảng công nghệ.</a:t>
            </a:r>
          </a:p>
        </p:txBody>
      </p:sp>
      <p:sp>
        <p:nvSpPr>
          <p:cNvPr id="23" name="Rounded Rectangle 22"/>
          <p:cNvSpPr/>
          <p:nvPr/>
        </p:nvSpPr>
        <p:spPr>
          <a:xfrm>
            <a:off x="10618927" y="4069080"/>
            <a:ext cx="868680" cy="475488"/>
          </a:xfrm>
          <a:prstGeom prst="roundRect">
            <a:avLst>
              <a:gd name="adj" fmla="val 30000"/>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618927" y="4069080"/>
            <a:ext cx="868680" cy="475488"/>
          </a:xfrm>
          <a:prstGeom prst="rect">
            <a:avLst/>
          </a:prstGeom>
          <a:noFill/>
        </p:spPr>
        <p:txBody>
          <a:bodyPr wrap="square" anchor="ctr" lIns="0" rIns="0" tIns="0" bIns="0">
            <a:noAutofit/>
          </a:bodyPr>
          <a:lstStyle/>
          <a:p>
            <a:pPr algn="ctr"/>
            <a:r>
              <a:rPr sz="1250" b="1" i="0">
                <a:solidFill>
                  <a:srgbClr val="FFFFFF"/>
                </a:solidFill>
                <a:latin typeface="Cambria"/>
              </a:rPr>
              <a:t>ĐÚNG</a:t>
            </a:r>
          </a:p>
        </p:txBody>
      </p:sp>
      <p:sp>
        <p:nvSpPr>
          <p:cNvPr id="25" name="Rounded Rectangle 24"/>
          <p:cNvSpPr/>
          <p:nvPr/>
        </p:nvSpPr>
        <p:spPr>
          <a:xfrm>
            <a:off x="566928" y="4910328"/>
            <a:ext cx="11057839" cy="896112"/>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31520" y="5166360"/>
            <a:ext cx="384048" cy="384048"/>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166360"/>
            <a:ext cx="384048" cy="384048"/>
          </a:xfrm>
          <a:prstGeom prst="rect">
            <a:avLst/>
          </a:prstGeom>
          <a:noFill/>
        </p:spPr>
        <p:txBody>
          <a:bodyPr wrap="square" anchor="ctr" lIns="0" rIns="0" tIns="0" bIns="0">
            <a:noAutofit/>
          </a:bodyPr>
          <a:lstStyle/>
          <a:p>
            <a:pPr algn="ctr"/>
            <a:r>
              <a:rPr sz="1400" b="1" i="0">
                <a:solidFill>
                  <a:srgbClr val="FFFFFF"/>
                </a:solidFill>
                <a:latin typeface="Cambria"/>
              </a:rPr>
              <a:t>4</a:t>
            </a:r>
          </a:p>
        </p:txBody>
      </p:sp>
      <p:sp>
        <p:nvSpPr>
          <p:cNvPr id="28" name="TextBox 27"/>
          <p:cNvSpPr txBox="1"/>
          <p:nvPr/>
        </p:nvSpPr>
        <p:spPr>
          <a:xfrm>
            <a:off x="1280160" y="4910328"/>
            <a:ext cx="9046159" cy="896112"/>
          </a:xfrm>
          <a:prstGeom prst="rect">
            <a:avLst/>
          </a:prstGeom>
          <a:noFill/>
        </p:spPr>
        <p:txBody>
          <a:bodyPr wrap="square" anchor="ctr" lIns="0" rIns="0" tIns="0" bIns="0">
            <a:noAutofit/>
          </a:bodyPr>
          <a:lstStyle/>
          <a:p>
            <a:pPr algn="l">
              <a:lnSpc>
                <a:spcPct val="105000"/>
              </a:lnSpc>
            </a:pPr>
            <a:r>
              <a:rPr sz="1300" b="0" i="0">
                <a:solidFill>
                  <a:srgbClr val="2B211A"/>
                </a:solidFill>
                <a:latin typeface="Cambria"/>
              </a:rPr>
              <a:t>Lao động giản đơn, tay nghề thấp ngày càng được thị trường lao động ưu tiên tuyển dụng nhiều hơn.</a:t>
            </a:r>
          </a:p>
        </p:txBody>
      </p:sp>
      <p:sp>
        <p:nvSpPr>
          <p:cNvPr id="29" name="Rounded Rectangle 28"/>
          <p:cNvSpPr/>
          <p:nvPr/>
        </p:nvSpPr>
        <p:spPr>
          <a:xfrm>
            <a:off x="10618927" y="5111496"/>
            <a:ext cx="868680" cy="475488"/>
          </a:xfrm>
          <a:prstGeom prst="roundRect">
            <a:avLst>
              <a:gd name="adj" fmla="val 30000"/>
            </a:avLst>
          </a:prstGeom>
          <a:solidFill>
            <a:srgbClr val="A13D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18927" y="5111496"/>
            <a:ext cx="868680" cy="475488"/>
          </a:xfrm>
          <a:prstGeom prst="rect">
            <a:avLst/>
          </a:prstGeom>
          <a:noFill/>
        </p:spPr>
        <p:txBody>
          <a:bodyPr wrap="square" anchor="ctr" lIns="0" rIns="0" tIns="0" bIns="0">
            <a:noAutofit/>
          </a:bodyPr>
          <a:lstStyle/>
          <a:p>
            <a:pPr algn="ctr"/>
            <a:r>
              <a:rPr sz="1250" b="1" i="0">
                <a:solidFill>
                  <a:srgbClr val="FFFFFF"/>
                </a:solidFill>
                <a:latin typeface="Cambria"/>
              </a:rPr>
              <a:t>SAI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1E3A52"/>
                </a:solidFill>
                <a:latin typeface="Cambria"/>
              </a:rPr>
              <a:t>LUYỆN TẬP</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500" b="1" i="0">
                <a:solidFill>
                  <a:srgbClr val="2B211A"/>
                </a:solidFill>
                <a:latin typeface="Cambria"/>
              </a:rPr>
              <a:t>Bài tập 2: Xử lí tình huống</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19</a:t>
            </a:r>
          </a:p>
        </p:txBody>
      </p:sp>
      <p:sp>
        <p:nvSpPr>
          <p:cNvPr id="7" name="Rounded Rectangle 6"/>
          <p:cNvSpPr/>
          <p:nvPr/>
        </p:nvSpPr>
        <p:spPr>
          <a:xfrm>
            <a:off x="566928" y="1737360"/>
            <a:ext cx="11057839" cy="777240"/>
          </a:xfrm>
          <a:prstGeom prst="roundRect">
            <a:avLst>
              <a:gd name="adj" fmla="val 10000"/>
            </a:avLst>
          </a:prstGeom>
          <a:solidFill>
            <a:srgbClr val="E7ED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847088"/>
            <a:ext cx="10600639" cy="566928"/>
          </a:xfrm>
          <a:prstGeom prst="rect">
            <a:avLst/>
          </a:prstGeom>
          <a:noFill/>
        </p:spPr>
        <p:txBody>
          <a:bodyPr wrap="square" anchor="ctr" lIns="0" rIns="0" tIns="0" bIns="0">
            <a:noAutofit/>
          </a:bodyPr>
          <a:lstStyle/>
          <a:p>
            <a:pPr algn="l">
              <a:lnSpc>
                <a:spcPct val="110000"/>
              </a:lnSpc>
            </a:pPr>
            <a:r>
              <a:rPr sz="1500" b="1" i="0">
                <a:solidFill>
                  <a:srgbClr val="2B211A"/>
                </a:solidFill>
                <a:latin typeface="Cambria"/>
              </a:rPr>
              <a:t>Bạn H rất yêu thích công nghệ thông tin nhưng gia đình muốn H theo ngành kế toán vì “dễ xin việc”. Theo em, H nên làm gì để đưa ra lựa chọn phù hợp?</a:t>
            </a:r>
          </a:p>
        </p:txBody>
      </p:sp>
      <p:sp>
        <p:nvSpPr>
          <p:cNvPr id="9" name="Rounded Rectangle 8"/>
          <p:cNvSpPr/>
          <p:nvPr/>
        </p:nvSpPr>
        <p:spPr>
          <a:xfrm>
            <a:off x="566928" y="269748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294894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948940"/>
            <a:ext cx="365760" cy="365760"/>
          </a:xfrm>
          <a:prstGeom prst="rect">
            <a:avLst/>
          </a:prstGeom>
          <a:noFill/>
        </p:spPr>
        <p:txBody>
          <a:bodyPr wrap="square" anchor="ctr" lIns="0" rIns="0" tIns="0" bIns="0">
            <a:noAutofit/>
          </a:bodyPr>
          <a:lstStyle/>
          <a:p>
            <a:pPr algn="ctr"/>
            <a:r>
              <a:rPr sz="1400" b="1" i="0">
                <a:solidFill>
                  <a:srgbClr val="FFFFFF"/>
                </a:solidFill>
                <a:latin typeface="Cambria"/>
              </a:rPr>
              <a:t>A</a:t>
            </a:r>
          </a:p>
        </p:txBody>
      </p:sp>
      <p:sp>
        <p:nvSpPr>
          <p:cNvPr id="12" name="TextBox 11"/>
          <p:cNvSpPr txBox="1"/>
          <p:nvPr/>
        </p:nvSpPr>
        <p:spPr>
          <a:xfrm>
            <a:off x="1207008" y="269748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A. Nghe theo gia đình vì kế toán luôn dễ xin việc hơn</a:t>
            </a:r>
          </a:p>
        </p:txBody>
      </p:sp>
      <p:sp>
        <p:nvSpPr>
          <p:cNvPr id="13" name="Rounded Rectangle 12"/>
          <p:cNvSpPr/>
          <p:nvPr/>
        </p:nvSpPr>
        <p:spPr>
          <a:xfrm>
            <a:off x="6210147" y="2697480"/>
            <a:ext cx="5414619" cy="868680"/>
          </a:xfrm>
          <a:prstGeom prst="roundRect">
            <a:avLst>
              <a:gd name="adj" fmla="val 12000"/>
            </a:avLst>
          </a:prstGeom>
          <a:solidFill>
            <a:srgbClr val="EAF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74739" y="2948940"/>
            <a:ext cx="365760" cy="365760"/>
          </a:xfrm>
          <a:prstGeom prst="ellipse">
            <a:avLst/>
          </a:prstGeom>
          <a:solidFill>
            <a:srgbClr val="53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4739" y="2948940"/>
            <a:ext cx="365760" cy="365760"/>
          </a:xfrm>
          <a:prstGeom prst="rect">
            <a:avLst/>
          </a:prstGeom>
          <a:noFill/>
        </p:spPr>
        <p:txBody>
          <a:bodyPr wrap="square" anchor="ctr" lIns="0" rIns="0" tIns="0" bIns="0">
            <a:noAutofit/>
          </a:bodyPr>
          <a:lstStyle/>
          <a:p>
            <a:pPr algn="ctr"/>
            <a:r>
              <a:rPr sz="1400" b="1" i="0">
                <a:solidFill>
                  <a:srgbClr val="FFFFFF"/>
                </a:solidFill>
                <a:latin typeface="Cambria"/>
              </a:rPr>
              <a:t>B</a:t>
            </a:r>
          </a:p>
        </p:txBody>
      </p:sp>
      <p:sp>
        <p:nvSpPr>
          <p:cNvPr id="16" name="TextBox 15"/>
          <p:cNvSpPr txBox="1"/>
          <p:nvPr/>
        </p:nvSpPr>
        <p:spPr>
          <a:xfrm>
            <a:off x="6850227" y="269748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B. Tự đánh giá sở trường, tìm hiểu xu hướng thị trường lao động của cả hai ngành rồi trao đổi với gia đình</a:t>
            </a:r>
          </a:p>
        </p:txBody>
      </p:sp>
      <p:sp>
        <p:nvSpPr>
          <p:cNvPr id="17" name="Rounded Rectangle 16"/>
          <p:cNvSpPr/>
          <p:nvPr/>
        </p:nvSpPr>
        <p:spPr>
          <a:xfrm>
            <a:off x="566928" y="374904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00050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000500"/>
            <a:ext cx="365760" cy="365760"/>
          </a:xfrm>
          <a:prstGeom prst="rect">
            <a:avLst/>
          </a:prstGeom>
          <a:noFill/>
        </p:spPr>
        <p:txBody>
          <a:bodyPr wrap="square" anchor="ctr" lIns="0" rIns="0" tIns="0" bIns="0">
            <a:noAutofit/>
          </a:bodyPr>
          <a:lstStyle/>
          <a:p>
            <a:pPr algn="ctr"/>
            <a:r>
              <a:rPr sz="1400" b="1" i="0">
                <a:solidFill>
                  <a:srgbClr val="FFFFFF"/>
                </a:solidFill>
                <a:latin typeface="Cambria"/>
              </a:rPr>
              <a:t>C</a:t>
            </a:r>
          </a:p>
        </p:txBody>
      </p:sp>
      <p:sp>
        <p:nvSpPr>
          <p:cNvPr id="20" name="TextBox 19"/>
          <p:cNvSpPr txBox="1"/>
          <p:nvPr/>
        </p:nvSpPr>
        <p:spPr>
          <a:xfrm>
            <a:off x="1207008" y="374904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C. Không cần tìm hiểu gì, chọn ngành nào điểm chuẩn thấp hơn</a:t>
            </a:r>
          </a:p>
        </p:txBody>
      </p:sp>
      <p:sp>
        <p:nvSpPr>
          <p:cNvPr id="21" name="Rounded Rectangle 20"/>
          <p:cNvSpPr/>
          <p:nvPr/>
        </p:nvSpPr>
        <p:spPr>
          <a:xfrm>
            <a:off x="6210147" y="3749040"/>
            <a:ext cx="5414619" cy="868680"/>
          </a:xfrm>
          <a:prstGeom prst="roundRect">
            <a:avLst>
              <a:gd name="adj" fmla="val 12000"/>
            </a:avLst>
          </a:prstGeom>
          <a:solidFill>
            <a:srgbClr val="F3EE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74739" y="4000500"/>
            <a:ext cx="365760" cy="365760"/>
          </a:xfrm>
          <a:prstGeom prst="ellipse">
            <a:avLst/>
          </a:prstGeom>
          <a:solidFill>
            <a:srgbClr val="2C5A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74739" y="4000500"/>
            <a:ext cx="365760" cy="365760"/>
          </a:xfrm>
          <a:prstGeom prst="rect">
            <a:avLst/>
          </a:prstGeom>
          <a:noFill/>
        </p:spPr>
        <p:txBody>
          <a:bodyPr wrap="square" anchor="ctr" lIns="0" rIns="0" tIns="0" bIns="0">
            <a:noAutofit/>
          </a:bodyPr>
          <a:lstStyle/>
          <a:p>
            <a:pPr algn="ctr"/>
            <a:r>
              <a:rPr sz="1400" b="1" i="0">
                <a:solidFill>
                  <a:srgbClr val="FFFFFF"/>
                </a:solidFill>
                <a:latin typeface="Cambria"/>
              </a:rPr>
              <a:t>D</a:t>
            </a:r>
          </a:p>
        </p:txBody>
      </p:sp>
      <p:sp>
        <p:nvSpPr>
          <p:cNvPr id="24" name="TextBox 23"/>
          <p:cNvSpPr txBox="1"/>
          <p:nvPr/>
        </p:nvSpPr>
        <p:spPr>
          <a:xfrm>
            <a:off x="6850227" y="3749040"/>
            <a:ext cx="4591659" cy="868680"/>
          </a:xfrm>
          <a:prstGeom prst="rect">
            <a:avLst/>
          </a:prstGeom>
          <a:noFill/>
        </p:spPr>
        <p:txBody>
          <a:bodyPr wrap="square" anchor="ctr" lIns="0" rIns="0" tIns="0" bIns="0">
            <a:noAutofit/>
          </a:bodyPr>
          <a:lstStyle/>
          <a:p>
            <a:pPr algn="l">
              <a:lnSpc>
                <a:spcPct val="105000"/>
              </a:lnSpc>
            </a:pPr>
            <a:r>
              <a:rPr sz="1250" b="0" i="0">
                <a:solidFill>
                  <a:srgbClr val="2B211A"/>
                </a:solidFill>
                <a:latin typeface="Cambria"/>
              </a:rPr>
              <a:t>D. Chờ người khác quyết định thay mình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502920"/>
            <a:ext cx="9144000" cy="320040"/>
          </a:xfrm>
          <a:prstGeom prst="rect">
            <a:avLst/>
          </a:prstGeom>
          <a:noFill/>
        </p:spPr>
        <p:txBody>
          <a:bodyPr wrap="square" anchor="t" lIns="0" rIns="0" tIns="0" bIns="0">
            <a:noAutofit/>
          </a:bodyPr>
          <a:lstStyle/>
          <a:p>
            <a:pPr algn="l"/>
            <a:r>
              <a:rPr sz="1300" b="1" i="0">
                <a:solidFill>
                  <a:srgbClr val="B87410"/>
                </a:solidFill>
                <a:latin typeface="Cambria"/>
              </a:rPr>
              <a:t>VẬN DỤNG</a:t>
            </a:r>
          </a:p>
        </p:txBody>
      </p:sp>
      <p:sp>
        <p:nvSpPr>
          <p:cNvPr id="3" name="TextBox 2"/>
          <p:cNvSpPr txBox="1"/>
          <p:nvPr/>
        </p:nvSpPr>
        <p:spPr>
          <a:xfrm>
            <a:off x="566928" y="841248"/>
            <a:ext cx="11057839" cy="822960"/>
          </a:xfrm>
          <a:prstGeom prst="rect">
            <a:avLst/>
          </a:prstGeom>
          <a:noFill/>
        </p:spPr>
        <p:txBody>
          <a:bodyPr wrap="square" anchor="t" lIns="0" rIns="0" tIns="0" bIns="0">
            <a:noAutofit/>
          </a:bodyPr>
          <a:lstStyle/>
          <a:p>
            <a:pPr algn="l">
              <a:lnSpc>
                <a:spcPct val="100000"/>
              </a:lnSpc>
            </a:pPr>
            <a:r>
              <a:rPr sz="2700" b="1" i="0">
                <a:solidFill>
                  <a:srgbClr val="2B211A"/>
                </a:solidFill>
                <a:latin typeface="Cambria"/>
              </a:rPr>
              <a:t>Nhiệm vụ dự án nhỏ</a:t>
            </a:r>
          </a:p>
        </p:txBody>
      </p:sp>
      <p:sp>
        <p:nvSpPr>
          <p:cNvPr id="4" name="Rectangle 3"/>
          <p:cNvSpPr/>
          <p:nvPr/>
        </p:nvSpPr>
        <p:spPr>
          <a:xfrm>
            <a:off x="566928" y="6400800"/>
            <a:ext cx="11057839" cy="11430"/>
          </a:xfrm>
          <a:prstGeom prst="rect">
            <a:avLst/>
          </a:prstGeom>
          <a:solidFill>
            <a:srgbClr val="D8D2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473952"/>
            <a:ext cx="8686800" cy="320040"/>
          </a:xfrm>
          <a:prstGeom prst="rect">
            <a:avLst/>
          </a:prstGeom>
          <a:noFill/>
        </p:spPr>
        <p:txBody>
          <a:bodyPr wrap="square" anchor="t" lIns="0" rIns="0" tIns="0" bIns="0">
            <a:noAutofit/>
          </a:bodyPr>
          <a:lstStyle/>
          <a:p>
            <a:pPr algn="l"/>
            <a:r>
              <a:rPr sz="1050" b="0" i="0">
                <a:solidFill>
                  <a:srgbClr val="6B645C"/>
                </a:solidFill>
                <a:latin typeface="Cambria"/>
              </a:rPr>
              <a:t>GDKTPL 11 | Bài 5: Thị trường lao động và việc làm - Tiết 2</a:t>
            </a:r>
          </a:p>
        </p:txBody>
      </p:sp>
      <p:sp>
        <p:nvSpPr>
          <p:cNvPr id="6" name="TextBox 5"/>
          <p:cNvSpPr txBox="1"/>
          <p:nvPr/>
        </p:nvSpPr>
        <p:spPr>
          <a:xfrm>
            <a:off x="10893247" y="6473952"/>
            <a:ext cx="731520" cy="320040"/>
          </a:xfrm>
          <a:prstGeom prst="rect">
            <a:avLst/>
          </a:prstGeom>
          <a:noFill/>
        </p:spPr>
        <p:txBody>
          <a:bodyPr wrap="square" anchor="t" lIns="0" rIns="0" tIns="0" bIns="0">
            <a:noAutofit/>
          </a:bodyPr>
          <a:lstStyle/>
          <a:p>
            <a:pPr algn="r"/>
            <a:r>
              <a:rPr sz="1050" b="0" i="0">
                <a:solidFill>
                  <a:srgbClr val="6B645C"/>
                </a:solidFill>
                <a:latin typeface="Cambria"/>
              </a:rPr>
              <a:t>20</a:t>
            </a:r>
          </a:p>
        </p:txBody>
      </p:sp>
      <p:sp>
        <p:nvSpPr>
          <p:cNvPr id="7" name="Rounded Rectangle 6"/>
          <p:cNvSpPr/>
          <p:nvPr/>
        </p:nvSpPr>
        <p:spPr>
          <a:xfrm>
            <a:off x="566928" y="1783080"/>
            <a:ext cx="11057839" cy="1051560"/>
          </a:xfrm>
          <a:prstGeom prst="roundRect">
            <a:avLst>
              <a:gd name="adj" fmla="val 9000"/>
            </a:avLst>
          </a:prstGeom>
          <a:solidFill>
            <a:srgbClr val="B87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1911096"/>
            <a:ext cx="10600639" cy="274320"/>
          </a:xfrm>
          <a:prstGeom prst="rect">
            <a:avLst/>
          </a:prstGeom>
          <a:noFill/>
        </p:spPr>
        <p:txBody>
          <a:bodyPr wrap="square" anchor="t" lIns="0" rIns="0" tIns="0" bIns="0">
            <a:noAutofit/>
          </a:bodyPr>
          <a:lstStyle/>
          <a:p>
            <a:pPr algn="l"/>
            <a:r>
              <a:rPr sz="1200" b="1" i="0">
                <a:solidFill>
                  <a:srgbClr val="FFFFFF"/>
                </a:solidFill>
                <a:latin typeface="Cambria"/>
              </a:rPr>
              <a:t>HỒ SƠ ĐỊNH HƯỚNG NGHỀ NGHIỆP CÁ NHÂN</a:t>
            </a:r>
          </a:p>
        </p:txBody>
      </p:sp>
      <p:sp>
        <p:nvSpPr>
          <p:cNvPr id="9" name="TextBox 8"/>
          <p:cNvSpPr txBox="1"/>
          <p:nvPr/>
        </p:nvSpPr>
        <p:spPr>
          <a:xfrm>
            <a:off x="795528" y="2203704"/>
            <a:ext cx="10600639" cy="566928"/>
          </a:xfrm>
          <a:prstGeom prst="rect">
            <a:avLst/>
          </a:prstGeom>
          <a:noFill/>
        </p:spPr>
        <p:txBody>
          <a:bodyPr wrap="square" anchor="t" lIns="0" rIns="0" tIns="0" bIns="0">
            <a:noAutofit/>
          </a:bodyPr>
          <a:lstStyle/>
          <a:p>
            <a:pPr algn="l">
              <a:lnSpc>
                <a:spcPct val="112000"/>
              </a:lnSpc>
            </a:pPr>
            <a:r>
              <a:rPr sz="1450" b="0" i="0">
                <a:solidFill>
                  <a:srgbClr val="FFFFFF"/>
                </a:solidFill>
                <a:latin typeface="Cambria"/>
              </a:rPr>
              <a:t>Em hãy tìm hiểu về một ngành nghề mà mình yêu thích: nhu cầu tuyển dụng hiện nay, kỹ năng cần có và xu hướng phát triển của ngành trong 5 năm tới.</a:t>
            </a:r>
          </a:p>
        </p:txBody>
      </p:sp>
      <p:sp>
        <p:nvSpPr>
          <p:cNvPr id="10" name="TextBox 9"/>
          <p:cNvSpPr txBox="1"/>
          <p:nvPr/>
        </p:nvSpPr>
        <p:spPr>
          <a:xfrm>
            <a:off x="566928" y="3063240"/>
            <a:ext cx="11057839" cy="320040"/>
          </a:xfrm>
          <a:prstGeom prst="rect">
            <a:avLst/>
          </a:prstGeom>
          <a:noFill/>
        </p:spPr>
        <p:txBody>
          <a:bodyPr wrap="square" anchor="t" lIns="0" rIns="0" tIns="0" bIns="0">
            <a:noAutofit/>
          </a:bodyPr>
          <a:lstStyle/>
          <a:p>
            <a:pPr algn="l"/>
            <a:r>
              <a:rPr sz="1400" b="1" i="0">
                <a:solidFill>
                  <a:srgbClr val="2B211A"/>
                </a:solidFill>
                <a:latin typeface="Cambria"/>
              </a:rPr>
              <a:t>Yêu cầu sản phẩm</a:t>
            </a:r>
          </a:p>
        </p:txBody>
      </p:sp>
      <p:sp>
        <p:nvSpPr>
          <p:cNvPr id="11" name="TextBox 10"/>
          <p:cNvSpPr txBox="1"/>
          <p:nvPr/>
        </p:nvSpPr>
        <p:spPr>
          <a:xfrm>
            <a:off x="612648" y="3474720"/>
            <a:ext cx="10966399" cy="2743200"/>
          </a:xfrm>
          <a:prstGeom prst="rect">
            <a:avLst/>
          </a:prstGeom>
          <a:noFill/>
        </p:spPr>
        <p:txBody>
          <a:bodyPr wrap="square" lIns="0" rIns="0" tIns="0" bIns="0">
            <a:noAutofit/>
          </a:bodyPr>
          <a:lstStyle/>
          <a:p>
            <a:pPr>
              <a:spcAft>
                <a:spcPts val="1000"/>
              </a:spcAft>
            </a:pPr>
            <a:r>
              <a:rPr sz="1400" b="1" i="0">
                <a:solidFill>
                  <a:srgbClr val="B87410"/>
                </a:solidFill>
                <a:latin typeface="Cambria"/>
              </a:rPr>
              <a:t>•  Trình bày kết quả dưới dạng sơ đồ tư duy hoặc đoạn văn ngắn (khoảng 15 dòng).</a:t>
            </a:r>
            <a:r>
              <a:rPr sz="1400" b="0" i="0">
                <a:solidFill>
                  <a:srgbClr val="2B211A"/>
                </a:solidFill>
                <a:latin typeface="Cambria"/>
              </a:rPr>
              <a:t>  Chỉ rõ: cung - cầu lao động của ngành, xu hướng tuyển dụng liên quan, việc em cần chuẩn bị ngay từ bây giờ.</a:t>
            </a:r>
          </a:p>
          <a:p>
            <a:pPr>
              <a:spcAft>
                <a:spcPts val="1000"/>
              </a:spcAft>
            </a:pPr>
            <a:r>
              <a:rPr sz="1400" b="1" i="0">
                <a:solidFill>
                  <a:srgbClr val="B87410"/>
                </a:solidFill>
                <a:latin typeface="Cambria"/>
              </a:rPr>
              <a:t>•  Nộp sản phẩm vào tiết học sau</a:t>
            </a:r>
            <a:r>
              <a:rPr sz="1400" b="0" i="0">
                <a:solidFill>
                  <a:srgbClr val="2B211A"/>
                </a:solidFill>
                <a:latin typeface="Cambria"/>
              </a:rPr>
              <a:t>  để cả lớp cùng chia sẻ, góp ý cho định hướng nghề nghiệp của nhau.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