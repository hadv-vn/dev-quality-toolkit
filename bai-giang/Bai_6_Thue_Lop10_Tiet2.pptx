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3A"/>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224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C78A2E"/>
                </a:solidFill>
                <a:latin typeface="Calibri"/>
              </a:rPr>
              <a:t>GIÁO DỤC KINH TẾ VÀ PHÁP LUẬT 10</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4800" b="1" i="0">
                <a:solidFill>
                  <a:srgbClr val="FFFFFF"/>
                </a:solidFill>
                <a:latin typeface="Georgia"/>
              </a:rPr>
              <a:t>BÀI 6: 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Chủ đề: Sản xuất kinh doanh và các chủ thể kinh tế</a:t>
            </a:r>
          </a:p>
        </p:txBody>
      </p:sp>
      <p:sp>
        <p:nvSpPr>
          <p:cNvPr id="7" name="Oval 6"/>
          <p:cNvSpPr/>
          <p:nvPr/>
        </p:nvSpPr>
        <p:spPr>
          <a:xfrm>
            <a:off x="822960" y="393192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3263A"/>
                </a:solidFill>
                <a:latin typeface="Calibri"/>
              </a:rPr>
              <a:t>•</a:t>
            </a:r>
          </a:p>
        </p:txBody>
      </p:sp>
      <p:sp>
        <p:nvSpPr>
          <p:cNvPr id="8" name="TextBox 7"/>
          <p:cNvSpPr txBox="1"/>
          <p:nvPr/>
        </p:nvSpPr>
        <p:spPr>
          <a:xfrm>
            <a:off x="1325880" y="3950208"/>
            <a:ext cx="8686800" cy="411480"/>
          </a:xfrm>
          <a:prstGeom prst="rect">
            <a:avLst/>
          </a:prstGeom>
          <a:noFill/>
        </p:spPr>
        <p:txBody>
          <a:bodyPr wrap="square" anchor="t" lIns="0" rIns="0" tIns="0" bIns="0">
            <a:spAutoFit/>
          </a:bodyPr>
          <a:lstStyle/>
          <a:p>
            <a:pPr algn="l">
              <a:lnSpc>
                <a:spcPct val="100000"/>
              </a:lnSpc>
              <a:spcAft>
                <a:spcPts val="0"/>
              </a:spcAft>
            </a:pPr>
            <a:r>
              <a:rPr sz="1400" b="0" i="0">
                <a:solidFill>
                  <a:srgbClr val="FFFFFF"/>
                </a:solidFill>
                <a:latin typeface="Calibri"/>
              </a:rPr>
              <a:t>Thời lượng: 2 tiết (90 phút)</a:t>
            </a:r>
          </a:p>
        </p:txBody>
      </p:sp>
      <p:sp>
        <p:nvSpPr>
          <p:cNvPr id="9" name="Oval 8"/>
          <p:cNvSpPr/>
          <p:nvPr/>
        </p:nvSpPr>
        <p:spPr>
          <a:xfrm>
            <a:off x="822960" y="443484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3263A"/>
                </a:solidFill>
                <a:latin typeface="Calibri"/>
              </a:rPr>
              <a:t>•</a:t>
            </a:r>
          </a:p>
        </p:txBody>
      </p:sp>
      <p:sp>
        <p:nvSpPr>
          <p:cNvPr id="10" name="TextBox 9"/>
          <p:cNvSpPr txBox="1"/>
          <p:nvPr/>
        </p:nvSpPr>
        <p:spPr>
          <a:xfrm>
            <a:off x="1325880" y="4453128"/>
            <a:ext cx="8686800" cy="411480"/>
          </a:xfrm>
          <a:prstGeom prst="rect">
            <a:avLst/>
          </a:prstGeom>
          <a:noFill/>
        </p:spPr>
        <p:txBody>
          <a:bodyPr wrap="square" anchor="t" lIns="0" rIns="0" tIns="0" bIns="0">
            <a:spAutoFit/>
          </a:bodyPr>
          <a:lstStyle/>
          <a:p>
            <a:pPr algn="l">
              <a:lnSpc>
                <a:spcPct val="100000"/>
              </a:lnSpc>
              <a:spcAft>
                <a:spcPts val="0"/>
              </a:spcAft>
            </a:pPr>
            <a:r>
              <a:rPr sz="1400" b="0" i="0">
                <a:solidFill>
                  <a:srgbClr val="FFFFFF"/>
                </a:solidFill>
                <a:latin typeface="Calibri"/>
              </a:rPr>
              <a:t>Hình thức: Trò chơi khởi động – Khám phá – Luyện tập – Vận dụng</a:t>
            </a:r>
          </a:p>
        </p:txBody>
      </p:sp>
      <p:sp>
        <p:nvSpPr>
          <p:cNvPr id="11" name="Rectangle 10"/>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Tổ Giáo dục công dân | Bài giảng điện tử</a:t>
            </a:r>
          </a:p>
        </p:txBody>
      </p:sp>
      <p:sp>
        <p:nvSpPr>
          <p:cNvPr id="13" name="TextBox 12"/>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3344"/>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224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E8C97A"/>
                </a:solidFill>
                <a:latin typeface="Calibri"/>
              </a:rPr>
              <a:t>TIẾT 2 · 45 PHÚT</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3600" b="1" i="0">
                <a:solidFill>
                  <a:srgbClr val="FFFFFF"/>
                </a:solidFill>
                <a:latin typeface="Georgia"/>
              </a:rPr>
              <a:t>Các loại thuế – Quyền và</a:t>
            </a:r>
          </a:p>
          <a:p>
            <a:pPr algn="l">
              <a:lnSpc>
                <a:spcPct val="103000"/>
              </a:lnSpc>
              <a:spcAft>
                <a:spcPts val="0"/>
              </a:spcAft>
            </a:pPr>
            <a:r>
              <a:rPr sz="3600" b="1" i="0">
                <a:solidFill>
                  <a:srgbClr val="FFFFFF"/>
                </a:solidFill>
                <a:latin typeface="Georgia"/>
              </a:rPr>
              <a:t>nghĩa vụ của công dân</a:t>
            </a:r>
          </a:p>
        </p:txBody>
      </p:sp>
      <p:sp>
        <p:nvSpPr>
          <p:cNvPr id="6" name="TextBox 5"/>
          <p:cNvSpPr txBox="1"/>
          <p:nvPr/>
        </p:nvSpPr>
        <p:spPr>
          <a:xfrm>
            <a:off x="822960" y="3749039"/>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Vì sao mua rượu, mua xăng lại phải trả thêm nhiều thuế hơn mua rau, mua gạo?</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2</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6C222A"/>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F3D3C9"/>
                </a:solidFill>
                <a:latin typeface="Calibri"/>
              </a:rPr>
              <a:t>KHỞI ĐỘNG · 10 PHÚT</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3800" b="1" i="0">
                <a:solidFill>
                  <a:srgbClr val="FFFFFF"/>
                </a:solidFill>
                <a:latin typeface="Georgia"/>
              </a:rPr>
              <a:t>Trò chơi:</a:t>
            </a:r>
          </a:p>
          <a:p>
            <a:pPr algn="l">
              <a:lnSpc>
                <a:spcPct val="103000"/>
              </a:lnSpc>
              <a:spcAft>
                <a:spcPts val="0"/>
              </a:spcAft>
            </a:pPr>
            <a:r>
              <a:rPr sz="3800" b="1" i="0">
                <a:solidFill>
                  <a:srgbClr val="FFFFFF"/>
                </a:solidFill>
                <a:latin typeface="Georgia"/>
              </a:rPr>
              <a:t>“HỘP QUÀ MAY MẮN”</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Đi tìm các loại thuế quen thuộc trong đời sống</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2 – Khởi động</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KHỞI ĐỘNG · LUẬT CHƠI</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Cách chơi trò “Hộp quà may mắn”</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5394960" cy="160020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1460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7" name="TextBox 6"/>
          <p:cNvSpPr txBox="1"/>
          <p:nvPr/>
        </p:nvSpPr>
        <p:spPr>
          <a:xfrm>
            <a:off x="731520"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Chuẩn bị</a:t>
            </a:r>
          </a:p>
        </p:txBody>
      </p:sp>
      <p:sp>
        <p:nvSpPr>
          <p:cNvPr id="8" name="TextBox 7"/>
          <p:cNvSpPr txBox="1"/>
          <p:nvPr/>
        </p:nvSpPr>
        <p:spPr>
          <a:xfrm>
            <a:off x="731520"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Lớp chia thành 4 đội. Trên màn hình có 5 “hộp quà” được đánh số từ 1 đến 5.</a:t>
            </a:r>
          </a:p>
        </p:txBody>
      </p:sp>
      <p:sp>
        <p:nvSpPr>
          <p:cNvPr id="9" name="Rounded Rectangle 8"/>
          <p:cNvSpPr/>
          <p:nvPr/>
        </p:nvSpPr>
        <p:spPr>
          <a:xfrm>
            <a:off x="6245352" y="2331720"/>
            <a:ext cx="5394960" cy="160020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28232" y="251460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11" name="TextBox 10"/>
          <p:cNvSpPr txBox="1"/>
          <p:nvPr/>
        </p:nvSpPr>
        <p:spPr>
          <a:xfrm>
            <a:off x="6428232"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Chọn hộp</a:t>
            </a:r>
          </a:p>
        </p:txBody>
      </p:sp>
      <p:sp>
        <p:nvSpPr>
          <p:cNvPr id="12" name="TextBox 11"/>
          <p:cNvSpPr txBox="1"/>
          <p:nvPr/>
        </p:nvSpPr>
        <p:spPr>
          <a:xfrm>
            <a:off x="6428232"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Lần lượt đại diện từng đội chọn 1 hộp quà; GV mở hộp, cả lớp cùng đọc câu hỏi bên trong.</a:t>
            </a:r>
          </a:p>
        </p:txBody>
      </p:sp>
      <p:sp>
        <p:nvSpPr>
          <p:cNvPr id="13" name="Rounded Rectangle 12"/>
          <p:cNvSpPr/>
          <p:nvPr/>
        </p:nvSpPr>
        <p:spPr>
          <a:xfrm>
            <a:off x="548640" y="4233672"/>
            <a:ext cx="5394960" cy="160020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4416552"/>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15" name="TextBox 14"/>
          <p:cNvSpPr txBox="1"/>
          <p:nvPr/>
        </p:nvSpPr>
        <p:spPr>
          <a:xfrm>
            <a:off x="731520"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Trả lời</a:t>
            </a:r>
          </a:p>
        </p:txBody>
      </p:sp>
      <p:sp>
        <p:nvSpPr>
          <p:cNvPr id="16" name="TextBox 15"/>
          <p:cNvSpPr txBox="1"/>
          <p:nvPr/>
        </p:nvSpPr>
        <p:spPr>
          <a:xfrm>
            <a:off x="731520"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Đội chọn hộp có 10 giây để trả lời; nếu trả lời sai, đội khác được quyền giành trả lời.</a:t>
            </a:r>
          </a:p>
        </p:txBody>
      </p:sp>
      <p:sp>
        <p:nvSpPr>
          <p:cNvPr id="17" name="Rounded Rectangle 16"/>
          <p:cNvSpPr/>
          <p:nvPr/>
        </p:nvSpPr>
        <p:spPr>
          <a:xfrm>
            <a:off x="6245352" y="4233672"/>
            <a:ext cx="5394960" cy="160020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28232" y="4416552"/>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19" name="TextBox 18"/>
          <p:cNvSpPr txBox="1"/>
          <p:nvPr/>
        </p:nvSpPr>
        <p:spPr>
          <a:xfrm>
            <a:off x="6428232"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Nhận quà</a:t>
            </a:r>
          </a:p>
        </p:txBody>
      </p:sp>
      <p:sp>
        <p:nvSpPr>
          <p:cNvPr id="20" name="TextBox 19"/>
          <p:cNvSpPr txBox="1"/>
          <p:nvPr/>
        </p:nvSpPr>
        <p:spPr>
          <a:xfrm>
            <a:off x="6428232"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Trả lời đúng, đội được cộng số điểm ngẫu nhiên ghi trong hộp (5–20 điểm). Đội cao điểm nhất sau 5 hộp thắng cuộc.</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Khởi động</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KHỞI ĐỘNG · HỘP QUÀ</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Hộp quà số 1 – 2 – 3</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234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47802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6C222A"/>
                </a:solidFill>
                <a:latin typeface="Calibri"/>
              </a:rPr>
              <a:t>HỘP QUÀ 1</a:t>
            </a:r>
          </a:p>
        </p:txBody>
      </p:sp>
      <p:sp>
        <p:nvSpPr>
          <p:cNvPr id="7" name="TextBox 6"/>
          <p:cNvSpPr txBox="1"/>
          <p:nvPr/>
        </p:nvSpPr>
        <p:spPr>
          <a:xfrm>
            <a:off x="786384" y="2788920"/>
            <a:ext cx="10616184" cy="63093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Loại thuế đánh trực tiếp vào thu nhập của cá nhân được gọi là gì?</a:t>
            </a:r>
          </a:p>
        </p:txBody>
      </p:sp>
      <p:sp>
        <p:nvSpPr>
          <p:cNvPr id="8" name="Rounded Rectangle 7"/>
          <p:cNvSpPr/>
          <p:nvPr/>
        </p:nvSpPr>
        <p:spPr>
          <a:xfrm>
            <a:off x="548640" y="3685032"/>
            <a:ext cx="11091672" cy="1234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3831336"/>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6C222A"/>
                </a:solidFill>
                <a:latin typeface="Calibri"/>
              </a:rPr>
              <a:t>HỘP QUÀ 2</a:t>
            </a:r>
          </a:p>
        </p:txBody>
      </p:sp>
      <p:sp>
        <p:nvSpPr>
          <p:cNvPr id="10" name="TextBox 9"/>
          <p:cNvSpPr txBox="1"/>
          <p:nvPr/>
        </p:nvSpPr>
        <p:spPr>
          <a:xfrm>
            <a:off x="786384" y="4142232"/>
            <a:ext cx="10616184" cy="63093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Loại thuế mà người bán “cộng hộ” vào giá bán để người mua gánh chịu là thuế gì?</a:t>
            </a:r>
          </a:p>
        </p:txBody>
      </p:sp>
      <p:sp>
        <p:nvSpPr>
          <p:cNvPr id="11" name="Rounded Rectangle 10"/>
          <p:cNvSpPr/>
          <p:nvPr/>
        </p:nvSpPr>
        <p:spPr>
          <a:xfrm>
            <a:off x="548640" y="5038344"/>
            <a:ext cx="11091672" cy="1234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5184648"/>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6C222A"/>
                </a:solidFill>
                <a:latin typeface="Calibri"/>
              </a:rPr>
              <a:t>HỘP QUÀ 3</a:t>
            </a:r>
          </a:p>
        </p:txBody>
      </p:sp>
      <p:sp>
        <p:nvSpPr>
          <p:cNvPr id="13" name="TextBox 12"/>
          <p:cNvSpPr txBox="1"/>
          <p:nvPr/>
        </p:nvSpPr>
        <p:spPr>
          <a:xfrm>
            <a:off x="786384" y="5495544"/>
            <a:ext cx="10616184" cy="63093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Kể tên loại thuế đánh vào các mặt hàng như rượu, bia, thuốc lá, ô tô?</a:t>
            </a:r>
          </a:p>
        </p:txBody>
      </p:sp>
      <p:sp>
        <p:nvSpPr>
          <p:cNvPr id="14" name="Rectangle 13"/>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Khởi động</a:t>
            </a:r>
          </a:p>
        </p:txBody>
      </p:sp>
      <p:sp>
        <p:nvSpPr>
          <p:cNvPr id="16" name="TextBox 15"/>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KHỞI ĐỘNG · HỘP QUÀ</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Hộp quà số 4 – 5 và đáp án</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05156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47802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6C222A"/>
                </a:solidFill>
                <a:latin typeface="Calibri"/>
              </a:rPr>
              <a:t>HỘP QUÀ 4</a:t>
            </a:r>
          </a:p>
        </p:txBody>
      </p:sp>
      <p:sp>
        <p:nvSpPr>
          <p:cNvPr id="7" name="TextBox 6"/>
          <p:cNvSpPr txBox="1"/>
          <p:nvPr/>
        </p:nvSpPr>
        <p:spPr>
          <a:xfrm>
            <a:off x="786384" y="2788920"/>
            <a:ext cx="10616184" cy="44805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Doanh nghiệp phải nộp thuế nào tính trên phần lợi nhuận thu được sau khi kinh doanh?</a:t>
            </a:r>
          </a:p>
        </p:txBody>
      </p:sp>
      <p:sp>
        <p:nvSpPr>
          <p:cNvPr id="8" name="Rounded Rectangle 7"/>
          <p:cNvSpPr/>
          <p:nvPr/>
        </p:nvSpPr>
        <p:spPr>
          <a:xfrm>
            <a:off x="548640" y="3520440"/>
            <a:ext cx="11091672" cy="105156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366674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6C222A"/>
                </a:solidFill>
                <a:latin typeface="Calibri"/>
              </a:rPr>
              <a:t>HỘP QUÀ 5</a:t>
            </a:r>
          </a:p>
        </p:txBody>
      </p:sp>
      <p:sp>
        <p:nvSpPr>
          <p:cNvPr id="10" name="TextBox 9"/>
          <p:cNvSpPr txBox="1"/>
          <p:nvPr/>
        </p:nvSpPr>
        <p:spPr>
          <a:xfrm>
            <a:off x="786384" y="3977640"/>
            <a:ext cx="10616184" cy="44805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Ai là người có nghĩa vụ phải nộp thuế theo quy định của pháp luật?</a:t>
            </a:r>
          </a:p>
        </p:txBody>
      </p:sp>
      <p:sp>
        <p:nvSpPr>
          <p:cNvPr id="11" name="Rounded Rectangle 10"/>
          <p:cNvSpPr/>
          <p:nvPr/>
        </p:nvSpPr>
        <p:spPr>
          <a:xfrm>
            <a:off x="548640" y="4709160"/>
            <a:ext cx="11091672" cy="1417320"/>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709160"/>
            <a:ext cx="82296" cy="141732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4873752"/>
            <a:ext cx="10671048" cy="365760"/>
          </a:xfrm>
          <a:prstGeom prst="rect">
            <a:avLst/>
          </a:prstGeom>
          <a:noFill/>
        </p:spPr>
        <p:txBody>
          <a:bodyPr wrap="square" anchor="t" lIns="0" rIns="0" tIns="0" bIns="0">
            <a:spAutoFit/>
          </a:bodyPr>
          <a:lstStyle/>
          <a:p>
            <a:pPr algn="l">
              <a:lnSpc>
                <a:spcPct val="100000"/>
              </a:lnSpc>
              <a:spcAft>
                <a:spcPts val="0"/>
              </a:spcAft>
            </a:pPr>
            <a:r>
              <a:rPr sz="1300" b="1" i="0">
                <a:solidFill>
                  <a:srgbClr val="1F3B57"/>
                </a:solidFill>
                <a:latin typeface="Calibri"/>
              </a:rPr>
              <a:t>ĐÁP ÁN 5 HỘP QUÀ</a:t>
            </a:r>
          </a:p>
        </p:txBody>
      </p:sp>
      <p:sp>
        <p:nvSpPr>
          <p:cNvPr id="14" name="TextBox 13"/>
          <p:cNvSpPr txBox="1"/>
          <p:nvPr/>
        </p:nvSpPr>
        <p:spPr>
          <a:xfrm>
            <a:off x="786384" y="5239512"/>
            <a:ext cx="10671048" cy="758952"/>
          </a:xfrm>
          <a:prstGeom prst="rect">
            <a:avLst/>
          </a:prstGeom>
          <a:noFill/>
        </p:spPr>
        <p:txBody>
          <a:bodyPr wrap="square" anchor="t" lIns="0" rIns="0" tIns="0" bIns="0">
            <a:spAutoFit/>
          </a:bodyPr>
          <a:lstStyle/>
          <a:p>
            <a:pPr algn="l">
              <a:lnSpc>
                <a:spcPct val="114000"/>
              </a:lnSpc>
              <a:spcAft>
                <a:spcPts val="0"/>
              </a:spcAft>
            </a:pPr>
            <a:r>
              <a:rPr sz="1250" b="0" i="0">
                <a:solidFill>
                  <a:srgbClr val="2A2522"/>
                </a:solidFill>
                <a:latin typeface="Calibri"/>
              </a:rPr>
              <a:t>1) Thuế thu nhập cá nhân   2) Thuế gián thu (VD: thuế GTGT)   3) Thuế tiêu thụ đặc biệt</a:t>
            </a:r>
          </a:p>
          <a:p>
            <a:pPr algn="l">
              <a:lnSpc>
                <a:spcPct val="114000"/>
              </a:lnSpc>
              <a:spcAft>
                <a:spcPts val="0"/>
              </a:spcAft>
            </a:pPr>
            <a:r>
              <a:rPr sz="1250" b="0" i="0">
                <a:solidFill>
                  <a:srgbClr val="2A2522"/>
                </a:solidFill>
                <a:latin typeface="Calibri"/>
              </a:rPr>
              <a:t>4) Thuế thu nhập doanh nghiệp   5) Tổ chức, hộ gia đình, hộ kinh doanh, cá nhân có thu nhập/hoạt động kinh doanh, tiêu dùng thuộc đối tượng chịu thuế.</a:t>
            </a:r>
          </a:p>
        </p:txBody>
      </p:sp>
      <p:sp>
        <p:nvSpPr>
          <p:cNvPr id="15" name="Rectangle 14"/>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Khởi động</a:t>
            </a:r>
          </a:p>
        </p:txBody>
      </p:sp>
      <p:sp>
        <p:nvSpPr>
          <p:cNvPr id="17" name="TextBox 16"/>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73344"/>
                </a:solidFill>
                <a:latin typeface="Calibri"/>
              </a:rPr>
              <a:t>GỢI MỞ</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Vì sao mỗi loại hàng hoá lại “gánh” thuế khác nhau?</a:t>
            </a:r>
          </a:p>
        </p:txBody>
      </p:sp>
      <p:sp>
        <p:nvSpPr>
          <p:cNvPr id="4" name="Rectangle 3"/>
          <p:cNvSpPr/>
          <p:nvPr/>
        </p:nvSpPr>
        <p:spPr>
          <a:xfrm>
            <a:off x="548640" y="1472184"/>
            <a:ext cx="822960" cy="40640"/>
          </a:xfrm>
          <a:prstGeom prst="rect">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64592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532888"/>
            <a:ext cx="548640" cy="548640"/>
          </a:xfrm>
          <a:prstGeom prst="rect">
            <a:avLst/>
          </a:prstGeom>
          <a:noFill/>
        </p:spPr>
        <p:txBody>
          <a:bodyPr wrap="square" anchor="t" lIns="0" rIns="0" tIns="0" bIns="0">
            <a:spAutoFit/>
          </a:bodyPr>
          <a:lstStyle/>
          <a:p>
            <a:pPr algn="l">
              <a:lnSpc>
                <a:spcPct val="100000"/>
              </a:lnSpc>
              <a:spcAft>
                <a:spcPts val="0"/>
              </a:spcAft>
            </a:pPr>
            <a:r>
              <a:rPr sz="4400" b="1" i="0">
                <a:solidFill>
                  <a:srgbClr val="C78A2E"/>
                </a:solidFill>
                <a:latin typeface="Georgia"/>
              </a:rPr>
              <a:t>“</a:t>
            </a:r>
          </a:p>
        </p:txBody>
      </p:sp>
      <p:sp>
        <p:nvSpPr>
          <p:cNvPr id="7" name="TextBox 6"/>
          <p:cNvSpPr txBox="1"/>
          <p:nvPr/>
        </p:nvSpPr>
        <p:spPr>
          <a:xfrm>
            <a:off x="1371600" y="2587752"/>
            <a:ext cx="9902952" cy="822960"/>
          </a:xfrm>
          <a:prstGeom prst="rect">
            <a:avLst/>
          </a:prstGeom>
          <a:noFill/>
        </p:spPr>
        <p:txBody>
          <a:bodyPr wrap="square" anchor="t" lIns="0" rIns="0" tIns="0" bIns="0">
            <a:spAutoFit/>
          </a:bodyPr>
          <a:lstStyle/>
          <a:p>
            <a:pPr algn="l">
              <a:lnSpc>
                <a:spcPct val="115000"/>
              </a:lnSpc>
              <a:spcAft>
                <a:spcPts val="0"/>
              </a:spcAft>
            </a:pPr>
            <a:r>
              <a:rPr sz="1700" b="0" i="1">
                <a:solidFill>
                  <a:srgbClr val="1F3B57"/>
                </a:solidFill>
                <a:latin typeface="Georgia"/>
              </a:rPr>
              <a:t>Ở Tiết 1, chúng ta đã biết: Thuế là khoản thu bắt buộc vào ngân sách nhà nước theo luật định. Nhưng vì sao mua rượu, mua xăng lại phải trả thêm nhiều thuế hơn mua rau, mua gạo? Và nếu một người cố tình không khai báo thu nhập để trốn thuế thì điều gì sẽ xảy ra?</a:t>
            </a:r>
          </a:p>
        </p:txBody>
      </p:sp>
      <p:sp>
        <p:nvSpPr>
          <p:cNvPr id="8" name="TextBox 7"/>
          <p:cNvSpPr txBox="1"/>
          <p:nvPr/>
        </p:nvSpPr>
        <p:spPr>
          <a:xfrm>
            <a:off x="1371600" y="3520440"/>
            <a:ext cx="9902952" cy="320040"/>
          </a:xfrm>
          <a:prstGeom prst="rect">
            <a:avLst/>
          </a:prstGeom>
          <a:noFill/>
        </p:spPr>
        <p:txBody>
          <a:bodyPr wrap="square" anchor="t" lIns="0" rIns="0" tIns="0" bIns="0">
            <a:spAutoFit/>
          </a:bodyPr>
          <a:lstStyle/>
          <a:p>
            <a:pPr algn="l">
              <a:lnSpc>
                <a:spcPct val="100000"/>
              </a:lnSpc>
              <a:spcAft>
                <a:spcPts val="0"/>
              </a:spcAft>
            </a:pPr>
            <a:r>
              <a:rPr sz="1250" b="1" i="0">
                <a:solidFill>
                  <a:srgbClr val="5B554E"/>
                </a:solidFill>
                <a:latin typeface="Calibri"/>
              </a:rPr>
              <a:t>— Dẫn vào nội dung Tiết 2</a:t>
            </a:r>
          </a:p>
        </p:txBody>
      </p:sp>
      <p:sp>
        <p:nvSpPr>
          <p:cNvPr id="9" name="TextBox 8"/>
          <p:cNvSpPr txBox="1"/>
          <p:nvPr/>
        </p:nvSpPr>
        <p:spPr>
          <a:xfrm>
            <a:off x="548640" y="4251960"/>
            <a:ext cx="11091672" cy="1737360"/>
          </a:xfrm>
          <a:prstGeom prst="rect">
            <a:avLst/>
          </a:prstGeom>
          <a:noFill/>
        </p:spPr>
        <p:txBody>
          <a:bodyPr wrap="square" lIns="0" rIns="0" tIns="0" bIns="0">
            <a:spAutoFit/>
          </a:bodyPr>
          <a:lstStyle/>
          <a:p>
            <a:pPr>
              <a:lnSpc>
                <a:spcPct val="112000"/>
              </a:lnSpc>
              <a:spcAft>
                <a:spcPts val="800"/>
              </a:spcAft>
            </a:pPr>
            <a:r>
              <a:rPr sz="1500" b="1">
                <a:solidFill>
                  <a:srgbClr val="173344"/>
                </a:solidFill>
                <a:latin typeface="Calibri"/>
              </a:rPr>
              <a:t>▪  </a:t>
            </a:r>
            <a:r>
              <a:rPr sz="1500">
                <a:solidFill>
                  <a:srgbClr val="2A2522"/>
                </a:solidFill>
                <a:latin typeface="Calibri"/>
              </a:rPr>
              <a:t>Có bao nhiêu cách phân loại thuế mà em biết?</a:t>
            </a:r>
          </a:p>
          <a:p>
            <a:pPr>
              <a:lnSpc>
                <a:spcPct val="112000"/>
              </a:lnSpc>
              <a:spcAft>
                <a:spcPts val="800"/>
              </a:spcAft>
            </a:pPr>
            <a:r>
              <a:rPr sz="1500" b="1">
                <a:solidFill>
                  <a:srgbClr val="173344"/>
                </a:solidFill>
                <a:latin typeface="Calibri"/>
              </a:rPr>
              <a:t>▪  </a:t>
            </a:r>
            <a:r>
              <a:rPr sz="1500">
                <a:solidFill>
                  <a:srgbClr val="2A2522"/>
                </a:solidFill>
                <a:latin typeface="Calibri"/>
              </a:rPr>
              <a:t>Công dân có những quyền và nghĩa vụ gì khi thực hiện pháp luật về thuế?</a:t>
            </a:r>
          </a:p>
        </p:txBody>
      </p:sp>
      <p:sp>
        <p:nvSpPr>
          <p:cNvPr id="10" name="Rectangle 9"/>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Gợi mở</a:t>
            </a:r>
          </a:p>
        </p:txBody>
      </p:sp>
      <p:sp>
        <p:nvSpPr>
          <p:cNvPr id="12" name="TextBox 11"/>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3263A"/>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224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C78A2E"/>
                </a:solidFill>
                <a:latin typeface="Calibri"/>
              </a:rPr>
              <a:t>BÀI 6 (TIẾP THEO)</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5400" b="1" i="0">
                <a:solidFill>
                  <a:srgbClr val="FFFFFF"/>
                </a:solidFill>
                <a:latin typeface="Georgia"/>
              </a:rPr>
              <a:t>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Tiết 2: Các loại thuế – Quyền và nghĩa vụ của công dân</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2</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73344"/>
                </a:solidFill>
                <a:latin typeface="Calibri"/>
              </a:rPr>
              <a:t>MỤC TIÊU BÀI HỌC · TIẾT 2</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Sau tiết học, em sẽ...</a:t>
            </a:r>
          </a:p>
        </p:txBody>
      </p:sp>
      <p:sp>
        <p:nvSpPr>
          <p:cNvPr id="4" name="Rectangle 3"/>
          <p:cNvSpPr/>
          <p:nvPr/>
        </p:nvSpPr>
        <p:spPr>
          <a:xfrm>
            <a:off x="548640" y="1472184"/>
            <a:ext cx="822960" cy="40640"/>
          </a:xfrm>
          <a:prstGeom prst="rect">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3538728" cy="352044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14600"/>
            <a:ext cx="420624" cy="420624"/>
          </a:xfrm>
          <a:prstGeom prst="ellipse">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KT</a:t>
            </a:r>
          </a:p>
        </p:txBody>
      </p:sp>
      <p:sp>
        <p:nvSpPr>
          <p:cNvPr id="7" name="TextBox 6"/>
          <p:cNvSpPr txBox="1"/>
          <p:nvPr/>
        </p:nvSpPr>
        <p:spPr>
          <a:xfrm>
            <a:off x="731520" y="300837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Kiến thức</a:t>
            </a:r>
          </a:p>
        </p:txBody>
      </p:sp>
      <p:sp>
        <p:nvSpPr>
          <p:cNvPr id="8" name="TextBox 7"/>
          <p:cNvSpPr txBox="1"/>
          <p:nvPr/>
        </p:nvSpPr>
        <p:spPr>
          <a:xfrm>
            <a:off x="731520" y="3355848"/>
            <a:ext cx="3172968"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Kể tên và phân biệt được các loại thuế phổ biến (thuế trực thu, thuế gián thu); nêu được quy định cơ bản về quyền và nghĩa vụ của công dân trong thực hiện pháp luật thuế.</a:t>
            </a:r>
          </a:p>
        </p:txBody>
      </p:sp>
      <p:sp>
        <p:nvSpPr>
          <p:cNvPr id="9" name="Rounded Rectangle 8"/>
          <p:cNvSpPr/>
          <p:nvPr/>
        </p:nvSpPr>
        <p:spPr>
          <a:xfrm>
            <a:off x="4315968" y="2331720"/>
            <a:ext cx="3538728" cy="35204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98848" y="251460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NL</a:t>
            </a:r>
          </a:p>
        </p:txBody>
      </p:sp>
      <p:sp>
        <p:nvSpPr>
          <p:cNvPr id="11" name="TextBox 10"/>
          <p:cNvSpPr txBox="1"/>
          <p:nvPr/>
        </p:nvSpPr>
        <p:spPr>
          <a:xfrm>
            <a:off x="4498848" y="300837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Năng lực</a:t>
            </a:r>
          </a:p>
        </p:txBody>
      </p:sp>
      <p:sp>
        <p:nvSpPr>
          <p:cNvPr id="12" name="TextBox 11"/>
          <p:cNvSpPr txBox="1"/>
          <p:nvPr/>
        </p:nvSpPr>
        <p:spPr>
          <a:xfrm>
            <a:off x="4498848" y="3355848"/>
            <a:ext cx="3172968"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Điều chỉnh hành vi: ủng hộ hành vi chấp hành pháp luật thuế, phê phán hành vi trốn thuế.</a:t>
            </a:r>
          </a:p>
          <a:p>
            <a:pPr algn="l">
              <a:lnSpc>
                <a:spcPct val="108000"/>
              </a:lnSpc>
              <a:spcAft>
                <a:spcPts val="0"/>
              </a:spcAft>
            </a:pPr>
            <a:r>
              <a:rPr sz="1250" b="0" i="0">
                <a:solidFill>
                  <a:srgbClr val="2A2522"/>
                </a:solidFill>
                <a:latin typeface="Calibri"/>
              </a:rPr>
              <a:t/>
            </a:r>
          </a:p>
          <a:p>
            <a:pPr algn="l">
              <a:lnSpc>
                <a:spcPct val="108000"/>
              </a:lnSpc>
              <a:spcAft>
                <a:spcPts val="0"/>
              </a:spcAft>
            </a:pPr>
            <a:r>
              <a:rPr sz="1250" b="0" i="0">
                <a:solidFill>
                  <a:srgbClr val="2A2522"/>
                </a:solidFill>
                <a:latin typeface="Calibri"/>
              </a:rPr>
              <a:t>Tìm hiểu và tham gia hoạt động KT–XH: nhận diện các loại thuế, xử lí tình huống pháp luật thuế.</a:t>
            </a:r>
          </a:p>
        </p:txBody>
      </p:sp>
      <p:sp>
        <p:nvSpPr>
          <p:cNvPr id="13" name="Rounded Rectangle 12"/>
          <p:cNvSpPr/>
          <p:nvPr/>
        </p:nvSpPr>
        <p:spPr>
          <a:xfrm>
            <a:off x="8083296" y="2331720"/>
            <a:ext cx="3557016" cy="3520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66176" y="251460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PC</a:t>
            </a:r>
          </a:p>
        </p:txBody>
      </p:sp>
      <p:sp>
        <p:nvSpPr>
          <p:cNvPr id="15" name="TextBox 14"/>
          <p:cNvSpPr txBox="1"/>
          <p:nvPr/>
        </p:nvSpPr>
        <p:spPr>
          <a:xfrm>
            <a:off x="8266176" y="3008376"/>
            <a:ext cx="3191256"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Phẩm chất</a:t>
            </a:r>
          </a:p>
        </p:txBody>
      </p:sp>
      <p:sp>
        <p:nvSpPr>
          <p:cNvPr id="16" name="TextBox 15"/>
          <p:cNvSpPr txBox="1"/>
          <p:nvPr/>
        </p:nvSpPr>
        <p:spPr>
          <a:xfrm>
            <a:off x="8266176" y="3355848"/>
            <a:ext cx="3191256"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Trách nhiệm, trung thực trong việc thực hiện nghĩa vụ thuế của bản thân và gia đình khi trưởng thành, tham gia lao động, kinh doanh.</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Mục tiêu</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73344"/>
                </a:solidFill>
                <a:latin typeface="Calibri"/>
              </a:rPr>
              <a:t>KHÁM PHÁ 1 · PHÂN LOẠI THUẾ</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trực thu là gì?</a:t>
            </a:r>
          </a:p>
        </p:txBody>
      </p:sp>
      <p:sp>
        <p:nvSpPr>
          <p:cNvPr id="4" name="Rectangle 3"/>
          <p:cNvSpPr/>
          <p:nvPr/>
        </p:nvSpPr>
        <p:spPr>
          <a:xfrm>
            <a:off x="548640" y="1472184"/>
            <a:ext cx="822960" cy="40640"/>
          </a:xfrm>
          <a:prstGeom prst="rect">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11091672" cy="160020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377440"/>
            <a:ext cx="82296" cy="1600200"/>
          </a:xfrm>
          <a:prstGeom prst="rect">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542032"/>
            <a:ext cx="10671048" cy="365760"/>
          </a:xfrm>
          <a:prstGeom prst="rect">
            <a:avLst/>
          </a:prstGeom>
          <a:noFill/>
        </p:spPr>
        <p:txBody>
          <a:bodyPr wrap="square" anchor="t" lIns="0" rIns="0" tIns="0" bIns="0">
            <a:spAutoFit/>
          </a:bodyPr>
          <a:lstStyle/>
          <a:p>
            <a:pPr algn="l">
              <a:lnSpc>
                <a:spcPct val="100000"/>
              </a:lnSpc>
              <a:spcAft>
                <a:spcPts val="0"/>
              </a:spcAft>
            </a:pPr>
            <a:r>
              <a:rPr sz="1300" b="1" i="0">
                <a:solidFill>
                  <a:srgbClr val="1F3B57"/>
                </a:solidFill>
                <a:latin typeface="Calibri"/>
              </a:rPr>
              <a:t>ĐỊNH NGHĨA</a:t>
            </a:r>
          </a:p>
        </p:txBody>
      </p:sp>
      <p:sp>
        <p:nvSpPr>
          <p:cNvPr id="8" name="TextBox 7"/>
          <p:cNvSpPr txBox="1"/>
          <p:nvPr/>
        </p:nvSpPr>
        <p:spPr>
          <a:xfrm>
            <a:off x="786384" y="2907792"/>
            <a:ext cx="10671048" cy="94183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Thuế trực thu là loại thuế điều tiết trực tiếp vào thu nhập hoặc tài sản của người nộp thuế; người nộp thuế đồng thời là người chịu thuế, không thể chuyển gánh nặng thuế cho người khác.</a:t>
            </a:r>
          </a:p>
        </p:txBody>
      </p:sp>
      <p:sp>
        <p:nvSpPr>
          <p:cNvPr id="9" name="Rounded Rectangle 8"/>
          <p:cNvSpPr/>
          <p:nvPr/>
        </p:nvSpPr>
        <p:spPr>
          <a:xfrm>
            <a:off x="548640" y="4160520"/>
            <a:ext cx="11091672" cy="160020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4343400"/>
            <a:ext cx="420624" cy="420624"/>
          </a:xfrm>
          <a:prstGeom prst="ellipse">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VD</a:t>
            </a:r>
          </a:p>
        </p:txBody>
      </p:sp>
      <p:sp>
        <p:nvSpPr>
          <p:cNvPr id="11" name="TextBox 10"/>
          <p:cNvSpPr txBox="1"/>
          <p:nvPr/>
        </p:nvSpPr>
        <p:spPr>
          <a:xfrm>
            <a:off x="731520" y="4837176"/>
            <a:ext cx="10725912"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Ví dụ thường gặp</a:t>
            </a:r>
          </a:p>
        </p:txBody>
      </p:sp>
      <p:sp>
        <p:nvSpPr>
          <p:cNvPr id="12" name="TextBox 11"/>
          <p:cNvSpPr txBox="1"/>
          <p:nvPr/>
        </p:nvSpPr>
        <p:spPr>
          <a:xfrm>
            <a:off x="731520" y="5184648"/>
            <a:ext cx="10725912" cy="512064"/>
          </a:xfrm>
          <a:prstGeom prst="rect">
            <a:avLst/>
          </a:prstGeom>
          <a:noFill/>
        </p:spPr>
        <p:txBody>
          <a:bodyPr wrap="square" anchor="t" lIns="0" rIns="0" tIns="0" bIns="0">
            <a:spAutoFit/>
          </a:bodyPr>
          <a:lstStyle/>
          <a:p>
            <a:pPr algn="l">
              <a:lnSpc>
                <a:spcPct val="108000"/>
              </a:lnSpc>
              <a:spcAft>
                <a:spcPts val="0"/>
              </a:spcAft>
            </a:pPr>
            <a:r>
              <a:rPr sz="1350" b="0" i="0">
                <a:solidFill>
                  <a:srgbClr val="2A2522"/>
                </a:solidFill>
                <a:latin typeface="Calibri"/>
              </a:rPr>
              <a:t>Thuế thu nhập cá nhân (TNCN) – Thuế thu nhập doanh nghiệp (TNDN) – Thuế sử dụng đất nông nghiệp – Thuế sử dụng đất phi nông nghiệp.</a:t>
            </a:r>
          </a:p>
        </p:txBody>
      </p:sp>
      <p:sp>
        <p:nvSpPr>
          <p:cNvPr id="13" name="Rectangle 12"/>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Khám phá</a:t>
            </a:r>
          </a:p>
        </p:txBody>
      </p:sp>
      <p:sp>
        <p:nvSpPr>
          <p:cNvPr id="15" name="TextBox 14"/>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KHÁM PHÁ 2 · PHÂN LOẠI THUẾ</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gián thu là gì?</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11091672" cy="173736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377440"/>
            <a:ext cx="82296" cy="173736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542032"/>
            <a:ext cx="10671048" cy="365760"/>
          </a:xfrm>
          <a:prstGeom prst="rect">
            <a:avLst/>
          </a:prstGeom>
          <a:noFill/>
        </p:spPr>
        <p:txBody>
          <a:bodyPr wrap="square" anchor="t" lIns="0" rIns="0" tIns="0" bIns="0">
            <a:spAutoFit/>
          </a:bodyPr>
          <a:lstStyle/>
          <a:p>
            <a:pPr algn="l">
              <a:lnSpc>
                <a:spcPct val="100000"/>
              </a:lnSpc>
              <a:spcAft>
                <a:spcPts val="0"/>
              </a:spcAft>
            </a:pPr>
            <a:r>
              <a:rPr sz="1300" b="1" i="0">
                <a:solidFill>
                  <a:srgbClr val="1F3B57"/>
                </a:solidFill>
                <a:latin typeface="Calibri"/>
              </a:rPr>
              <a:t>ĐỊNH NGHĨA</a:t>
            </a:r>
          </a:p>
        </p:txBody>
      </p:sp>
      <p:sp>
        <p:nvSpPr>
          <p:cNvPr id="8" name="TextBox 7"/>
          <p:cNvSpPr txBox="1"/>
          <p:nvPr/>
        </p:nvSpPr>
        <p:spPr>
          <a:xfrm>
            <a:off x="786384" y="2907792"/>
            <a:ext cx="10671048" cy="107899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Thuế gián thu là loại thuế không đánh trực tiếp vào thu nhập, tài sản mà đánh vào hàng hoá, dịch vụ, được cộng vào giá bán. Người tiêu dùng là người thực tế chịu thuế, còn người bán chỉ là người nộp hộ vào ngân sách nhà nước.</a:t>
            </a:r>
          </a:p>
        </p:txBody>
      </p:sp>
      <p:sp>
        <p:nvSpPr>
          <p:cNvPr id="9" name="Rounded Rectangle 8"/>
          <p:cNvSpPr/>
          <p:nvPr/>
        </p:nvSpPr>
        <p:spPr>
          <a:xfrm>
            <a:off x="548640" y="4297680"/>
            <a:ext cx="11091672" cy="160020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448056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VD</a:t>
            </a:r>
          </a:p>
        </p:txBody>
      </p:sp>
      <p:sp>
        <p:nvSpPr>
          <p:cNvPr id="11" name="TextBox 10"/>
          <p:cNvSpPr txBox="1"/>
          <p:nvPr/>
        </p:nvSpPr>
        <p:spPr>
          <a:xfrm>
            <a:off x="731520" y="4974336"/>
            <a:ext cx="10725912"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Ví dụ thường gặp</a:t>
            </a:r>
          </a:p>
        </p:txBody>
      </p:sp>
      <p:sp>
        <p:nvSpPr>
          <p:cNvPr id="12" name="TextBox 11"/>
          <p:cNvSpPr txBox="1"/>
          <p:nvPr/>
        </p:nvSpPr>
        <p:spPr>
          <a:xfrm>
            <a:off x="731520" y="5321808"/>
            <a:ext cx="10725912" cy="512064"/>
          </a:xfrm>
          <a:prstGeom prst="rect">
            <a:avLst/>
          </a:prstGeom>
          <a:noFill/>
        </p:spPr>
        <p:txBody>
          <a:bodyPr wrap="square" anchor="t" lIns="0" rIns="0" tIns="0" bIns="0">
            <a:spAutoFit/>
          </a:bodyPr>
          <a:lstStyle/>
          <a:p>
            <a:pPr algn="l">
              <a:lnSpc>
                <a:spcPct val="108000"/>
              </a:lnSpc>
              <a:spcAft>
                <a:spcPts val="0"/>
              </a:spcAft>
            </a:pPr>
            <a:r>
              <a:rPr sz="1350" b="0" i="0">
                <a:solidFill>
                  <a:srgbClr val="2A2522"/>
                </a:solidFill>
                <a:latin typeface="Calibri"/>
              </a:rPr>
              <a:t>Thuế giá trị gia tăng (GTGT) – Thuế tiêu thụ đặc biệt (TTĐB) – Thuế xuất khẩu, nhập khẩu – Thuế bảo vệ môi trường.</a:t>
            </a:r>
          </a:p>
        </p:txBody>
      </p:sp>
      <p:sp>
        <p:nvSpPr>
          <p:cNvPr id="13" name="Rectangle 12"/>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Khám phá</a:t>
            </a:r>
          </a:p>
        </p:txBody>
      </p:sp>
      <p:sp>
        <p:nvSpPr>
          <p:cNvPr id="15" name="TextBox 14"/>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3 · SO SÁNH</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trực thu và thuế gián thu</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2423160"/>
          <a:ext cx="11091672" cy="3017520"/>
        </p:xfrm>
        <a:graphic>
          <a:graphicData uri="http://schemas.openxmlformats.org/drawingml/2006/table">
            <a:tbl>
              <a:tblPr firstRow="1" bandRow="1">
                <a:tableStyleId>{5C22544A-7EE6-4342-B048-85BDC9FD1C3A}</a:tableStyleId>
              </a:tblPr>
              <a:tblGrid>
                <a:gridCol w="3697224"/>
                <a:gridCol w="3697224"/>
                <a:gridCol w="3697224"/>
              </a:tblGrid>
              <a:tr h="754380">
                <a:tc>
                  <a:txBody>
                    <a:bodyPr/>
                    <a:lstStyle/>
                    <a:p>
                      <a:pPr algn="ctr"/>
                      <a:r>
                        <a:rPr b="1" sz="1400">
                          <a:solidFill>
                            <a:srgbClr val="FFFFFF"/>
                          </a:solidFill>
                          <a:latin typeface="Calibri"/>
                        </a:rPr>
                        <a:t>Tiêu chí</a:t>
                      </a:r>
                    </a:p>
                  </a:txBody>
                  <a:tcPr anchor="ctr">
                    <a:solidFill>
                      <a:srgbClr val="1F3B57"/>
                    </a:solidFill>
                  </a:tcPr>
                </a:tc>
                <a:tc>
                  <a:txBody>
                    <a:bodyPr/>
                    <a:lstStyle/>
                    <a:p>
                      <a:pPr algn="ctr"/>
                      <a:r>
                        <a:rPr b="1" sz="1400">
                          <a:solidFill>
                            <a:srgbClr val="FFFFFF"/>
                          </a:solidFill>
                          <a:latin typeface="Calibri"/>
                        </a:rPr>
                        <a:t>Thuế trực thu</a:t>
                      </a:r>
                    </a:p>
                  </a:txBody>
                  <a:tcPr anchor="ctr">
                    <a:solidFill>
                      <a:srgbClr val="1F3B57"/>
                    </a:solidFill>
                  </a:tcPr>
                </a:tc>
                <a:tc>
                  <a:txBody>
                    <a:bodyPr/>
                    <a:lstStyle/>
                    <a:p>
                      <a:pPr algn="ctr"/>
                      <a:r>
                        <a:rPr b="1" sz="1400">
                          <a:solidFill>
                            <a:srgbClr val="FFFFFF"/>
                          </a:solidFill>
                          <a:latin typeface="Calibri"/>
                        </a:rPr>
                        <a:t>Thuế gián thu</a:t>
                      </a:r>
                    </a:p>
                  </a:txBody>
                  <a:tcPr anchor="ctr">
                    <a:solidFill>
                      <a:srgbClr val="1F3B57"/>
                    </a:solidFill>
                  </a:tcPr>
                </a:tc>
              </a:tr>
              <a:tr h="754380">
                <a:tc>
                  <a:txBody>
                    <a:bodyPr/>
                    <a:lstStyle/>
                    <a:p>
                      <a:pPr algn="ctr"/>
                      <a:r>
                        <a:rPr sz="1300" b="1">
                          <a:solidFill>
                            <a:srgbClr val="2A2522"/>
                          </a:solidFill>
                          <a:latin typeface="Calibri"/>
                        </a:rPr>
                        <a:t>Đối tượng chịu thuế</a:t>
                      </a:r>
                    </a:p>
                  </a:txBody>
                  <a:tcPr anchor="ctr">
                    <a:solidFill>
                      <a:srgbClr val="FFFFFF"/>
                    </a:solidFill>
                  </a:tcPr>
                </a:tc>
                <a:tc>
                  <a:txBody>
                    <a:bodyPr/>
                    <a:lstStyle/>
                    <a:p>
                      <a:pPr algn="l"/>
                      <a:r>
                        <a:rPr sz="1300" b="0">
                          <a:solidFill>
                            <a:srgbClr val="2A2522"/>
                          </a:solidFill>
                          <a:latin typeface="Calibri"/>
                        </a:rPr>
                        <a:t>Người nộp thuế = người chịu thuế</a:t>
                      </a:r>
                    </a:p>
                  </a:txBody>
                  <a:tcPr anchor="ctr">
                    <a:solidFill>
                      <a:srgbClr val="FFFFFF"/>
                    </a:solidFill>
                  </a:tcPr>
                </a:tc>
                <a:tc>
                  <a:txBody>
                    <a:bodyPr/>
                    <a:lstStyle/>
                    <a:p>
                      <a:pPr algn="l"/>
                      <a:r>
                        <a:rPr sz="1300" b="0">
                          <a:solidFill>
                            <a:srgbClr val="2A2522"/>
                          </a:solidFill>
                          <a:latin typeface="Calibri"/>
                        </a:rPr>
                        <a:t>Người tiêu dùng chịu thuế; người bán nộp hộ</a:t>
                      </a:r>
                    </a:p>
                  </a:txBody>
                  <a:tcPr anchor="ctr">
                    <a:solidFill>
                      <a:srgbClr val="FFFFFF"/>
                    </a:solidFill>
                  </a:tcPr>
                </a:tc>
              </a:tr>
              <a:tr h="754380">
                <a:tc>
                  <a:txBody>
                    <a:bodyPr/>
                    <a:lstStyle/>
                    <a:p>
                      <a:pPr algn="ctr"/>
                      <a:r>
                        <a:rPr sz="1300" b="1">
                          <a:solidFill>
                            <a:srgbClr val="2A2522"/>
                          </a:solidFill>
                          <a:latin typeface="Calibri"/>
                        </a:rPr>
                        <a:t>Cách thu</a:t>
                      </a:r>
                    </a:p>
                  </a:txBody>
                  <a:tcPr anchor="ctr">
                    <a:solidFill>
                      <a:srgbClr val="EFE7D8"/>
                    </a:solidFill>
                  </a:tcPr>
                </a:tc>
                <a:tc>
                  <a:txBody>
                    <a:bodyPr/>
                    <a:lstStyle/>
                    <a:p>
                      <a:pPr algn="l"/>
                      <a:r>
                        <a:rPr sz="1300" b="0">
                          <a:solidFill>
                            <a:srgbClr val="2A2522"/>
                          </a:solidFill>
                          <a:latin typeface="Calibri"/>
                        </a:rPr>
                        <a:t>Đánh trực tiếp vào thu nhập, tài sản</a:t>
                      </a:r>
                    </a:p>
                  </a:txBody>
                  <a:tcPr anchor="ctr">
                    <a:solidFill>
                      <a:srgbClr val="EFE7D8"/>
                    </a:solidFill>
                  </a:tcPr>
                </a:tc>
                <a:tc>
                  <a:txBody>
                    <a:bodyPr/>
                    <a:lstStyle/>
                    <a:p>
                      <a:pPr algn="l"/>
                      <a:r>
                        <a:rPr sz="1300" b="0">
                          <a:solidFill>
                            <a:srgbClr val="2A2522"/>
                          </a:solidFill>
                          <a:latin typeface="Calibri"/>
                        </a:rPr>
                        <a:t>Cộng vào giá bán hàng hoá, dịch vụ</a:t>
                      </a:r>
                    </a:p>
                  </a:txBody>
                  <a:tcPr anchor="ctr">
                    <a:solidFill>
                      <a:srgbClr val="EFE7D8"/>
                    </a:solidFill>
                  </a:tcPr>
                </a:tc>
              </a:tr>
              <a:tr h="754380">
                <a:tc>
                  <a:txBody>
                    <a:bodyPr/>
                    <a:lstStyle/>
                    <a:p>
                      <a:pPr algn="ctr"/>
                      <a:r>
                        <a:rPr sz="1300" b="1">
                          <a:solidFill>
                            <a:srgbClr val="2A2522"/>
                          </a:solidFill>
                          <a:latin typeface="Calibri"/>
                        </a:rPr>
                        <a:t>Ví dụ</a:t>
                      </a:r>
                    </a:p>
                  </a:txBody>
                  <a:tcPr anchor="ctr">
                    <a:solidFill>
                      <a:srgbClr val="FFFFFF"/>
                    </a:solidFill>
                  </a:tcPr>
                </a:tc>
                <a:tc>
                  <a:txBody>
                    <a:bodyPr/>
                    <a:lstStyle/>
                    <a:p>
                      <a:pPr algn="l"/>
                      <a:r>
                        <a:rPr sz="1300" b="0">
                          <a:solidFill>
                            <a:srgbClr val="2A2522"/>
                          </a:solidFill>
                          <a:latin typeface="Calibri"/>
                        </a:rPr>
                        <a:t>Thuế TNCN, thuế TNDN</a:t>
                      </a:r>
                    </a:p>
                  </a:txBody>
                  <a:tcPr anchor="ctr">
                    <a:solidFill>
                      <a:srgbClr val="FFFFFF"/>
                    </a:solidFill>
                  </a:tcPr>
                </a:tc>
                <a:tc>
                  <a:txBody>
                    <a:bodyPr/>
                    <a:lstStyle/>
                    <a:p>
                      <a:pPr algn="l"/>
                      <a:r>
                        <a:rPr sz="1300" b="0">
                          <a:solidFill>
                            <a:srgbClr val="2A2522"/>
                          </a:solidFill>
                          <a:latin typeface="Calibri"/>
                        </a:rPr>
                        <a:t>Thuế GTGT, thuế TTĐB, thuế xuất – nhập khẩu</a:t>
                      </a:r>
                    </a:p>
                  </a:txBody>
                  <a:tcPr anchor="ctr">
                    <a:solidFill>
                      <a:srgbClr val="FFFFFF"/>
                    </a:solidFill>
                  </a:tcPr>
                </a:tc>
              </a:tr>
            </a:tbl>
          </a:graphicData>
        </a:graphic>
      </p:graphicFrame>
      <p:sp>
        <p:nvSpPr>
          <p:cNvPr id="6" name="Rectangle 5"/>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Khám phá</a:t>
            </a:r>
          </a:p>
        </p:txBody>
      </p:sp>
      <p:sp>
        <p:nvSpPr>
          <p:cNvPr id="8" name="TextBox 7"/>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73344"/>
                </a:solidFill>
                <a:latin typeface="Calibri"/>
              </a:rPr>
              <a:t>KHÁM PHÁ 4 · QUYỀN CÔNG DÂN</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Quyền của công dân khi thực hiện pháp luật thuế</a:t>
            </a:r>
          </a:p>
        </p:txBody>
      </p:sp>
      <p:sp>
        <p:nvSpPr>
          <p:cNvPr id="4" name="Rectangle 3"/>
          <p:cNvSpPr/>
          <p:nvPr/>
        </p:nvSpPr>
        <p:spPr>
          <a:xfrm>
            <a:off x="548640" y="1472184"/>
            <a:ext cx="822960" cy="40640"/>
          </a:xfrm>
          <a:prstGeom prst="rect">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23160"/>
            <a:ext cx="11091672" cy="3566160"/>
          </a:xfrm>
          <a:prstGeom prst="rect">
            <a:avLst/>
          </a:prstGeom>
          <a:noFill/>
        </p:spPr>
        <p:txBody>
          <a:bodyPr wrap="square" lIns="0" rIns="0" tIns="0" bIns="0">
            <a:spAutoFit/>
          </a:bodyPr>
          <a:lstStyle/>
          <a:p>
            <a:pPr>
              <a:lnSpc>
                <a:spcPct val="112000"/>
              </a:lnSpc>
              <a:spcAft>
                <a:spcPts val="1400"/>
              </a:spcAft>
            </a:pPr>
            <a:r>
              <a:rPr sz="1500" b="1">
                <a:solidFill>
                  <a:srgbClr val="173344"/>
                </a:solidFill>
                <a:latin typeface="Calibri"/>
              </a:rPr>
              <a:t>▪  </a:t>
            </a:r>
            <a:r>
              <a:rPr sz="1500" b="1">
                <a:solidFill>
                  <a:srgbClr val="2A2522"/>
                </a:solidFill>
                <a:latin typeface="Calibri"/>
              </a:rPr>
              <a:t>Được hướng dẫn, cung cấp thông tin: </a:t>
            </a:r>
            <a:r>
              <a:rPr sz="1500">
                <a:solidFill>
                  <a:srgbClr val="2A2522"/>
                </a:solidFill>
                <a:latin typeface="Calibri"/>
              </a:rPr>
              <a:t>về chính sách, thủ tục thuế; được cơ quan thuế giữ bí mật thông tin theo quy định.</a:t>
            </a:r>
          </a:p>
          <a:p>
            <a:pPr>
              <a:lnSpc>
                <a:spcPct val="112000"/>
              </a:lnSpc>
              <a:spcAft>
                <a:spcPts val="1400"/>
              </a:spcAft>
            </a:pPr>
            <a:r>
              <a:rPr sz="1500" b="1">
                <a:solidFill>
                  <a:srgbClr val="173344"/>
                </a:solidFill>
                <a:latin typeface="Calibri"/>
              </a:rPr>
              <a:t>▪  </a:t>
            </a:r>
            <a:r>
              <a:rPr sz="1500" b="1">
                <a:solidFill>
                  <a:srgbClr val="2A2522"/>
                </a:solidFill>
                <a:latin typeface="Calibri"/>
              </a:rPr>
              <a:t>Được thụ hưởng lợi ích từ ngân sách: </a:t>
            </a:r>
            <a:r>
              <a:rPr sz="1500">
                <a:solidFill>
                  <a:srgbClr val="2A2522"/>
                </a:solidFill>
                <a:latin typeface="Calibri"/>
              </a:rPr>
              <a:t>các công trình, dịch vụ công (đường sá, trường học, bệnh viện, an ninh – quốc phòng...) được đầu tư từ nguồn thu thuế.</a:t>
            </a:r>
          </a:p>
          <a:p>
            <a:pPr>
              <a:lnSpc>
                <a:spcPct val="112000"/>
              </a:lnSpc>
              <a:spcAft>
                <a:spcPts val="1400"/>
              </a:spcAft>
            </a:pPr>
            <a:r>
              <a:rPr sz="1500" b="1">
                <a:solidFill>
                  <a:srgbClr val="173344"/>
                </a:solidFill>
                <a:latin typeface="Calibri"/>
              </a:rPr>
              <a:t>▪  </a:t>
            </a:r>
            <a:r>
              <a:rPr sz="1500" b="1">
                <a:solidFill>
                  <a:srgbClr val="2A2522"/>
                </a:solidFill>
                <a:latin typeface="Calibri"/>
              </a:rPr>
              <a:t>Được khiếu nại, tố cáo, khởi kiện: </a:t>
            </a:r>
            <a:r>
              <a:rPr sz="1500">
                <a:solidFill>
                  <a:srgbClr val="2A2522"/>
                </a:solidFill>
                <a:latin typeface="Calibri"/>
              </a:rPr>
              <a:t>đối với quyết định hành chính, hành vi hành chính về thuế trái pháp luật, gây thiệt hại đến quyền và lợi ích hợp pháp.</a:t>
            </a:r>
          </a:p>
        </p:txBody>
      </p:sp>
      <p:sp>
        <p:nvSpPr>
          <p:cNvPr id="6" name="Rectangle 5"/>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Khám phá</a:t>
            </a:r>
          </a:p>
        </p:txBody>
      </p:sp>
      <p:sp>
        <p:nvSpPr>
          <p:cNvPr id="8" name="TextBox 7"/>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KHÁM PHÁ 5 · NGHĨA VỤ CÔNG DÂN</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Nghĩa vụ của công dân khi thực hiện pháp luật thuế</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377440"/>
            <a:ext cx="11091672" cy="2286000"/>
          </a:xfrm>
          <a:prstGeom prst="rect">
            <a:avLst/>
          </a:prstGeom>
          <a:noFill/>
        </p:spPr>
        <p:txBody>
          <a:bodyPr wrap="square" lIns="0" rIns="0" tIns="0" bIns="0">
            <a:spAutoFit/>
          </a:bodyPr>
          <a:lstStyle/>
          <a:p>
            <a:pPr>
              <a:lnSpc>
                <a:spcPct val="112000"/>
              </a:lnSpc>
              <a:spcAft>
                <a:spcPts val="1000"/>
              </a:spcAft>
            </a:pPr>
            <a:r>
              <a:rPr sz="1450" b="1">
                <a:solidFill>
                  <a:srgbClr val="8C2F39"/>
                </a:solidFill>
                <a:latin typeface="Calibri"/>
              </a:rPr>
              <a:t>▪  </a:t>
            </a:r>
            <a:r>
              <a:rPr sz="1450" b="1">
                <a:solidFill>
                  <a:srgbClr val="2A2522"/>
                </a:solidFill>
                <a:latin typeface="Calibri"/>
              </a:rPr>
              <a:t>Đăng kí, kê khai thuế: </a:t>
            </a:r>
            <a:r>
              <a:rPr sz="1450">
                <a:solidFill>
                  <a:srgbClr val="2A2522"/>
                </a:solidFill>
                <a:latin typeface="Calibri"/>
              </a:rPr>
              <a:t>đầy đủ, chính xác, trung thực và nộp hồ sơ thuế đúng thời hạn.</a:t>
            </a:r>
          </a:p>
          <a:p>
            <a:pPr>
              <a:lnSpc>
                <a:spcPct val="112000"/>
              </a:lnSpc>
              <a:spcAft>
                <a:spcPts val="1000"/>
              </a:spcAft>
            </a:pPr>
            <a:r>
              <a:rPr sz="1450" b="1">
                <a:solidFill>
                  <a:srgbClr val="8C2F39"/>
                </a:solidFill>
                <a:latin typeface="Calibri"/>
              </a:rPr>
              <a:t>▪  </a:t>
            </a:r>
            <a:r>
              <a:rPr sz="1450" b="1">
                <a:solidFill>
                  <a:srgbClr val="2A2522"/>
                </a:solidFill>
                <a:latin typeface="Calibri"/>
              </a:rPr>
              <a:t>Nộp thuế đầy đủ, đúng hạn: </a:t>
            </a:r>
            <a:r>
              <a:rPr sz="1450">
                <a:solidFill>
                  <a:srgbClr val="2A2522"/>
                </a:solidFill>
                <a:latin typeface="Calibri"/>
              </a:rPr>
              <a:t>đúng số tiền, đúng thời hạn, đúng địa điểm theo quy định.</a:t>
            </a:r>
          </a:p>
          <a:p>
            <a:pPr>
              <a:lnSpc>
                <a:spcPct val="112000"/>
              </a:lnSpc>
              <a:spcAft>
                <a:spcPts val="1000"/>
              </a:spcAft>
            </a:pPr>
            <a:r>
              <a:rPr sz="1450" b="1">
                <a:solidFill>
                  <a:srgbClr val="8C2F39"/>
                </a:solidFill>
                <a:latin typeface="Calibri"/>
              </a:rPr>
              <a:t>▪  </a:t>
            </a:r>
            <a:r>
              <a:rPr sz="1450" b="1">
                <a:solidFill>
                  <a:srgbClr val="2A2522"/>
                </a:solidFill>
                <a:latin typeface="Calibri"/>
              </a:rPr>
              <a:t>Chấp hành chế độ kế toán, hoá đơn, chứng từ: </a:t>
            </a:r>
            <a:r>
              <a:rPr sz="1450">
                <a:solidFill>
                  <a:srgbClr val="2A2522"/>
                </a:solidFill>
                <a:latin typeface="Calibri"/>
              </a:rPr>
              <a:t>cung cấp thông tin, tài liệu khi cơ quan thuế yêu cầu để xác định nghĩa vụ thuế.</a:t>
            </a:r>
          </a:p>
        </p:txBody>
      </p:sp>
      <p:sp>
        <p:nvSpPr>
          <p:cNvPr id="6" name="Rounded Rectangle 5"/>
          <p:cNvSpPr/>
          <p:nvPr/>
        </p:nvSpPr>
        <p:spPr>
          <a:xfrm>
            <a:off x="548640" y="5029200"/>
            <a:ext cx="11091672" cy="105156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029200"/>
            <a:ext cx="82296" cy="1051560"/>
          </a:xfrm>
          <a:prstGeom prst="rect">
            <a:avLst/>
          </a:prstGeom>
          <a:solidFill>
            <a:srgbClr val="9C49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193792"/>
            <a:ext cx="10671048" cy="365760"/>
          </a:xfrm>
          <a:prstGeom prst="rect">
            <a:avLst/>
          </a:prstGeom>
          <a:noFill/>
        </p:spPr>
        <p:txBody>
          <a:bodyPr wrap="square" anchor="t" lIns="0" rIns="0" tIns="0" bIns="0">
            <a:spAutoFit/>
          </a:bodyPr>
          <a:lstStyle/>
          <a:p>
            <a:pPr algn="l">
              <a:lnSpc>
                <a:spcPct val="100000"/>
              </a:lnSpc>
              <a:spcAft>
                <a:spcPts val="0"/>
              </a:spcAft>
            </a:pPr>
            <a:r>
              <a:rPr sz="1300" b="1" i="0">
                <a:solidFill>
                  <a:srgbClr val="1F3B57"/>
                </a:solidFill>
                <a:latin typeface="Calibri"/>
              </a:rPr>
              <a:t>LƯU Ý</a:t>
            </a:r>
          </a:p>
        </p:txBody>
      </p:sp>
      <p:sp>
        <p:nvSpPr>
          <p:cNvPr id="9" name="TextBox 8"/>
          <p:cNvSpPr txBox="1"/>
          <p:nvPr/>
        </p:nvSpPr>
        <p:spPr>
          <a:xfrm>
            <a:off x="786384" y="5559552"/>
            <a:ext cx="10671048" cy="393192"/>
          </a:xfrm>
          <a:prstGeom prst="rect">
            <a:avLst/>
          </a:prstGeom>
          <a:noFill/>
        </p:spPr>
        <p:txBody>
          <a:bodyPr wrap="square" anchor="t" lIns="0" rIns="0" tIns="0" bIns="0">
            <a:spAutoFit/>
          </a:bodyPr>
          <a:lstStyle/>
          <a:p>
            <a:pPr algn="l">
              <a:lnSpc>
                <a:spcPct val="114000"/>
              </a:lnSpc>
              <a:spcAft>
                <a:spcPts val="0"/>
              </a:spcAft>
            </a:pPr>
            <a:r>
              <a:rPr sz="1300" b="0" i="0">
                <a:solidFill>
                  <a:srgbClr val="2A2522"/>
                </a:solidFill>
                <a:latin typeface="Calibri"/>
              </a:rPr>
              <a:t>Trốn thuế, gian lận thuế là hành vi vi phạm pháp luật: tuỳ mức độ có thể bị xử phạt hành chính (phạt tiền, truy thu thuế) hoặc bị truy cứu trách nhiệm hình sự.</a:t>
            </a:r>
          </a:p>
        </p:txBody>
      </p:sp>
      <p:sp>
        <p:nvSpPr>
          <p:cNvPr id="10" name="Rectangle 9"/>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Khám phá</a:t>
            </a:r>
          </a:p>
        </p:txBody>
      </p:sp>
      <p:sp>
        <p:nvSpPr>
          <p:cNvPr id="12" name="TextBox 11"/>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78A2E"/>
                </a:solidFill>
                <a:latin typeface="Calibri"/>
              </a:rPr>
              <a:t>TỔNG KẾT NHANH</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Sơ đồ tư duy: Các loại thuế – Quyền và nghĩa vụ</a:t>
            </a:r>
          </a:p>
        </p:txBody>
      </p:sp>
      <p:sp>
        <p:nvSpPr>
          <p:cNvPr id="4" name="Rectangle 3"/>
          <p:cNvSpPr/>
          <p:nvPr/>
        </p:nvSpPr>
        <p:spPr>
          <a:xfrm>
            <a:off x="548640" y="1472184"/>
            <a:ext cx="822960" cy="4064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3538728" cy="338328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60320"/>
            <a:ext cx="420624" cy="420624"/>
          </a:xfrm>
          <a:prstGeom prst="ellipse">
            <a:avLst/>
          </a:prstGeom>
          <a:solidFill>
            <a:srgbClr val="173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TT</a:t>
            </a:r>
          </a:p>
        </p:txBody>
      </p:sp>
      <p:sp>
        <p:nvSpPr>
          <p:cNvPr id="7" name="TextBox 6"/>
          <p:cNvSpPr txBox="1"/>
          <p:nvPr/>
        </p:nvSpPr>
        <p:spPr>
          <a:xfrm>
            <a:off x="731520" y="305409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THUẾ TRỰC THU</a:t>
            </a:r>
          </a:p>
        </p:txBody>
      </p:sp>
      <p:sp>
        <p:nvSpPr>
          <p:cNvPr id="8" name="TextBox 7"/>
          <p:cNvSpPr txBox="1"/>
          <p:nvPr/>
        </p:nvSpPr>
        <p:spPr>
          <a:xfrm>
            <a:off x="731520" y="3401568"/>
            <a:ext cx="3172968" cy="229514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Người nộp = người chịu thuế.</a:t>
            </a:r>
          </a:p>
          <a:p>
            <a:pPr algn="l">
              <a:lnSpc>
                <a:spcPct val="108000"/>
              </a:lnSpc>
              <a:spcAft>
                <a:spcPts val="0"/>
              </a:spcAft>
            </a:pPr>
            <a:r>
              <a:rPr sz="1250" b="0" i="0">
                <a:solidFill>
                  <a:srgbClr val="2A2522"/>
                </a:solidFill>
                <a:latin typeface="Calibri"/>
              </a:rPr>
              <a:t>Ví dụ: thuế TNCN, thuế TNDN.</a:t>
            </a:r>
          </a:p>
        </p:txBody>
      </p:sp>
      <p:sp>
        <p:nvSpPr>
          <p:cNvPr id="9" name="Rounded Rectangle 8"/>
          <p:cNvSpPr/>
          <p:nvPr/>
        </p:nvSpPr>
        <p:spPr>
          <a:xfrm>
            <a:off x="4315968" y="2377440"/>
            <a:ext cx="3538728" cy="338328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98848" y="256032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GT</a:t>
            </a:r>
          </a:p>
        </p:txBody>
      </p:sp>
      <p:sp>
        <p:nvSpPr>
          <p:cNvPr id="11" name="TextBox 10"/>
          <p:cNvSpPr txBox="1"/>
          <p:nvPr/>
        </p:nvSpPr>
        <p:spPr>
          <a:xfrm>
            <a:off x="4498848" y="305409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THUẾ GIÁN THU</a:t>
            </a:r>
          </a:p>
        </p:txBody>
      </p:sp>
      <p:sp>
        <p:nvSpPr>
          <p:cNvPr id="12" name="TextBox 11"/>
          <p:cNvSpPr txBox="1"/>
          <p:nvPr/>
        </p:nvSpPr>
        <p:spPr>
          <a:xfrm>
            <a:off x="4498848" y="3401568"/>
            <a:ext cx="3172968" cy="229514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Cộng vào giá bán, người tiêu dùng chịu thuế.</a:t>
            </a:r>
          </a:p>
          <a:p>
            <a:pPr algn="l">
              <a:lnSpc>
                <a:spcPct val="108000"/>
              </a:lnSpc>
              <a:spcAft>
                <a:spcPts val="0"/>
              </a:spcAft>
            </a:pPr>
            <a:r>
              <a:rPr sz="1250" b="0" i="0">
                <a:solidFill>
                  <a:srgbClr val="2A2522"/>
                </a:solidFill>
                <a:latin typeface="Calibri"/>
              </a:rPr>
              <a:t>Ví dụ: thuế GTGT, TTĐB, XNK.</a:t>
            </a:r>
          </a:p>
        </p:txBody>
      </p:sp>
      <p:sp>
        <p:nvSpPr>
          <p:cNvPr id="13" name="Rounded Rectangle 12"/>
          <p:cNvSpPr/>
          <p:nvPr/>
        </p:nvSpPr>
        <p:spPr>
          <a:xfrm>
            <a:off x="8083296" y="2377440"/>
            <a:ext cx="3557016" cy="338328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66176" y="256032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CD</a:t>
            </a:r>
          </a:p>
        </p:txBody>
      </p:sp>
      <p:sp>
        <p:nvSpPr>
          <p:cNvPr id="15" name="TextBox 14"/>
          <p:cNvSpPr txBox="1"/>
          <p:nvPr/>
        </p:nvSpPr>
        <p:spPr>
          <a:xfrm>
            <a:off x="8266176" y="3054096"/>
            <a:ext cx="3191256"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CÔNG DÂN</a:t>
            </a:r>
          </a:p>
        </p:txBody>
      </p:sp>
      <p:sp>
        <p:nvSpPr>
          <p:cNvPr id="16" name="TextBox 15"/>
          <p:cNvSpPr txBox="1"/>
          <p:nvPr/>
        </p:nvSpPr>
        <p:spPr>
          <a:xfrm>
            <a:off x="8266176" y="3401568"/>
            <a:ext cx="3191256" cy="229514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Quyền: hướng dẫn, hưởng lợi, khiếu nại.</a:t>
            </a:r>
          </a:p>
          <a:p>
            <a:pPr algn="l">
              <a:lnSpc>
                <a:spcPct val="108000"/>
              </a:lnSpc>
              <a:spcAft>
                <a:spcPts val="0"/>
              </a:spcAft>
            </a:pPr>
            <a:r>
              <a:rPr sz="1250" b="0" i="0">
                <a:solidFill>
                  <a:srgbClr val="2A2522"/>
                </a:solidFill>
                <a:latin typeface="Calibri"/>
              </a:rPr>
              <a:t>Nghĩa vụ: kê khai, nộp thuế đúng – đủ – đúng hạn.</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Tổng kết</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LUYỆN TẬP · TRẮC NGHIỆM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Khoanh vào chữ cái trước đáp án đúng</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8288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5973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1. Thuế giá trị gia tăng (GTGT) thuộc loại thuế nào?</a:t>
            </a:r>
          </a:p>
        </p:txBody>
      </p:sp>
      <p:sp>
        <p:nvSpPr>
          <p:cNvPr id="7" name="TextBox 6"/>
          <p:cNvSpPr txBox="1"/>
          <p:nvPr/>
        </p:nvSpPr>
        <p:spPr>
          <a:xfrm>
            <a:off x="749808"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Thuế trực thu</a:t>
            </a:r>
          </a:p>
        </p:txBody>
      </p:sp>
      <p:sp>
        <p:nvSpPr>
          <p:cNvPr id="8" name="TextBox 7"/>
          <p:cNvSpPr txBox="1"/>
          <p:nvPr/>
        </p:nvSpPr>
        <p:spPr>
          <a:xfrm>
            <a:off x="6094476"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B. Thuế gián thu</a:t>
            </a:r>
          </a:p>
        </p:txBody>
      </p:sp>
      <p:sp>
        <p:nvSpPr>
          <p:cNvPr id="9" name="TextBox 8"/>
          <p:cNvSpPr txBox="1"/>
          <p:nvPr/>
        </p:nvSpPr>
        <p:spPr>
          <a:xfrm>
            <a:off x="749808"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Thuế tài sản</a:t>
            </a:r>
          </a:p>
        </p:txBody>
      </p:sp>
      <p:sp>
        <p:nvSpPr>
          <p:cNvPr id="10" name="TextBox 9"/>
          <p:cNvSpPr txBox="1"/>
          <p:nvPr/>
        </p:nvSpPr>
        <p:spPr>
          <a:xfrm>
            <a:off x="6094476"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Thuế xuất khẩu</a:t>
            </a:r>
          </a:p>
        </p:txBody>
      </p:sp>
      <p:sp>
        <p:nvSpPr>
          <p:cNvPr id="11" name="Rounded Rectangle 10"/>
          <p:cNvSpPr/>
          <p:nvPr/>
        </p:nvSpPr>
        <p:spPr>
          <a:xfrm>
            <a:off x="548640" y="4343400"/>
            <a:ext cx="11091672" cy="182880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47141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2. Người nộp thuế đồng thời là người chịu thuế, không thể chuyển gánh nặng thuế cho người khác – đây là đặc điểm của loại thuế nào?</a:t>
            </a:r>
          </a:p>
        </p:txBody>
      </p:sp>
      <p:sp>
        <p:nvSpPr>
          <p:cNvPr id="13" name="TextBox 12"/>
          <p:cNvSpPr txBox="1"/>
          <p:nvPr/>
        </p:nvSpPr>
        <p:spPr>
          <a:xfrm>
            <a:off x="749808" y="50017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Thuế trực thu</a:t>
            </a:r>
          </a:p>
        </p:txBody>
      </p:sp>
      <p:sp>
        <p:nvSpPr>
          <p:cNvPr id="14" name="TextBox 13"/>
          <p:cNvSpPr txBox="1"/>
          <p:nvPr/>
        </p:nvSpPr>
        <p:spPr>
          <a:xfrm>
            <a:off x="6094476" y="50017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B. Thuế gián thu</a:t>
            </a:r>
          </a:p>
        </p:txBody>
      </p:sp>
      <p:sp>
        <p:nvSpPr>
          <p:cNvPr id="15" name="TextBox 14"/>
          <p:cNvSpPr txBox="1"/>
          <p:nvPr/>
        </p:nvSpPr>
        <p:spPr>
          <a:xfrm>
            <a:off x="749808" y="536752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Thuế nhập khẩu</a:t>
            </a:r>
          </a:p>
        </p:txBody>
      </p:sp>
      <p:sp>
        <p:nvSpPr>
          <p:cNvPr id="16" name="TextBox 15"/>
          <p:cNvSpPr txBox="1"/>
          <p:nvPr/>
        </p:nvSpPr>
        <p:spPr>
          <a:xfrm>
            <a:off x="6094476" y="536752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Lệ phí</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Luyện tập</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LUYỆN TẬP · TRẮC NGHIỆM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Khoanh vào chữ cái trước đáp án đúng</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6916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5973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3. Hành vi nào sau đây vi phạm nghĩa vụ của công dân về thuế?</a:t>
            </a:r>
          </a:p>
        </p:txBody>
      </p:sp>
      <p:sp>
        <p:nvSpPr>
          <p:cNvPr id="7" name="TextBox 6"/>
          <p:cNvSpPr txBox="1"/>
          <p:nvPr/>
        </p:nvSpPr>
        <p:spPr>
          <a:xfrm>
            <a:off x="749808"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Kê khai trung thực doanh thu bán hàng</a:t>
            </a:r>
          </a:p>
        </p:txBody>
      </p:sp>
      <p:sp>
        <p:nvSpPr>
          <p:cNvPr id="8" name="TextBox 7"/>
          <p:cNvSpPr txBox="1"/>
          <p:nvPr/>
        </p:nvSpPr>
        <p:spPr>
          <a:xfrm>
            <a:off x="6094476" y="2990088"/>
            <a:ext cx="5253228" cy="329184"/>
          </a:xfrm>
          <a:prstGeom prst="rect">
            <a:avLst/>
          </a:prstGeom>
          <a:noFill/>
        </p:spPr>
        <p:txBody>
          <a:bodyPr wrap="square" anchor="t" lIns="0" rIns="0" tIns="0" bIns="0">
            <a:spAutoFit/>
          </a:bodyPr>
          <a:lstStyle/>
          <a:p>
            <a:pPr algn="l">
              <a:lnSpc>
                <a:spcPct val="100000"/>
              </a:lnSpc>
              <a:spcAft>
                <a:spcPts val="0"/>
              </a:spcAft>
            </a:pPr>
            <a:r>
              <a:rPr sz="1200" b="1" i="0">
                <a:solidFill>
                  <a:srgbClr val="6C222A"/>
                </a:solidFill>
                <a:latin typeface="Calibri"/>
              </a:rPr>
              <a:t>B. Cố tình không xuất hoá đơn để giảm số thuế phải nộp  ✓</a:t>
            </a:r>
          </a:p>
        </p:txBody>
      </p:sp>
      <p:sp>
        <p:nvSpPr>
          <p:cNvPr id="9" name="TextBox 8"/>
          <p:cNvSpPr txBox="1"/>
          <p:nvPr/>
        </p:nvSpPr>
        <p:spPr>
          <a:xfrm>
            <a:off x="749808"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Nộp thuế đúng thời hạn quy định</a:t>
            </a:r>
          </a:p>
        </p:txBody>
      </p:sp>
      <p:sp>
        <p:nvSpPr>
          <p:cNvPr id="10" name="TextBox 9"/>
          <p:cNvSpPr txBox="1"/>
          <p:nvPr/>
        </p:nvSpPr>
        <p:spPr>
          <a:xfrm>
            <a:off x="6094476"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Đề nghị cơ quan thuế hướng dẫn thủ tục kê khai</a:t>
            </a:r>
          </a:p>
        </p:txBody>
      </p:sp>
      <p:sp>
        <p:nvSpPr>
          <p:cNvPr id="11" name="Rounded Rectangle 10"/>
          <p:cNvSpPr/>
          <p:nvPr/>
        </p:nvSpPr>
        <p:spPr>
          <a:xfrm>
            <a:off x="548640" y="4206240"/>
            <a:ext cx="11091672" cy="169164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33425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4. Khi phát hiện quyết định xử phạt về thuế của cơ quan thuế là trái pháp luật, công dân có quyền gì?</a:t>
            </a:r>
          </a:p>
        </p:txBody>
      </p:sp>
      <p:sp>
        <p:nvSpPr>
          <p:cNvPr id="13" name="TextBox 12"/>
          <p:cNvSpPr txBox="1"/>
          <p:nvPr/>
        </p:nvSpPr>
        <p:spPr>
          <a:xfrm>
            <a:off x="749808" y="486460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Tự ý không nộp thuế</a:t>
            </a:r>
          </a:p>
        </p:txBody>
      </p:sp>
      <p:sp>
        <p:nvSpPr>
          <p:cNvPr id="14" name="TextBox 13"/>
          <p:cNvSpPr txBox="1"/>
          <p:nvPr/>
        </p:nvSpPr>
        <p:spPr>
          <a:xfrm>
            <a:off x="6094476" y="4864608"/>
            <a:ext cx="5253228" cy="329184"/>
          </a:xfrm>
          <a:prstGeom prst="rect">
            <a:avLst/>
          </a:prstGeom>
          <a:noFill/>
        </p:spPr>
        <p:txBody>
          <a:bodyPr wrap="square" anchor="t" lIns="0" rIns="0" tIns="0" bIns="0">
            <a:spAutoFit/>
          </a:bodyPr>
          <a:lstStyle/>
          <a:p>
            <a:pPr algn="l">
              <a:lnSpc>
                <a:spcPct val="100000"/>
              </a:lnSpc>
              <a:spcAft>
                <a:spcPts val="0"/>
              </a:spcAft>
            </a:pPr>
            <a:r>
              <a:rPr sz="1200" b="1" i="0">
                <a:solidFill>
                  <a:srgbClr val="6C222A"/>
                </a:solidFill>
                <a:latin typeface="Calibri"/>
              </a:rPr>
              <a:t>B. Khiếu nại, khởi kiện theo quy định pháp luật  ✓</a:t>
            </a:r>
          </a:p>
        </p:txBody>
      </p:sp>
      <p:sp>
        <p:nvSpPr>
          <p:cNvPr id="15" name="TextBox 14"/>
          <p:cNvSpPr txBox="1"/>
          <p:nvPr/>
        </p:nvSpPr>
        <p:spPr>
          <a:xfrm>
            <a:off x="749808" y="52303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Bỏ trốn để không bị xử phạt</a:t>
            </a:r>
          </a:p>
        </p:txBody>
      </p:sp>
      <p:sp>
        <p:nvSpPr>
          <p:cNvPr id="16" name="TextBox 15"/>
          <p:cNvSpPr txBox="1"/>
          <p:nvPr/>
        </p:nvSpPr>
        <p:spPr>
          <a:xfrm>
            <a:off x="6094476" y="52303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Nhờ người khác nộp thuế thay vĩnh viễn</a:t>
            </a:r>
          </a:p>
        </p:txBody>
      </p:sp>
      <p:sp>
        <p:nvSpPr>
          <p:cNvPr id="17" name="Rounded Rectangle 16"/>
          <p:cNvSpPr/>
          <p:nvPr/>
        </p:nvSpPr>
        <p:spPr>
          <a:xfrm>
            <a:off x="548640" y="6035040"/>
            <a:ext cx="11091672" cy="384048"/>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6035040"/>
            <a:ext cx="82296" cy="384048"/>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6199632"/>
            <a:ext cx="10671048" cy="365760"/>
          </a:xfrm>
          <a:prstGeom prst="rect">
            <a:avLst/>
          </a:prstGeom>
          <a:noFill/>
        </p:spPr>
        <p:txBody>
          <a:bodyPr wrap="square" anchor="t" lIns="0" rIns="0" tIns="0" bIns="0">
            <a:spAutoFit/>
          </a:bodyPr>
          <a:lstStyle/>
          <a:p>
            <a:pPr algn="l">
              <a:lnSpc>
                <a:spcPct val="100000"/>
              </a:lnSpc>
              <a:spcAft>
                <a:spcPts val="0"/>
              </a:spcAft>
            </a:pPr>
            <a:r>
              <a:rPr sz="1500" b="1" i="0">
                <a:solidFill>
                  <a:srgbClr val="1F3B57"/>
                </a:solidFill>
                <a:latin typeface="Calibri"/>
              </a:rPr>
              <a:t/>
            </a:r>
          </a:p>
        </p:txBody>
      </p:sp>
      <p:sp>
        <p:nvSpPr>
          <p:cNvPr id="20" name="TextBox 19"/>
          <p:cNvSpPr txBox="1"/>
          <p:nvPr/>
        </p:nvSpPr>
        <p:spPr>
          <a:xfrm>
            <a:off x="786384" y="6565392"/>
            <a:ext cx="10671048" cy="-274320"/>
          </a:xfrm>
          <a:prstGeom prst="rect">
            <a:avLst/>
          </a:prstGeom>
          <a:noFill/>
        </p:spPr>
        <p:txBody>
          <a:bodyPr wrap="square" anchor="t" lIns="0" rIns="0" tIns="0" bIns="0">
            <a:spAutoFit/>
          </a:bodyPr>
          <a:lstStyle/>
          <a:p>
            <a:pPr algn="l">
              <a:lnSpc>
                <a:spcPct val="114000"/>
              </a:lnSpc>
              <a:spcAft>
                <a:spcPts val="0"/>
              </a:spcAft>
            </a:pPr>
            <a:r>
              <a:rPr sz="1250" b="0" i="0">
                <a:solidFill>
                  <a:srgbClr val="2A2522"/>
                </a:solidFill>
                <a:latin typeface="Calibri"/>
              </a:rPr>
              <a:t>Đáp án: Câu 1 – B      Câu 2 – A      Câu 3 – B      Câu 4 – B</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Luyện tập</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LUYỆN TẬP · TÌNH HUỐNG PHÁP LUẬT</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Xử lí tình huống</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11091672" cy="160020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52374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8C2F39"/>
                </a:solidFill>
                <a:latin typeface="Calibri"/>
              </a:rPr>
              <a:t>TÌNH HUỐNG</a:t>
            </a:r>
          </a:p>
        </p:txBody>
      </p:sp>
      <p:sp>
        <p:nvSpPr>
          <p:cNvPr id="7" name="TextBox 6"/>
          <p:cNvSpPr txBox="1"/>
          <p:nvPr/>
        </p:nvSpPr>
        <p:spPr>
          <a:xfrm>
            <a:off x="786384" y="2834640"/>
            <a:ext cx="10616184" cy="996696"/>
          </a:xfrm>
          <a:prstGeom prst="rect">
            <a:avLst/>
          </a:prstGeom>
          <a:noFill/>
        </p:spPr>
        <p:txBody>
          <a:bodyPr wrap="square" anchor="t" lIns="0" rIns="0" tIns="0" bIns="0">
            <a:spAutoFit/>
          </a:bodyPr>
          <a:lstStyle/>
          <a:p>
            <a:pPr algn="l">
              <a:lnSpc>
                <a:spcPct val="116000"/>
              </a:lnSpc>
              <a:spcAft>
                <a:spcPts val="0"/>
              </a:spcAft>
            </a:pPr>
            <a:r>
              <a:rPr sz="1400" b="0" i="0">
                <a:solidFill>
                  <a:srgbClr val="2A2522"/>
                </a:solidFill>
                <a:latin typeface="Calibri"/>
              </a:rPr>
              <a:t>Anh K là chủ một quán ăn đông khách. Cơ quan thuế phát hiện trong 1 năm anh K đã không kê khai gần 500 triệu đồng doanh thu, dẫn đến thiếu số thuế phải nộp hơn 80 triệu đồng.</a:t>
            </a:r>
          </a:p>
        </p:txBody>
      </p:sp>
      <p:sp>
        <p:nvSpPr>
          <p:cNvPr id="8" name="TextBox 7"/>
          <p:cNvSpPr txBox="1"/>
          <p:nvPr/>
        </p:nvSpPr>
        <p:spPr>
          <a:xfrm>
            <a:off x="548640" y="4160520"/>
            <a:ext cx="11091672" cy="1280160"/>
          </a:xfrm>
          <a:prstGeom prst="rect">
            <a:avLst/>
          </a:prstGeom>
          <a:noFill/>
        </p:spPr>
        <p:txBody>
          <a:bodyPr wrap="square" lIns="0" rIns="0" tIns="0" bIns="0">
            <a:spAutoFit/>
          </a:bodyPr>
          <a:lstStyle/>
          <a:p>
            <a:pPr>
              <a:lnSpc>
                <a:spcPct val="112000"/>
              </a:lnSpc>
              <a:spcAft>
                <a:spcPts val="600"/>
              </a:spcAft>
            </a:pPr>
            <a:r>
              <a:rPr sz="1350" b="1">
                <a:solidFill>
                  <a:srgbClr val="173344"/>
                </a:solidFill>
                <a:latin typeface="Calibri"/>
              </a:rPr>
              <a:t>▪  </a:t>
            </a:r>
            <a:r>
              <a:rPr sz="1350">
                <a:solidFill>
                  <a:srgbClr val="2A2522"/>
                </a:solidFill>
                <a:latin typeface="Calibri"/>
              </a:rPr>
              <a:t>Anh K đã vi phạm nghĩa vụ nào của công dân về thuế?</a:t>
            </a:r>
          </a:p>
          <a:p>
            <a:pPr>
              <a:lnSpc>
                <a:spcPct val="112000"/>
              </a:lnSpc>
              <a:spcAft>
                <a:spcPts val="600"/>
              </a:spcAft>
            </a:pPr>
            <a:r>
              <a:rPr sz="1350" b="1">
                <a:solidFill>
                  <a:srgbClr val="173344"/>
                </a:solidFill>
                <a:latin typeface="Calibri"/>
              </a:rPr>
              <a:t>▪  </a:t>
            </a:r>
            <a:r>
              <a:rPr sz="1350">
                <a:solidFill>
                  <a:srgbClr val="2A2522"/>
                </a:solidFill>
                <a:latin typeface="Calibri"/>
              </a:rPr>
              <a:t>Anh K có thể phải chịu những hậu quả pháp lí nào?</a:t>
            </a:r>
          </a:p>
          <a:p>
            <a:pPr>
              <a:lnSpc>
                <a:spcPct val="112000"/>
              </a:lnSpc>
              <a:spcAft>
                <a:spcPts val="600"/>
              </a:spcAft>
            </a:pPr>
            <a:r>
              <a:rPr sz="1350" b="1">
                <a:solidFill>
                  <a:srgbClr val="173344"/>
                </a:solidFill>
                <a:latin typeface="Calibri"/>
              </a:rPr>
              <a:t>▪  </a:t>
            </a:r>
            <a:r>
              <a:rPr sz="1350">
                <a:solidFill>
                  <a:srgbClr val="2A2522"/>
                </a:solidFill>
                <a:latin typeface="Calibri"/>
              </a:rPr>
              <a:t>Nếu là bạn của anh K, em sẽ góp ý gì?</a:t>
            </a:r>
          </a:p>
        </p:txBody>
      </p:sp>
      <p:sp>
        <p:nvSpPr>
          <p:cNvPr id="9" name="Rounded Rectangle 8"/>
          <p:cNvSpPr/>
          <p:nvPr/>
        </p:nvSpPr>
        <p:spPr>
          <a:xfrm>
            <a:off x="548640" y="5532120"/>
            <a:ext cx="11091672" cy="777240"/>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5532120"/>
            <a:ext cx="82296" cy="77724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696712"/>
            <a:ext cx="10671048" cy="365760"/>
          </a:xfrm>
          <a:prstGeom prst="rect">
            <a:avLst/>
          </a:prstGeom>
          <a:noFill/>
        </p:spPr>
        <p:txBody>
          <a:bodyPr wrap="square" anchor="t" lIns="0" rIns="0" tIns="0" bIns="0">
            <a:spAutoFit/>
          </a:bodyPr>
          <a:lstStyle/>
          <a:p>
            <a:pPr algn="l">
              <a:lnSpc>
                <a:spcPct val="100000"/>
              </a:lnSpc>
              <a:spcAft>
                <a:spcPts val="0"/>
              </a:spcAft>
            </a:pPr>
            <a:r>
              <a:rPr sz="1200" b="1" i="0">
                <a:solidFill>
                  <a:srgbClr val="1F3B57"/>
                </a:solidFill>
                <a:latin typeface="Calibri"/>
              </a:rPr>
              <a:t>GỢI Ý</a:t>
            </a:r>
          </a:p>
        </p:txBody>
      </p:sp>
      <p:sp>
        <p:nvSpPr>
          <p:cNvPr id="12" name="TextBox 11"/>
          <p:cNvSpPr txBox="1"/>
          <p:nvPr/>
        </p:nvSpPr>
        <p:spPr>
          <a:xfrm>
            <a:off x="786384" y="6062472"/>
            <a:ext cx="10671048" cy="118872"/>
          </a:xfrm>
          <a:prstGeom prst="rect">
            <a:avLst/>
          </a:prstGeom>
          <a:noFill/>
        </p:spPr>
        <p:txBody>
          <a:bodyPr wrap="square" anchor="t" lIns="0" rIns="0" tIns="0" bIns="0">
            <a:spAutoFit/>
          </a:bodyPr>
          <a:lstStyle/>
          <a:p>
            <a:pPr algn="l">
              <a:lnSpc>
                <a:spcPct val="114000"/>
              </a:lnSpc>
              <a:spcAft>
                <a:spcPts val="0"/>
              </a:spcAft>
            </a:pPr>
            <a:r>
              <a:rPr sz="1150" b="0" i="0">
                <a:solidFill>
                  <a:srgbClr val="2A2522"/>
                </a:solidFill>
                <a:latin typeface="Calibri"/>
              </a:rPr>
              <a:t>Vi phạm nghĩa vụ kê khai trung thực, nộp đủ thuế; có thể bị truy thu thuế, phạt tiền, thậm chí bị truy cứu trách nhiệm hình sự về tội trốn thuế nếu đủ yếu tố cấu thành theo pháp luật.</a:t>
            </a:r>
          </a:p>
        </p:txBody>
      </p:sp>
      <p:sp>
        <p:nvSpPr>
          <p:cNvPr id="13" name="Rectangle 12"/>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Luyện tập</a:t>
            </a:r>
          </a:p>
        </p:txBody>
      </p:sp>
      <p:sp>
        <p:nvSpPr>
          <p:cNvPr id="15" name="TextBox 14"/>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VẬN DỤNG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Nhiệm vụ 1 – Phỏng vấn nhỏ</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468880"/>
            <a:ext cx="11091672" cy="2377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468880"/>
            <a:ext cx="82296" cy="23774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633472"/>
            <a:ext cx="10671048" cy="365760"/>
          </a:xfrm>
          <a:prstGeom prst="rect">
            <a:avLst/>
          </a:prstGeom>
          <a:noFill/>
        </p:spPr>
        <p:txBody>
          <a:bodyPr wrap="square" anchor="t" lIns="0" rIns="0" tIns="0" bIns="0">
            <a:spAutoFit/>
          </a:bodyPr>
          <a:lstStyle/>
          <a:p>
            <a:pPr algn="l">
              <a:lnSpc>
                <a:spcPct val="100000"/>
              </a:lnSpc>
              <a:spcAft>
                <a:spcPts val="0"/>
              </a:spcAft>
            </a:pPr>
            <a:r>
              <a:rPr sz="1400" b="1" i="0">
                <a:solidFill>
                  <a:srgbClr val="1F3B57"/>
                </a:solidFill>
                <a:latin typeface="Calibri"/>
              </a:rPr>
              <a:t>YÊU CẦU</a:t>
            </a:r>
          </a:p>
        </p:txBody>
      </p:sp>
      <p:sp>
        <p:nvSpPr>
          <p:cNvPr id="8" name="TextBox 7"/>
          <p:cNvSpPr txBox="1"/>
          <p:nvPr/>
        </p:nvSpPr>
        <p:spPr>
          <a:xfrm>
            <a:off x="786384" y="2999232"/>
            <a:ext cx="10671048" cy="171907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Về nhà, em hãy hỏi người thân (bố, mẹ, người bán hàng...) về một loại thuế mà gia đình/cửa hàng đang phải nộp (thuế TNCN, thuế môn bài, thuế GTGT...).</a:t>
            </a:r>
          </a:p>
          <a:p>
            <a:pPr algn="l">
              <a:lnSpc>
                <a:spcPct val="114000"/>
              </a:lnSpc>
              <a:spcAft>
                <a:spcPts val="0"/>
              </a:spcAft>
            </a:pPr>
            <a:r>
              <a:rPr sz="1400" b="0" i="0">
                <a:solidFill>
                  <a:srgbClr val="2A2522"/>
                </a:solidFill>
                <a:latin typeface="Calibri"/>
              </a:rPr>
              <a:t/>
            </a:r>
          </a:p>
          <a:p>
            <a:pPr algn="l">
              <a:lnSpc>
                <a:spcPct val="114000"/>
              </a:lnSpc>
              <a:spcAft>
                <a:spcPts val="0"/>
              </a:spcAft>
            </a:pPr>
            <a:r>
              <a:rPr sz="1400" b="0" i="0">
                <a:solidFill>
                  <a:srgbClr val="2A2522"/>
                </a:solidFill>
                <a:latin typeface="Calibri"/>
              </a:rPr>
              <a:t>Ghi lại ngắn gọn: Đó là thuế trực thu hay gián thu? Vì sao em xác định như vậy?</a:t>
            </a:r>
          </a:p>
        </p:txBody>
      </p:sp>
      <p:sp>
        <p:nvSpPr>
          <p:cNvPr id="9" name="Rectangle 8"/>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Vận dụng</a:t>
            </a:r>
          </a:p>
        </p:txBody>
      </p:sp>
      <p:sp>
        <p:nvSpPr>
          <p:cNvPr id="11" name="TextBox 10"/>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VẬN DỤNG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Nhiệm vụ 2 – Thiết kế thông điệp tuyên truyền</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468880"/>
            <a:ext cx="11091672" cy="2377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468880"/>
            <a:ext cx="82296" cy="23774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633472"/>
            <a:ext cx="10671048" cy="365760"/>
          </a:xfrm>
          <a:prstGeom prst="rect">
            <a:avLst/>
          </a:prstGeom>
          <a:noFill/>
        </p:spPr>
        <p:txBody>
          <a:bodyPr wrap="square" anchor="t" lIns="0" rIns="0" tIns="0" bIns="0">
            <a:spAutoFit/>
          </a:bodyPr>
          <a:lstStyle/>
          <a:p>
            <a:pPr algn="l">
              <a:lnSpc>
                <a:spcPct val="100000"/>
              </a:lnSpc>
              <a:spcAft>
                <a:spcPts val="0"/>
              </a:spcAft>
            </a:pPr>
            <a:r>
              <a:rPr sz="1400" b="1" i="0">
                <a:solidFill>
                  <a:srgbClr val="1F3B57"/>
                </a:solidFill>
                <a:latin typeface="Calibri"/>
              </a:rPr>
              <a:t>YÊU CẦU</a:t>
            </a:r>
          </a:p>
        </p:txBody>
      </p:sp>
      <p:sp>
        <p:nvSpPr>
          <p:cNvPr id="8" name="TextBox 7"/>
          <p:cNvSpPr txBox="1"/>
          <p:nvPr/>
        </p:nvSpPr>
        <p:spPr>
          <a:xfrm>
            <a:off x="786384" y="2999232"/>
            <a:ext cx="10671048" cy="1719072"/>
          </a:xfrm>
          <a:prstGeom prst="rect">
            <a:avLst/>
          </a:prstGeom>
          <a:noFill/>
        </p:spPr>
        <p:txBody>
          <a:bodyPr wrap="square" anchor="t" lIns="0" rIns="0" tIns="0" bIns="0">
            <a:spAutoFit/>
          </a:bodyPr>
          <a:lstStyle/>
          <a:p>
            <a:pPr algn="l">
              <a:lnSpc>
                <a:spcPct val="114000"/>
              </a:lnSpc>
              <a:spcAft>
                <a:spcPts val="0"/>
              </a:spcAft>
            </a:pPr>
            <a:r>
              <a:rPr sz="1450" b="0" i="0">
                <a:solidFill>
                  <a:srgbClr val="2A2522"/>
                </a:solidFill>
                <a:latin typeface="Calibri"/>
              </a:rPr>
              <a:t>Thiết kế một khẩu hiệu hoặc tranh cổ động (trên giấy A4) tuyên truyền về ý thức chấp hành pháp luật thuế.</a:t>
            </a:r>
          </a:p>
          <a:p>
            <a:pPr algn="l">
              <a:lnSpc>
                <a:spcPct val="114000"/>
              </a:lnSpc>
              <a:spcAft>
                <a:spcPts val="0"/>
              </a:spcAft>
            </a:pPr>
            <a:r>
              <a:rPr sz="1450" b="0" i="0">
                <a:solidFill>
                  <a:srgbClr val="2A2522"/>
                </a:solidFill>
                <a:latin typeface="Calibri"/>
              </a:rPr>
              <a:t/>
            </a:r>
          </a:p>
          <a:p>
            <a:pPr algn="l">
              <a:lnSpc>
                <a:spcPct val="114000"/>
              </a:lnSpc>
              <a:spcAft>
                <a:spcPts val="0"/>
              </a:spcAft>
            </a:pPr>
            <a:r>
              <a:rPr sz="1450" b="0" i="0">
                <a:solidFill>
                  <a:srgbClr val="2A2522"/>
                </a:solidFill>
                <a:latin typeface="Calibri"/>
              </a:rPr>
              <a:t>Nộp sản phẩm vào tiết học sau để trưng bày ở góc học tập của lớp.</a:t>
            </a:r>
          </a:p>
        </p:txBody>
      </p:sp>
      <p:sp>
        <p:nvSpPr>
          <p:cNvPr id="9" name="Rectangle 8"/>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Vận dụng</a:t>
            </a:r>
          </a:p>
        </p:txBody>
      </p:sp>
      <p:sp>
        <p:nvSpPr>
          <p:cNvPr id="11" name="TextBox 10"/>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GHI NHỚ</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Tổng kết toàn bài – Bài 6: Thuế</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331720"/>
            <a:ext cx="11091672" cy="3200400"/>
          </a:xfrm>
          <a:prstGeom prst="rect">
            <a:avLst/>
          </a:prstGeom>
          <a:noFill/>
        </p:spPr>
        <p:txBody>
          <a:bodyPr wrap="square" lIns="0" rIns="0" tIns="0" bIns="0">
            <a:spAutoFit/>
          </a:bodyPr>
          <a:lstStyle/>
          <a:p>
            <a:pPr>
              <a:lnSpc>
                <a:spcPct val="112000"/>
              </a:lnSpc>
              <a:spcAft>
                <a:spcPts val="1000"/>
              </a:spcAft>
            </a:pPr>
            <a:r>
              <a:rPr sz="1450" b="1">
                <a:solidFill>
                  <a:srgbClr val="1F3B57"/>
                </a:solidFill>
                <a:latin typeface="Calibri"/>
              </a:rPr>
              <a:t>▪  </a:t>
            </a:r>
            <a:r>
              <a:rPr sz="1450" b="1">
                <a:solidFill>
                  <a:srgbClr val="2A2522"/>
                </a:solidFill>
                <a:latin typeface="Calibri"/>
              </a:rPr>
              <a:t>Khái niệm – Đặc điểm: </a:t>
            </a:r>
            <a:r>
              <a:rPr sz="1450">
                <a:solidFill>
                  <a:srgbClr val="2A2522"/>
                </a:solidFill>
                <a:latin typeface="Calibri"/>
              </a:rPr>
              <a:t>Thuế là khoản thu bắt buộc vào NSNN theo luật định; có 4 đặc điểm: bắt buộc, không hoàn trả trực tiếp, tính pháp lí cao, gắn với hoạt động kinh tế.</a:t>
            </a:r>
          </a:p>
          <a:p>
            <a:pPr>
              <a:lnSpc>
                <a:spcPct val="112000"/>
              </a:lnSpc>
              <a:spcAft>
                <a:spcPts val="1000"/>
              </a:spcAft>
            </a:pPr>
            <a:r>
              <a:rPr sz="1450" b="1">
                <a:solidFill>
                  <a:srgbClr val="1F3B57"/>
                </a:solidFill>
                <a:latin typeface="Calibri"/>
              </a:rPr>
              <a:t>▪  </a:t>
            </a:r>
            <a:r>
              <a:rPr sz="1450" b="1">
                <a:solidFill>
                  <a:srgbClr val="2A2522"/>
                </a:solidFill>
                <a:latin typeface="Calibri"/>
              </a:rPr>
              <a:t>Vai trò: </a:t>
            </a:r>
            <a:r>
              <a:rPr sz="1450">
                <a:solidFill>
                  <a:srgbClr val="2A2522"/>
                </a:solidFill>
                <a:latin typeface="Calibri"/>
              </a:rPr>
              <a:t>nguồn thu chủ yếu của NSNN, công cụ điều tiết vĩ mô, bảo đảm công bằng xã hội.</a:t>
            </a:r>
          </a:p>
          <a:p>
            <a:pPr>
              <a:lnSpc>
                <a:spcPct val="112000"/>
              </a:lnSpc>
              <a:spcAft>
                <a:spcPts val="1000"/>
              </a:spcAft>
            </a:pPr>
            <a:r>
              <a:rPr sz="1450" b="1">
                <a:solidFill>
                  <a:srgbClr val="1F3B57"/>
                </a:solidFill>
                <a:latin typeface="Calibri"/>
              </a:rPr>
              <a:t>▪  </a:t>
            </a:r>
            <a:r>
              <a:rPr sz="1450" b="1">
                <a:solidFill>
                  <a:srgbClr val="2A2522"/>
                </a:solidFill>
                <a:latin typeface="Calibri"/>
              </a:rPr>
              <a:t>Các loại thuế: </a:t>
            </a:r>
            <a:r>
              <a:rPr sz="1450">
                <a:solidFill>
                  <a:srgbClr val="2A2522"/>
                </a:solidFill>
                <a:latin typeface="Calibri"/>
              </a:rPr>
              <a:t>thuế trực thu (TNCN, TNDN...) và thuế gián thu (GTGT, TTĐB, XNK...).</a:t>
            </a:r>
          </a:p>
          <a:p>
            <a:pPr>
              <a:lnSpc>
                <a:spcPct val="112000"/>
              </a:lnSpc>
              <a:spcAft>
                <a:spcPts val="1000"/>
              </a:spcAft>
            </a:pPr>
            <a:r>
              <a:rPr sz="1450" b="1">
                <a:solidFill>
                  <a:srgbClr val="1F3B57"/>
                </a:solidFill>
                <a:latin typeface="Calibri"/>
              </a:rPr>
              <a:t>▪  </a:t>
            </a:r>
            <a:r>
              <a:rPr sz="1450" b="1">
                <a:solidFill>
                  <a:srgbClr val="2A2522"/>
                </a:solidFill>
                <a:latin typeface="Calibri"/>
              </a:rPr>
              <a:t>Công dân: </a:t>
            </a:r>
            <a:r>
              <a:rPr sz="1450">
                <a:solidFill>
                  <a:srgbClr val="2A2522"/>
                </a:solidFill>
                <a:latin typeface="Calibri"/>
              </a:rPr>
              <a:t>có quyền và nghĩa vụ trong thực hiện pháp luật thuế; trốn thuế là vi phạm pháp luật.</a:t>
            </a:r>
          </a:p>
        </p:txBody>
      </p:sp>
      <p:sp>
        <p:nvSpPr>
          <p:cNvPr id="6" name="Rounded Rectangle 5"/>
          <p:cNvSpPr/>
          <p:nvPr/>
        </p:nvSpPr>
        <p:spPr>
          <a:xfrm>
            <a:off x="548640" y="5623560"/>
            <a:ext cx="11091672" cy="68580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623560"/>
            <a:ext cx="82296" cy="68580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788152"/>
            <a:ext cx="10671048" cy="365760"/>
          </a:xfrm>
          <a:prstGeom prst="rect">
            <a:avLst/>
          </a:prstGeom>
          <a:noFill/>
        </p:spPr>
        <p:txBody>
          <a:bodyPr wrap="square" anchor="t" lIns="0" rIns="0" tIns="0" bIns="0">
            <a:spAutoFit/>
          </a:bodyPr>
          <a:lstStyle/>
          <a:p>
            <a:pPr algn="l">
              <a:lnSpc>
                <a:spcPct val="100000"/>
              </a:lnSpc>
              <a:spcAft>
                <a:spcPts val="0"/>
              </a:spcAft>
            </a:pPr>
            <a:r>
              <a:rPr sz="100" b="1" i="0">
                <a:solidFill>
                  <a:srgbClr val="1F3B57"/>
                </a:solidFill>
                <a:latin typeface="Calibri"/>
              </a:rPr>
              <a:t/>
            </a:r>
          </a:p>
        </p:txBody>
      </p:sp>
      <p:sp>
        <p:nvSpPr>
          <p:cNvPr id="9" name="TextBox 8"/>
          <p:cNvSpPr txBox="1"/>
          <p:nvPr/>
        </p:nvSpPr>
        <p:spPr>
          <a:xfrm>
            <a:off x="786384" y="6153912"/>
            <a:ext cx="10671048" cy="2743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Cảm ơn các em đã tích cực tham gia bài học! Hẹn gặp lại ở Bài 7.</a:t>
            </a:r>
          </a:p>
        </p:txBody>
      </p:sp>
      <p:sp>
        <p:nvSpPr>
          <p:cNvPr id="10" name="Rectangle 9"/>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2 – Tổng kết</a:t>
            </a:r>
          </a:p>
        </p:txBody>
      </p:sp>
      <p:sp>
        <p:nvSpPr>
          <p:cNvPr id="12" name="TextBox 11"/>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