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2"/>
        </a:solidFill>
        <a:effectLst/>
      </p:bgPr>
    </p:bg>
    <p:spTree>
      <p:nvGrpSpPr>
        <p:cNvPr id="1" name=""/>
        <p:cNvGrpSpPr/>
        <p:nvPr/>
      </p:nvGrpSpPr>
      <p:grpSpPr/>
      <p:sp>
        <p:nvSpPr>
          <p:cNvPr id="2" name="Oval 1"/>
          <p:cNvSpPr/>
          <p:nvPr/>
        </p:nvSpPr>
        <p:spPr>
          <a:xfrm>
            <a:off x="-1280160" y="4206240"/>
            <a:ext cx="3291840" cy="329184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5486400" cy="365760"/>
          </a:xfrm>
          <a:prstGeom prst="rect">
            <a:avLst/>
          </a:prstGeom>
          <a:noFill/>
        </p:spPr>
        <p:txBody>
          <a:bodyPr wrap="square" anchor="t" lIns="0" rIns="0" tIns="0" bIns="0">
            <a:noAutofit/>
          </a:bodyPr>
          <a:lstStyle/>
          <a:p>
            <a:pPr algn="l"/>
            <a:r>
              <a:rPr sz="1500" b="1" i="0">
                <a:solidFill>
                  <a:srgbClr val="E8A03A"/>
                </a:solidFill>
                <a:latin typeface="Cambria"/>
              </a:rPr>
              <a:t>KHỞI ĐỘNG  ·  KHOẢNG 10 PHÚT</a:t>
            </a:r>
          </a:p>
        </p:txBody>
      </p:sp>
      <p:sp>
        <p:nvSpPr>
          <p:cNvPr id="4" name="TextBox 3"/>
          <p:cNvSpPr txBox="1"/>
          <p:nvPr/>
        </p:nvSpPr>
        <p:spPr>
          <a:xfrm>
            <a:off x="566928" y="2560320"/>
            <a:ext cx="9875520" cy="1463040"/>
          </a:xfrm>
          <a:prstGeom prst="rect">
            <a:avLst/>
          </a:prstGeom>
          <a:noFill/>
        </p:spPr>
        <p:txBody>
          <a:bodyPr wrap="square" anchor="t" lIns="0" rIns="0" tIns="0" bIns="0">
            <a:noAutofit/>
          </a:bodyPr>
          <a:lstStyle/>
          <a:p>
            <a:pPr algn="l">
              <a:lnSpc>
                <a:spcPct val="103000"/>
              </a:lnSpc>
            </a:pPr>
            <a:r>
              <a:rPr sz="3400" b="1" i="0">
                <a:solidFill>
                  <a:srgbClr val="FFFFFF"/>
                </a:solidFill>
                <a:latin typeface="Cambria"/>
              </a:rPr>
              <a:t>Trò chơi: Giải mã từ khoá Lao động</a:t>
            </a:r>
          </a:p>
        </p:txBody>
      </p:sp>
      <p:sp>
        <p:nvSpPr>
          <p:cNvPr id="5" name="TextBox 4"/>
          <p:cNvSpPr txBox="1"/>
          <p:nvPr/>
        </p:nvSpPr>
        <p:spPr>
          <a:xfrm>
            <a:off x="566928" y="3703320"/>
            <a:ext cx="8778240" cy="914400"/>
          </a:xfrm>
          <a:prstGeom prst="rect">
            <a:avLst/>
          </a:prstGeom>
          <a:noFill/>
        </p:spPr>
        <p:txBody>
          <a:bodyPr wrap="square" anchor="t" lIns="0" rIns="0" tIns="0" bIns="0">
            <a:noAutofit/>
          </a:bodyPr>
          <a:lstStyle/>
          <a:p>
            <a:pPr algn="l"/>
            <a:r>
              <a:rPr sz="1600" b="0" i="1">
                <a:solidFill>
                  <a:srgbClr val="FFFFFF"/>
                </a:solidFill>
                <a:latin typeface="Cambria"/>
              </a:rPr>
              <a:t>Quan sát gợi ý, đoán đúng từ khoá về thế giới việc làm để mở khoá bài học hôm nay!</a:t>
            </a:r>
          </a:p>
        </p:txBody>
      </p:sp>
      <p:sp>
        <p:nvSpPr>
          <p:cNvPr id="6" name="Rectangle 5"/>
          <p:cNvSpPr/>
          <p:nvPr/>
        </p:nvSpPr>
        <p:spPr>
          <a:xfrm>
            <a:off x="566928" y="6400800"/>
            <a:ext cx="11057839" cy="11430"/>
          </a:xfrm>
          <a:prstGeom prst="rect">
            <a:avLst/>
          </a:prstGeom>
          <a:solidFill>
            <a:srgbClr val="5B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FFFFFF"/>
                </a:solidFill>
                <a:latin typeface="Cambria"/>
              </a:rPr>
              <a:t>GDKTPL 11 | Bài 5: Thị trường lao động và việc làm - Tiết 1</a:t>
            </a:r>
          </a:p>
        </p:txBody>
      </p:sp>
      <p:sp>
        <p:nvSpPr>
          <p:cNvPr id="8" name="TextBox 7"/>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FFFFFF"/>
                </a:solidFill>
                <a:latin typeface="Cambria"/>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B87410"/>
                </a:solidFill>
                <a:latin typeface="Cambria"/>
              </a:rPr>
              <a:t>KHỞI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Cách chơi</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2</a:t>
            </a:r>
          </a:p>
        </p:txBody>
      </p:sp>
      <p:sp>
        <p:nvSpPr>
          <p:cNvPr id="7" name="Rounded Rectangle 6"/>
          <p:cNvSpPr/>
          <p:nvPr/>
        </p:nvSpPr>
        <p:spPr>
          <a:xfrm>
            <a:off x="566928" y="1783080"/>
            <a:ext cx="3515258" cy="4389120"/>
          </a:xfrm>
          <a:prstGeom prst="roundRect">
            <a:avLst>
              <a:gd name="adj" fmla="val 9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1</a:t>
            </a:r>
          </a:p>
        </p:txBody>
      </p:sp>
      <p:sp>
        <p:nvSpPr>
          <p:cNvPr id="10" name="TextBox 9"/>
          <p:cNvSpPr txBox="1"/>
          <p:nvPr/>
        </p:nvSpPr>
        <p:spPr>
          <a:xfrm>
            <a:off x="133502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Chia đội</a:t>
            </a:r>
          </a:p>
        </p:txBody>
      </p:sp>
      <p:sp>
        <p:nvSpPr>
          <p:cNvPr id="11" name="TextBox 10"/>
          <p:cNvSpPr txBox="1"/>
          <p:nvPr/>
        </p:nvSpPr>
        <p:spPr>
          <a:xfrm>
            <a:off x="76809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Lớp chia thành 4 đội. Mỗi đội cử đại diện bấm chuông giành quyền trả lời sau khi xem gợi ý.</a:t>
            </a:r>
          </a:p>
        </p:txBody>
      </p:sp>
      <p:sp>
        <p:nvSpPr>
          <p:cNvPr id="12" name="Rounded Rectangle 11"/>
          <p:cNvSpPr/>
          <p:nvPr/>
        </p:nvSpPr>
        <p:spPr>
          <a:xfrm>
            <a:off x="4338218" y="1783080"/>
            <a:ext cx="3515258" cy="4389120"/>
          </a:xfrm>
          <a:prstGeom prst="roundRect">
            <a:avLst>
              <a:gd name="adj" fmla="val 9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39386" y="1984248"/>
            <a:ext cx="420624" cy="420624"/>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938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2</a:t>
            </a:r>
          </a:p>
        </p:txBody>
      </p:sp>
      <p:sp>
        <p:nvSpPr>
          <p:cNvPr id="15" name="TextBox 14"/>
          <p:cNvSpPr txBox="1"/>
          <p:nvPr/>
        </p:nvSpPr>
        <p:spPr>
          <a:xfrm>
            <a:off x="510631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Xem gợi ý, đoán từ khoá</a:t>
            </a:r>
          </a:p>
        </p:txBody>
      </p:sp>
      <p:sp>
        <p:nvSpPr>
          <p:cNvPr id="16" name="TextBox 15"/>
          <p:cNvSpPr txBox="1"/>
          <p:nvPr/>
        </p:nvSpPr>
        <p:spPr>
          <a:xfrm>
            <a:off x="453938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GV lần lượt chiếu 3 gợi ý (mỗi gợi ý mô tả một khái niệm liên quan bài học). Đội trả lời đúng và nhanh nhất được tính điểm.</a:t>
            </a:r>
          </a:p>
        </p:txBody>
      </p:sp>
      <p:sp>
        <p:nvSpPr>
          <p:cNvPr id="17" name="Rounded Rectangle 16"/>
          <p:cNvSpPr/>
          <p:nvPr/>
        </p:nvSpPr>
        <p:spPr>
          <a:xfrm>
            <a:off x="8109508" y="1783080"/>
            <a:ext cx="3515258" cy="4389120"/>
          </a:xfrm>
          <a:prstGeom prst="roundRect">
            <a:avLst>
              <a:gd name="adj" fmla="val 9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0676"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067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3</a:t>
            </a:r>
          </a:p>
        </p:txBody>
      </p:sp>
      <p:sp>
        <p:nvSpPr>
          <p:cNvPr id="20" name="TextBox 19"/>
          <p:cNvSpPr txBox="1"/>
          <p:nvPr/>
        </p:nvSpPr>
        <p:spPr>
          <a:xfrm>
            <a:off x="887760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Tính điểm</a:t>
            </a:r>
          </a:p>
        </p:txBody>
      </p:sp>
      <p:sp>
        <p:nvSpPr>
          <p:cNvPr id="21" name="TextBox 20"/>
          <p:cNvSpPr txBox="1"/>
          <p:nvPr/>
        </p:nvSpPr>
        <p:spPr>
          <a:xfrm>
            <a:off x="831067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Mỗi từ khoá đúng: 10 điểm. Đội nhiều điểm nhất sau 3 lượt là đội chiến thắng, được cộng điểm thưởng.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B87410"/>
                </a:solidFill>
                <a:latin typeface="Cambria"/>
              </a:rPr>
              <a:t>KHỞI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Bộ gợi ý - Giải mã 3 từ khoá</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3</a:t>
            </a:r>
          </a:p>
        </p:txBody>
      </p:sp>
      <p:sp>
        <p:nvSpPr>
          <p:cNvPr id="7" name="Rounded Rectangle 6"/>
          <p:cNvSpPr/>
          <p:nvPr/>
        </p:nvSpPr>
        <p:spPr>
          <a:xfrm>
            <a:off x="566928" y="1783080"/>
            <a:ext cx="3515258" cy="3886200"/>
          </a:xfrm>
          <a:prstGeom prst="roundRect">
            <a:avLst>
              <a:gd name="adj" fmla="val 9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a:t>
            </a:r>
          </a:p>
        </p:txBody>
      </p:sp>
      <p:sp>
        <p:nvSpPr>
          <p:cNvPr id="10" name="TextBox 9"/>
          <p:cNvSpPr txBox="1"/>
          <p:nvPr/>
        </p:nvSpPr>
        <p:spPr>
          <a:xfrm>
            <a:off x="133502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Từ khoá số 1</a:t>
            </a:r>
          </a:p>
        </p:txBody>
      </p:sp>
      <p:sp>
        <p:nvSpPr>
          <p:cNvPr id="11" name="TextBox 10"/>
          <p:cNvSpPr txBox="1"/>
          <p:nvPr/>
        </p:nvSpPr>
        <p:spPr>
          <a:xfrm>
            <a:off x="768096" y="2478024"/>
            <a:ext cx="3112922" cy="299008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“Hoạt động có mục đích, có ý thức của con người nhằm tạo ra sản phẩm phục vụ nhu cầu xã hội.”</a:t>
            </a:r>
          </a:p>
        </p:txBody>
      </p:sp>
      <p:sp>
        <p:nvSpPr>
          <p:cNvPr id="12" name="Rounded Rectangle 11"/>
          <p:cNvSpPr/>
          <p:nvPr/>
        </p:nvSpPr>
        <p:spPr>
          <a:xfrm>
            <a:off x="4338218" y="1783080"/>
            <a:ext cx="3515258" cy="3886200"/>
          </a:xfrm>
          <a:prstGeom prst="roundRect">
            <a:avLst>
              <a:gd name="adj" fmla="val 9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39386" y="1984248"/>
            <a:ext cx="420624" cy="420624"/>
          </a:xfrm>
          <a:prstGeom prst="ellipse">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938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a:t>
            </a:r>
          </a:p>
        </p:txBody>
      </p:sp>
      <p:sp>
        <p:nvSpPr>
          <p:cNvPr id="15" name="TextBox 14"/>
          <p:cNvSpPr txBox="1"/>
          <p:nvPr/>
        </p:nvSpPr>
        <p:spPr>
          <a:xfrm>
            <a:off x="510631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Từ khoá số 2</a:t>
            </a:r>
          </a:p>
        </p:txBody>
      </p:sp>
      <p:sp>
        <p:nvSpPr>
          <p:cNvPr id="16" name="TextBox 15"/>
          <p:cNvSpPr txBox="1"/>
          <p:nvPr/>
        </p:nvSpPr>
        <p:spPr>
          <a:xfrm>
            <a:off x="4539386" y="2478024"/>
            <a:ext cx="3112922" cy="299008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“Nơi người lao động và doanh nghiệp gặp nhau để thoả thuận về việc làm, tiền lương, điều kiện làm việc.”</a:t>
            </a:r>
          </a:p>
        </p:txBody>
      </p:sp>
      <p:sp>
        <p:nvSpPr>
          <p:cNvPr id="17" name="Rounded Rectangle 16"/>
          <p:cNvSpPr/>
          <p:nvPr/>
        </p:nvSpPr>
        <p:spPr>
          <a:xfrm>
            <a:off x="8109508" y="1783080"/>
            <a:ext cx="3515258" cy="3886200"/>
          </a:xfrm>
          <a:prstGeom prst="roundRect">
            <a:avLst>
              <a:gd name="adj" fmla="val 9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0676" y="1984248"/>
            <a:ext cx="420624" cy="420624"/>
          </a:xfrm>
          <a:prstGeom prst="ellipse">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067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a:t>
            </a:r>
          </a:p>
        </p:txBody>
      </p:sp>
      <p:sp>
        <p:nvSpPr>
          <p:cNvPr id="20" name="TextBox 19"/>
          <p:cNvSpPr txBox="1"/>
          <p:nvPr/>
        </p:nvSpPr>
        <p:spPr>
          <a:xfrm>
            <a:off x="887760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Từ khoá số 3</a:t>
            </a:r>
          </a:p>
        </p:txBody>
      </p:sp>
      <p:sp>
        <p:nvSpPr>
          <p:cNvPr id="21" name="TextBox 20"/>
          <p:cNvSpPr txBox="1"/>
          <p:nvPr/>
        </p:nvSpPr>
        <p:spPr>
          <a:xfrm>
            <a:off x="8310676" y="2478024"/>
            <a:ext cx="3112922" cy="299008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“Khoản tiền người sử dụng lao động trả cho người lao động theo thoả thuận, gắn với năng suất, chất lượng công việc.”</a:t>
            </a:r>
          </a:p>
        </p:txBody>
      </p:sp>
      <p:sp>
        <p:nvSpPr>
          <p:cNvPr id="22" name="Rounded Rectangle 21"/>
          <p:cNvSpPr/>
          <p:nvPr/>
        </p:nvSpPr>
        <p:spPr>
          <a:xfrm>
            <a:off x="566928" y="5779008"/>
            <a:ext cx="11057839" cy="457200"/>
          </a:xfrm>
          <a:prstGeom prst="roundRect">
            <a:avLst>
              <a:gd name="adj" fmla="val 1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5833872"/>
            <a:ext cx="10692079" cy="347472"/>
          </a:xfrm>
          <a:prstGeom prst="rect">
            <a:avLst/>
          </a:prstGeom>
          <a:noFill/>
        </p:spPr>
        <p:txBody>
          <a:bodyPr wrap="square" anchor="ctr" lIns="0" rIns="0" tIns="0" bIns="0">
            <a:noAutofit/>
          </a:bodyPr>
          <a:lstStyle/>
          <a:p>
            <a:pPr algn="l"/>
            <a:r>
              <a:rPr sz="1200" b="0" i="0">
                <a:solidFill>
                  <a:srgbClr val="2B211A"/>
                </a:solidFill>
                <a:latin typeface="Cambria"/>
              </a:rPr>
              <a:t>Gợi ý thêm: cả 3 từ khoá đều là những “mảnh ghép” của một chủ đề lớn hơn mà lớp mình sẽ khám phá hôm nay.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B87410"/>
                </a:solidFill>
                <a:latin typeface="Cambria"/>
              </a:rPr>
              <a:t>KHỞI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Đáp án &amp; Kết nối vào bài</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4</a:t>
            </a:r>
          </a:p>
        </p:txBody>
      </p:sp>
      <p:sp>
        <p:nvSpPr>
          <p:cNvPr id="7" name="Rounded Rectangle 6"/>
          <p:cNvSpPr/>
          <p:nvPr/>
        </p:nvSpPr>
        <p:spPr>
          <a:xfrm>
            <a:off x="566928" y="1783080"/>
            <a:ext cx="3515258" cy="3886200"/>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1</a:t>
            </a:r>
          </a:p>
        </p:txBody>
      </p:sp>
      <p:sp>
        <p:nvSpPr>
          <p:cNvPr id="10" name="TextBox 9"/>
          <p:cNvSpPr txBox="1"/>
          <p:nvPr/>
        </p:nvSpPr>
        <p:spPr>
          <a:xfrm>
            <a:off x="133502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LAO ĐỘNG</a:t>
            </a:r>
          </a:p>
        </p:txBody>
      </p:sp>
      <p:sp>
        <p:nvSpPr>
          <p:cNvPr id="11" name="TextBox 10"/>
          <p:cNvSpPr txBox="1"/>
          <p:nvPr/>
        </p:nvSpPr>
        <p:spPr>
          <a:xfrm>
            <a:off x="768096" y="2478024"/>
            <a:ext cx="3112922" cy="299008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Hoạt động có mục đích, có ý thức nhằm tạo ra sản phẩm phục vụ nhu cầu xã hội.</a:t>
            </a:r>
          </a:p>
        </p:txBody>
      </p:sp>
      <p:sp>
        <p:nvSpPr>
          <p:cNvPr id="12" name="Rounded Rectangle 11"/>
          <p:cNvSpPr/>
          <p:nvPr/>
        </p:nvSpPr>
        <p:spPr>
          <a:xfrm>
            <a:off x="4338218" y="1783080"/>
            <a:ext cx="3515258" cy="3886200"/>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39386"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938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2</a:t>
            </a:r>
          </a:p>
        </p:txBody>
      </p:sp>
      <p:sp>
        <p:nvSpPr>
          <p:cNvPr id="15" name="TextBox 14"/>
          <p:cNvSpPr txBox="1"/>
          <p:nvPr/>
        </p:nvSpPr>
        <p:spPr>
          <a:xfrm>
            <a:off x="510631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THỊ TRƯỜNG LAO ĐỘNG</a:t>
            </a:r>
          </a:p>
        </p:txBody>
      </p:sp>
      <p:sp>
        <p:nvSpPr>
          <p:cNvPr id="16" name="TextBox 15"/>
          <p:cNvSpPr txBox="1"/>
          <p:nvPr/>
        </p:nvSpPr>
        <p:spPr>
          <a:xfrm>
            <a:off x="4539386" y="2478024"/>
            <a:ext cx="3112922" cy="299008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Nơi người lao động và người sử dụng lao động thoả thuận về việc làm, tiền lương.</a:t>
            </a:r>
          </a:p>
        </p:txBody>
      </p:sp>
      <p:sp>
        <p:nvSpPr>
          <p:cNvPr id="17" name="Rounded Rectangle 16"/>
          <p:cNvSpPr/>
          <p:nvPr/>
        </p:nvSpPr>
        <p:spPr>
          <a:xfrm>
            <a:off x="8109508" y="1783080"/>
            <a:ext cx="3515258" cy="3886200"/>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0676"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067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3</a:t>
            </a:r>
          </a:p>
        </p:txBody>
      </p:sp>
      <p:sp>
        <p:nvSpPr>
          <p:cNvPr id="20" name="TextBox 19"/>
          <p:cNvSpPr txBox="1"/>
          <p:nvPr/>
        </p:nvSpPr>
        <p:spPr>
          <a:xfrm>
            <a:off x="887760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GIÁ CẢ SỨC LAO ĐỘNG</a:t>
            </a:r>
          </a:p>
        </p:txBody>
      </p:sp>
      <p:sp>
        <p:nvSpPr>
          <p:cNvPr id="21" name="TextBox 20"/>
          <p:cNvSpPr txBox="1"/>
          <p:nvPr/>
        </p:nvSpPr>
        <p:spPr>
          <a:xfrm>
            <a:off x="8310676" y="2478024"/>
            <a:ext cx="3112922" cy="299008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Tiền lương, tiền công - khoản trả cho người lao động theo thoả thuận.</a:t>
            </a:r>
          </a:p>
        </p:txBody>
      </p:sp>
      <p:sp>
        <p:nvSpPr>
          <p:cNvPr id="22" name="Rounded Rectangle 21"/>
          <p:cNvSpPr/>
          <p:nvPr/>
        </p:nvSpPr>
        <p:spPr>
          <a:xfrm>
            <a:off x="566928" y="5779008"/>
            <a:ext cx="11057839" cy="457200"/>
          </a:xfrm>
          <a:prstGeom prst="roundRect">
            <a:avLst>
              <a:gd name="adj" fmla="val 1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5833872"/>
            <a:ext cx="10692079" cy="347472"/>
          </a:xfrm>
          <a:prstGeom prst="rect">
            <a:avLst/>
          </a:prstGeom>
          <a:noFill/>
        </p:spPr>
        <p:txBody>
          <a:bodyPr wrap="square" anchor="ctr" lIns="0" rIns="0" tIns="0" bIns="0">
            <a:noAutofit/>
          </a:bodyPr>
          <a:lstStyle/>
          <a:p>
            <a:pPr algn="l"/>
            <a:r>
              <a:rPr sz="1200" b="0" i="0">
                <a:solidFill>
                  <a:srgbClr val="2B211A"/>
                </a:solidFill>
                <a:latin typeface="Cambria"/>
              </a:rPr>
              <a:t>Ba từ khoá này chính là những “mảnh ghép” đầu tiên của bài học: Thị trường lao động và việc làm.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A13D52"/>
                </a:solidFill>
                <a:latin typeface="Cambria"/>
              </a:rPr>
              <a:t>GỢI MỞ</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Điều gì đang vận hành phía sau mỗi tin tuyển dụng?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5</a:t>
            </a:r>
          </a:p>
        </p:txBody>
      </p:sp>
      <p:sp>
        <p:nvSpPr>
          <p:cNvPr id="7" name="Rounded Rectangle 6"/>
          <p:cNvSpPr/>
          <p:nvPr/>
        </p:nvSpPr>
        <p:spPr>
          <a:xfrm>
            <a:off x="566928" y="1783080"/>
            <a:ext cx="11057839" cy="1051560"/>
          </a:xfrm>
          <a:prstGeom prst="roundRect">
            <a:avLst>
              <a:gd name="adj" fmla="val 9000"/>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11096"/>
            <a:ext cx="10600639" cy="274320"/>
          </a:xfrm>
          <a:prstGeom prst="rect">
            <a:avLst/>
          </a:prstGeom>
          <a:noFill/>
        </p:spPr>
        <p:txBody>
          <a:bodyPr wrap="square" anchor="t" lIns="0" rIns="0" tIns="0" bIns="0">
            <a:noAutofit/>
          </a:bodyPr>
          <a:lstStyle/>
          <a:p>
            <a:pPr algn="l"/>
            <a:r>
              <a:rPr sz="1200" b="1" i="0">
                <a:solidFill>
                  <a:srgbClr val="FFFFFF"/>
                </a:solidFill>
                <a:latin typeface="Cambria"/>
              </a:rPr>
              <a:t>QUAN SÁT THỰC TẾ</a:t>
            </a:r>
          </a:p>
        </p:txBody>
      </p:sp>
      <p:sp>
        <p:nvSpPr>
          <p:cNvPr id="9" name="TextBox 8"/>
          <p:cNvSpPr txBox="1"/>
          <p:nvPr/>
        </p:nvSpPr>
        <p:spPr>
          <a:xfrm>
            <a:off x="795528" y="2203704"/>
            <a:ext cx="10600639" cy="566928"/>
          </a:xfrm>
          <a:prstGeom prst="rect">
            <a:avLst/>
          </a:prstGeom>
          <a:noFill/>
        </p:spPr>
        <p:txBody>
          <a:bodyPr wrap="square" anchor="t" lIns="0" rIns="0" tIns="0" bIns="0">
            <a:noAutofit/>
          </a:bodyPr>
          <a:lstStyle/>
          <a:p>
            <a:pPr algn="l">
              <a:lnSpc>
                <a:spcPct val="112000"/>
              </a:lnSpc>
            </a:pPr>
            <a:r>
              <a:rPr sz="1450" b="0" i="0">
                <a:solidFill>
                  <a:srgbClr val="FFFFFF"/>
                </a:solidFill>
                <a:latin typeface="Cambria"/>
              </a:rPr>
              <a:t>Mỗi ngày, hàng nghìn tin tuyển dụng xuất hiện trên mạng xã hội, hàng vạn người trẻ nộp hồ sơ tìm việc; nhiều hội chợ việc làm, sàn giao dịch việc làm được tổ chức tại các thành phố lớn.</a:t>
            </a:r>
          </a:p>
        </p:txBody>
      </p:sp>
      <p:sp>
        <p:nvSpPr>
          <p:cNvPr id="10" name="TextBox 9"/>
          <p:cNvSpPr txBox="1"/>
          <p:nvPr/>
        </p:nvSpPr>
        <p:spPr>
          <a:xfrm>
            <a:off x="566928" y="3063240"/>
            <a:ext cx="11057839" cy="320040"/>
          </a:xfrm>
          <a:prstGeom prst="rect">
            <a:avLst/>
          </a:prstGeom>
          <a:noFill/>
        </p:spPr>
        <p:txBody>
          <a:bodyPr wrap="square" anchor="t" lIns="0" rIns="0" tIns="0" bIns="0">
            <a:noAutofit/>
          </a:bodyPr>
          <a:lstStyle/>
          <a:p>
            <a:pPr algn="l"/>
            <a:r>
              <a:rPr sz="1400" b="1" i="0">
                <a:solidFill>
                  <a:srgbClr val="2B211A"/>
                </a:solidFill>
                <a:latin typeface="Cambria"/>
              </a:rPr>
              <a:t>Cùng suy nghĩ</a:t>
            </a:r>
          </a:p>
        </p:txBody>
      </p:sp>
      <p:sp>
        <p:nvSpPr>
          <p:cNvPr id="11" name="TextBox 10"/>
          <p:cNvSpPr txBox="1"/>
          <p:nvPr/>
        </p:nvSpPr>
        <p:spPr>
          <a:xfrm>
            <a:off x="612648" y="3474720"/>
            <a:ext cx="10966399" cy="2743200"/>
          </a:xfrm>
          <a:prstGeom prst="rect">
            <a:avLst/>
          </a:prstGeom>
          <a:noFill/>
        </p:spPr>
        <p:txBody>
          <a:bodyPr wrap="square" lIns="0" rIns="0" tIns="0" bIns="0">
            <a:noAutofit/>
          </a:bodyPr>
          <a:lstStyle/>
          <a:p>
            <a:pPr>
              <a:spcAft>
                <a:spcPts val="1000"/>
              </a:spcAft>
            </a:pPr>
            <a:r>
              <a:rPr sz="1400" b="1" i="0">
                <a:solidFill>
                  <a:srgbClr val="B87410"/>
                </a:solidFill>
                <a:latin typeface="Cambria"/>
              </a:rPr>
              <a:t>•  Vì sao lại có nhiều người tìm việc đến vậy?</a:t>
            </a:r>
            <a:r>
              <a:rPr sz="1400" b="0" i="0">
                <a:solidFill>
                  <a:srgbClr val="2B211A"/>
                </a:solidFill>
                <a:latin typeface="Cambria"/>
              </a:rPr>
              <a:t>  Và vì sao doanh nghiệp luôn cần tuyển thêm nhân sự?</a:t>
            </a:r>
          </a:p>
          <a:p>
            <a:pPr>
              <a:spcAft>
                <a:spcPts val="1000"/>
              </a:spcAft>
            </a:pPr>
            <a:r>
              <a:rPr sz="1400" b="1" i="0">
                <a:solidFill>
                  <a:srgbClr val="B87410"/>
                </a:solidFill>
                <a:latin typeface="Cambria"/>
              </a:rPr>
              <a:t>•  Ai quyết định mức lương được đề nghị trong các tin tuyển dụng đó?</a:t>
            </a:r>
          </a:p>
          <a:p>
            <a:pPr>
              <a:spcAft>
                <a:spcPts val="1000"/>
              </a:spcAft>
            </a:pPr>
            <a:r>
              <a:rPr sz="1400" b="1" i="0">
                <a:solidFill>
                  <a:srgbClr val="B87410"/>
                </a:solidFill>
                <a:latin typeface="Cambria"/>
              </a:rPr>
              <a:t>•  Tất cả những hoạt động “gặp nhau” ấy diễn ra trên một “sân chơi” gọi là gì?</a:t>
            </a:r>
            <a:r>
              <a:rPr sz="1400" b="0" i="0">
                <a:solidFill>
                  <a:srgbClr val="2B211A"/>
                </a:solidFill>
                <a:latin typeface="Cambria"/>
              </a:rPr>
              <a:t>  Chúng ta cùng tìm hiểu trong bài học hôm nay.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3A52"/>
        </a:solidFill>
        <a:effectLst/>
      </p:bgPr>
    </p:bg>
    <p:spTree>
      <p:nvGrpSpPr>
        <p:cNvPr id="1" name=""/>
        <p:cNvGrpSpPr/>
        <p:nvPr/>
      </p:nvGrpSpPr>
      <p:grpSpPr/>
      <p:sp>
        <p:nvSpPr>
          <p:cNvPr id="2" name="Oval 1"/>
          <p:cNvSpPr/>
          <p:nvPr/>
        </p:nvSpPr>
        <p:spPr>
          <a:xfrm>
            <a:off x="9052560" y="-1371600"/>
            <a:ext cx="3840480" cy="384048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46920" y="-822960"/>
            <a:ext cx="2194560" cy="2194560"/>
          </a:xfrm>
          <a:prstGeom prst="ellipse">
            <a:avLst/>
          </a:prstGeom>
          <a:solidFill>
            <a:srgbClr val="E8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60120"/>
            <a:ext cx="8412480" cy="365760"/>
          </a:xfrm>
          <a:prstGeom prst="rect">
            <a:avLst/>
          </a:prstGeom>
          <a:noFill/>
        </p:spPr>
        <p:txBody>
          <a:bodyPr wrap="square" anchor="t" lIns="0" rIns="0" tIns="0" bIns="0">
            <a:noAutofit/>
          </a:bodyPr>
          <a:lstStyle/>
          <a:p>
            <a:pPr algn="l"/>
            <a:r>
              <a:rPr sz="1500" b="1" i="0">
                <a:solidFill>
                  <a:srgbClr val="E8A03A"/>
                </a:solidFill>
                <a:latin typeface="Cambria"/>
              </a:rPr>
              <a:t>GIÁO DỤC KINH TẾ VÀ PHÁP LUẬT 11</a:t>
            </a:r>
          </a:p>
        </p:txBody>
      </p:sp>
      <p:sp>
        <p:nvSpPr>
          <p:cNvPr id="5" name="TextBox 4"/>
          <p:cNvSpPr txBox="1"/>
          <p:nvPr/>
        </p:nvSpPr>
        <p:spPr>
          <a:xfrm>
            <a:off x="566928" y="1417320"/>
            <a:ext cx="9509760" cy="1371600"/>
          </a:xfrm>
          <a:prstGeom prst="rect">
            <a:avLst/>
          </a:prstGeom>
          <a:noFill/>
        </p:spPr>
        <p:txBody>
          <a:bodyPr wrap="square" anchor="t" lIns="0" rIns="0" tIns="0" bIns="0">
            <a:noAutofit/>
          </a:bodyPr>
          <a:lstStyle/>
          <a:p>
            <a:pPr algn="l">
              <a:lnSpc>
                <a:spcPct val="102000"/>
              </a:lnSpc>
            </a:pPr>
            <a:r>
              <a:rPr sz="4000" b="1" i="0">
                <a:solidFill>
                  <a:srgbClr val="FFFFFF"/>
                </a:solidFill>
                <a:latin typeface="Cambria"/>
              </a:rPr>
              <a:t>Bài 5: Thị trường lao động và việc làm</a:t>
            </a:r>
          </a:p>
        </p:txBody>
      </p:sp>
      <p:sp>
        <p:nvSpPr>
          <p:cNvPr id="6" name="TextBox 5"/>
          <p:cNvSpPr txBox="1"/>
          <p:nvPr/>
        </p:nvSpPr>
        <p:spPr>
          <a:xfrm>
            <a:off x="566928" y="2606040"/>
            <a:ext cx="9509760" cy="914400"/>
          </a:xfrm>
          <a:prstGeom prst="rect">
            <a:avLst/>
          </a:prstGeom>
          <a:noFill/>
        </p:spPr>
        <p:txBody>
          <a:bodyPr wrap="square" anchor="t" lIns="0" rIns="0" tIns="0" bIns="0">
            <a:noAutofit/>
          </a:bodyPr>
          <a:lstStyle/>
          <a:p>
            <a:pPr algn="l"/>
            <a:r>
              <a:rPr sz="2200" b="1" i="1">
                <a:solidFill>
                  <a:srgbClr val="FFFFFF"/>
                </a:solidFill>
                <a:latin typeface="Cambria"/>
              </a:rPr>
              <a:t>Tiết 1: </a:t>
            </a:r>
            <a:r>
              <a:rPr sz="2200" b="1" i="1">
                <a:solidFill>
                  <a:srgbClr val="E8A03A"/>
                </a:solidFill>
                <a:latin typeface="Cambria"/>
              </a:rPr>
              <a:t>Lao động và thị trường lao động</a:t>
            </a:r>
          </a:p>
        </p:txBody>
      </p:sp>
      <p:sp>
        <p:nvSpPr>
          <p:cNvPr id="7" name="Rectangle 6"/>
          <p:cNvSpPr/>
          <p:nvPr/>
        </p:nvSpPr>
        <p:spPr>
          <a:xfrm>
            <a:off x="566928" y="4434840"/>
            <a:ext cx="640080" cy="38100"/>
          </a:xfrm>
          <a:prstGeom prst="rect">
            <a:avLst/>
          </a:prstGeom>
          <a:solidFill>
            <a:srgbClr val="E8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17720"/>
            <a:ext cx="9509760" cy="1097280"/>
          </a:xfrm>
          <a:prstGeom prst="rect">
            <a:avLst/>
          </a:prstGeom>
          <a:noFill/>
        </p:spPr>
        <p:txBody>
          <a:bodyPr wrap="square" anchor="t" lIns="0" rIns="0" tIns="0" bIns="0">
            <a:noAutofit/>
          </a:bodyPr>
          <a:lstStyle/>
          <a:p>
            <a:pPr algn="l">
              <a:lnSpc>
                <a:spcPct val="125000"/>
              </a:lnSpc>
            </a:pPr>
            <a:r>
              <a:rPr sz="1300" b="0" i="0">
                <a:solidFill>
                  <a:srgbClr val="FFFFFF"/>
                </a:solidFill>
                <a:latin typeface="Cambria"/>
              </a:rPr>
              <a:t>Chủ đề 3: Thị trường lao động, việc làm</a:t>
            </a:r>
          </a:p>
          <a:p>
            <a:pPr algn="l">
              <a:lnSpc>
                <a:spcPct val="125000"/>
              </a:lnSpc>
            </a:pPr>
            <a:r>
              <a:rPr sz="1300" b="0" i="0">
                <a:solidFill>
                  <a:srgbClr val="FFFFFF"/>
                </a:solidFill>
                <a:latin typeface="Cambria"/>
              </a:rPr>
              <a:t>Trường Quốc tế Nhật Bản | Năm học 2026-2027</a:t>
            </a:r>
          </a:p>
          <a:p>
            <a:pPr algn="l">
              <a:lnSpc>
                <a:spcPct val="125000"/>
              </a:lnSpc>
            </a:pPr>
            <a:r>
              <a:rPr sz="1300" b="0" i="0">
                <a:solidFill>
                  <a:srgbClr val="FFFFFF"/>
                </a:solidFill>
                <a:latin typeface="Cambria"/>
              </a:rPr>
              <a:t>Thời lượng: 45 phút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2C5A73"/>
                </a:solidFill>
                <a:latin typeface="Cambria"/>
              </a:rPr>
              <a:t>MỤC TIÊU</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Mục tiêu cần đạt - Tiết 1</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7</a:t>
            </a:r>
          </a:p>
        </p:txBody>
      </p:sp>
      <p:sp>
        <p:nvSpPr>
          <p:cNvPr id="7" name="Rounded Rectangle 6"/>
          <p:cNvSpPr/>
          <p:nvPr/>
        </p:nvSpPr>
        <p:spPr>
          <a:xfrm>
            <a:off x="566928" y="1783080"/>
            <a:ext cx="3515258" cy="4389120"/>
          </a:xfrm>
          <a:prstGeom prst="roundRect">
            <a:avLst>
              <a:gd name="adj" fmla="val 9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K</a:t>
            </a:r>
          </a:p>
        </p:txBody>
      </p:sp>
      <p:sp>
        <p:nvSpPr>
          <p:cNvPr id="10" name="TextBox 9"/>
          <p:cNvSpPr txBox="1"/>
          <p:nvPr/>
        </p:nvSpPr>
        <p:spPr>
          <a:xfrm>
            <a:off x="133502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Kiến thức</a:t>
            </a:r>
          </a:p>
        </p:txBody>
      </p:sp>
      <p:sp>
        <p:nvSpPr>
          <p:cNvPr id="11" name="TextBox 10"/>
          <p:cNvSpPr txBox="1"/>
          <p:nvPr/>
        </p:nvSpPr>
        <p:spPr>
          <a:xfrm>
            <a:off x="76809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Nêu được khái niệm lao động, thị trường lao động; chỉ ra được các yếu tố cấu thành thị trường lao động (cung, cầu, giá cả sức lao động).</a:t>
            </a:r>
          </a:p>
        </p:txBody>
      </p:sp>
      <p:sp>
        <p:nvSpPr>
          <p:cNvPr id="12" name="Rounded Rectangle 11"/>
          <p:cNvSpPr/>
          <p:nvPr/>
        </p:nvSpPr>
        <p:spPr>
          <a:xfrm>
            <a:off x="4338218" y="1783080"/>
            <a:ext cx="3515258" cy="4389120"/>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39386" y="1984248"/>
            <a:ext cx="420624" cy="420624"/>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938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N</a:t>
            </a:r>
          </a:p>
        </p:txBody>
      </p:sp>
      <p:sp>
        <p:nvSpPr>
          <p:cNvPr id="15" name="TextBox 14"/>
          <p:cNvSpPr txBox="1"/>
          <p:nvPr/>
        </p:nvSpPr>
        <p:spPr>
          <a:xfrm>
            <a:off x="510631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Năng lực</a:t>
            </a:r>
          </a:p>
        </p:txBody>
      </p:sp>
      <p:sp>
        <p:nvSpPr>
          <p:cNvPr id="16" name="TextBox 15"/>
          <p:cNvSpPr txBox="1"/>
          <p:nvPr/>
        </p:nvSpPr>
        <p:spPr>
          <a:xfrm>
            <a:off x="453938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Tìm hiểu, thu thập thông tin thực tế về thị trường lao động; hợp tác nhóm khi thảo luận, trình bày quan điểm cá nhân.</a:t>
            </a:r>
          </a:p>
        </p:txBody>
      </p:sp>
      <p:sp>
        <p:nvSpPr>
          <p:cNvPr id="17" name="Rounded Rectangle 16"/>
          <p:cNvSpPr/>
          <p:nvPr/>
        </p:nvSpPr>
        <p:spPr>
          <a:xfrm>
            <a:off x="8109508" y="1783080"/>
            <a:ext cx="3515258" cy="4389120"/>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0676"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067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P</a:t>
            </a:r>
          </a:p>
        </p:txBody>
      </p:sp>
      <p:sp>
        <p:nvSpPr>
          <p:cNvPr id="20" name="TextBox 19"/>
          <p:cNvSpPr txBox="1"/>
          <p:nvPr/>
        </p:nvSpPr>
        <p:spPr>
          <a:xfrm>
            <a:off x="887760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Phẩm chất</a:t>
            </a:r>
          </a:p>
        </p:txBody>
      </p:sp>
      <p:sp>
        <p:nvSpPr>
          <p:cNvPr id="21" name="TextBox 20"/>
          <p:cNvSpPr txBox="1"/>
          <p:nvPr/>
        </p:nvSpPr>
        <p:spPr>
          <a:xfrm>
            <a:off x="831067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Chăm chỉ tìm hiểu kiến thức; có trách nhiệm chuẩn bị hành trang cho bản thân khi tham gia thị trường lao động trong tương lai.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2C5A73"/>
                </a:solidFill>
                <a:latin typeface="Cambria"/>
              </a:rPr>
              <a:t>MỤC TIÊU</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Nội dung trọng tâm tiết học</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8</a:t>
            </a:r>
          </a:p>
        </p:txBody>
      </p:sp>
      <p:sp>
        <p:nvSpPr>
          <p:cNvPr id="7" name="Rounded Rectangle 6"/>
          <p:cNvSpPr/>
          <p:nvPr/>
        </p:nvSpPr>
        <p:spPr>
          <a:xfrm>
            <a:off x="566928" y="1783080"/>
            <a:ext cx="11057839" cy="777240"/>
          </a:xfrm>
          <a:prstGeom prst="roundRect">
            <a:avLst>
              <a:gd name="adj" fmla="val 10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01952"/>
            <a:ext cx="10600639" cy="548640"/>
          </a:xfrm>
          <a:prstGeom prst="rect">
            <a:avLst/>
          </a:prstGeom>
          <a:noFill/>
        </p:spPr>
        <p:txBody>
          <a:bodyPr wrap="square" anchor="ctr" lIns="0" rIns="0" tIns="0" bIns="0">
            <a:noAutofit/>
          </a:bodyPr>
          <a:lstStyle/>
          <a:p>
            <a:pPr algn="l">
              <a:lnSpc>
                <a:spcPct val="110000"/>
              </a:lnSpc>
            </a:pPr>
            <a:r>
              <a:rPr sz="1350" b="0" i="1">
                <a:solidFill>
                  <a:srgbClr val="2B211A"/>
                </a:solidFill>
                <a:latin typeface="Cambria"/>
              </a:rPr>
              <a:t>Trong tiết học này, chúng ta cùng tìm hiểu 3 nội dung chính:</a:t>
            </a:r>
          </a:p>
        </p:txBody>
      </p:sp>
      <p:sp>
        <p:nvSpPr>
          <p:cNvPr id="9" name="TextBox 8"/>
          <p:cNvSpPr txBox="1"/>
          <p:nvPr/>
        </p:nvSpPr>
        <p:spPr>
          <a:xfrm>
            <a:off x="612648" y="2788920"/>
            <a:ext cx="10966399" cy="3429000"/>
          </a:xfrm>
          <a:prstGeom prst="rect">
            <a:avLst/>
          </a:prstGeom>
          <a:noFill/>
        </p:spPr>
        <p:txBody>
          <a:bodyPr wrap="square" lIns="0" rIns="0" tIns="0" bIns="0">
            <a:noAutofit/>
          </a:bodyPr>
          <a:lstStyle/>
          <a:p>
            <a:pPr>
              <a:spcAft>
                <a:spcPts val="1200"/>
              </a:spcAft>
            </a:pPr>
            <a:r>
              <a:rPr sz="1500" b="1" i="0">
                <a:solidFill>
                  <a:srgbClr val="2C5A73"/>
                </a:solidFill>
                <a:latin typeface="Cambria"/>
              </a:rPr>
              <a:t>•  Khái niệm lao động</a:t>
            </a:r>
            <a:r>
              <a:rPr sz="1500" b="0" i="0">
                <a:solidFill>
                  <a:srgbClr val="2B211A"/>
                </a:solidFill>
                <a:latin typeface="Cambria"/>
              </a:rPr>
              <a:t>  và những hoạt động được coi là lao động theo quy định của pháp luật.</a:t>
            </a:r>
          </a:p>
          <a:p>
            <a:pPr>
              <a:spcAft>
                <a:spcPts val="1200"/>
              </a:spcAft>
            </a:pPr>
            <a:r>
              <a:rPr sz="1500" b="1" i="0">
                <a:solidFill>
                  <a:srgbClr val="2C5A73"/>
                </a:solidFill>
                <a:latin typeface="Cambria"/>
              </a:rPr>
              <a:t>•  Khái niệm thị trường lao động</a:t>
            </a:r>
            <a:r>
              <a:rPr sz="1500" b="0" i="0">
                <a:solidFill>
                  <a:srgbClr val="2B211A"/>
                </a:solidFill>
                <a:latin typeface="Cambria"/>
              </a:rPr>
              <a:t>  và các chủ thể tham gia thị trường lao động.</a:t>
            </a:r>
          </a:p>
          <a:p>
            <a:pPr>
              <a:spcAft>
                <a:spcPts val="1200"/>
              </a:spcAft>
            </a:pPr>
            <a:r>
              <a:rPr sz="1500" b="1" i="0">
                <a:solidFill>
                  <a:srgbClr val="2C5A73"/>
                </a:solidFill>
                <a:latin typeface="Cambria"/>
              </a:rPr>
              <a:t>•  Ba yếu tố cấu thành thị trường lao động</a:t>
            </a:r>
            <a:r>
              <a:rPr sz="1500" b="0" i="0">
                <a:solidFill>
                  <a:srgbClr val="2B211A"/>
                </a:solidFill>
                <a:latin typeface="Cambria"/>
              </a:rPr>
              <a:t>  cung lao động, cầu lao động và giá cả sức lao động.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538235"/>
        </a:solidFill>
        <a:effectLst/>
      </p:bgPr>
    </p:bg>
    <p:spTree>
      <p:nvGrpSpPr>
        <p:cNvPr id="1" name=""/>
        <p:cNvGrpSpPr/>
        <p:nvPr/>
      </p:nvGrpSpPr>
      <p:grpSpPr/>
      <p:sp>
        <p:nvSpPr>
          <p:cNvPr id="2" name="Oval 1"/>
          <p:cNvSpPr/>
          <p:nvPr/>
        </p:nvSpPr>
        <p:spPr>
          <a:xfrm>
            <a:off x="-1280160" y="4206240"/>
            <a:ext cx="3291840" cy="329184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5486400" cy="365760"/>
          </a:xfrm>
          <a:prstGeom prst="rect">
            <a:avLst/>
          </a:prstGeom>
          <a:noFill/>
        </p:spPr>
        <p:txBody>
          <a:bodyPr wrap="square" anchor="t" lIns="0" rIns="0" tIns="0" bIns="0">
            <a:noAutofit/>
          </a:bodyPr>
          <a:lstStyle/>
          <a:p>
            <a:pPr algn="l"/>
            <a:r>
              <a:rPr sz="1500" b="1" i="0">
                <a:solidFill>
                  <a:srgbClr val="E8A03A"/>
                </a:solidFill>
                <a:latin typeface="Cambria"/>
              </a:rPr>
              <a:t>KHÁM PHÁ NỘI DUNG</a:t>
            </a:r>
          </a:p>
        </p:txBody>
      </p:sp>
      <p:sp>
        <p:nvSpPr>
          <p:cNvPr id="4" name="TextBox 3"/>
          <p:cNvSpPr txBox="1"/>
          <p:nvPr/>
        </p:nvSpPr>
        <p:spPr>
          <a:xfrm>
            <a:off x="566928" y="2560320"/>
            <a:ext cx="9875520" cy="1463040"/>
          </a:xfrm>
          <a:prstGeom prst="rect">
            <a:avLst/>
          </a:prstGeom>
          <a:noFill/>
        </p:spPr>
        <p:txBody>
          <a:bodyPr wrap="square" anchor="t" lIns="0" rIns="0" tIns="0" bIns="0">
            <a:noAutofit/>
          </a:bodyPr>
          <a:lstStyle/>
          <a:p>
            <a:pPr algn="l">
              <a:lnSpc>
                <a:spcPct val="103000"/>
              </a:lnSpc>
            </a:pPr>
            <a:r>
              <a:rPr sz="3400" b="1" i="0">
                <a:solidFill>
                  <a:srgbClr val="FFFFFF"/>
                </a:solidFill>
                <a:latin typeface="Cambria"/>
              </a:rPr>
              <a:t>1. Lao động và thị trường lao động</a:t>
            </a:r>
          </a:p>
        </p:txBody>
      </p:sp>
      <p:sp>
        <p:nvSpPr>
          <p:cNvPr id="5" name="TextBox 4"/>
          <p:cNvSpPr txBox="1"/>
          <p:nvPr/>
        </p:nvSpPr>
        <p:spPr>
          <a:xfrm>
            <a:off x="566928" y="3703320"/>
            <a:ext cx="8778240" cy="914400"/>
          </a:xfrm>
          <a:prstGeom prst="rect">
            <a:avLst/>
          </a:prstGeom>
          <a:noFill/>
        </p:spPr>
        <p:txBody>
          <a:bodyPr wrap="square" anchor="t" lIns="0" rIns="0" tIns="0" bIns="0">
            <a:noAutofit/>
          </a:bodyPr>
          <a:lstStyle/>
          <a:p>
            <a:pPr algn="l"/>
            <a:r>
              <a:rPr sz="1600" b="0" i="1">
                <a:solidFill>
                  <a:srgbClr val="FFFFFF"/>
                </a:solidFill>
                <a:latin typeface="Cambria"/>
              </a:rPr>
              <a:t>Tìm hiểu khái niệm lao động và “sân chơi” nơi sức lao động được trao đổi.</a:t>
            </a:r>
          </a:p>
        </p:txBody>
      </p:sp>
      <p:sp>
        <p:nvSpPr>
          <p:cNvPr id="6" name="Rectangle 5"/>
          <p:cNvSpPr/>
          <p:nvPr/>
        </p:nvSpPr>
        <p:spPr>
          <a:xfrm>
            <a:off x="566928" y="6400800"/>
            <a:ext cx="11057839" cy="11430"/>
          </a:xfrm>
          <a:prstGeom prst="rect">
            <a:avLst/>
          </a:prstGeom>
          <a:solidFill>
            <a:srgbClr val="5B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FFFFFF"/>
                </a:solidFill>
                <a:latin typeface="Cambria"/>
              </a:rPr>
              <a:t>GDKTPL 11 | Bài 5: Thị trường lao động và việc làm - Tiết 1</a:t>
            </a:r>
          </a:p>
        </p:txBody>
      </p:sp>
      <p:sp>
        <p:nvSpPr>
          <p:cNvPr id="8" name="TextBox 7"/>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FFFFFF"/>
                </a:solidFill>
                <a:latin typeface="Cambria"/>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LAO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Khái niệm lao động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10</a:t>
            </a:r>
          </a:p>
        </p:txBody>
      </p:sp>
      <p:sp>
        <p:nvSpPr>
          <p:cNvPr id="7" name="Rounded Rectangle 6"/>
          <p:cNvSpPr/>
          <p:nvPr/>
        </p:nvSpPr>
        <p:spPr>
          <a:xfrm>
            <a:off x="566928" y="1783080"/>
            <a:ext cx="11057839" cy="1051560"/>
          </a:xfrm>
          <a:prstGeom prst="roundRect">
            <a:avLst>
              <a:gd name="adj" fmla="val 9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11096"/>
            <a:ext cx="10600639" cy="274320"/>
          </a:xfrm>
          <a:prstGeom prst="rect">
            <a:avLst/>
          </a:prstGeom>
          <a:noFill/>
        </p:spPr>
        <p:txBody>
          <a:bodyPr wrap="square" anchor="t" lIns="0" rIns="0" tIns="0" bIns="0">
            <a:noAutofit/>
          </a:bodyPr>
          <a:lstStyle/>
          <a:p>
            <a:pPr algn="l"/>
            <a:r>
              <a:rPr sz="1200" b="1" i="0">
                <a:solidFill>
                  <a:srgbClr val="FFFFFF"/>
                </a:solidFill>
                <a:latin typeface="Cambria"/>
              </a:rPr>
              <a:t>ĐỊNH NGHĨA</a:t>
            </a:r>
          </a:p>
        </p:txBody>
      </p:sp>
      <p:sp>
        <p:nvSpPr>
          <p:cNvPr id="9" name="TextBox 8"/>
          <p:cNvSpPr txBox="1"/>
          <p:nvPr/>
        </p:nvSpPr>
        <p:spPr>
          <a:xfrm>
            <a:off x="795528" y="2203704"/>
            <a:ext cx="10600639" cy="566928"/>
          </a:xfrm>
          <a:prstGeom prst="rect">
            <a:avLst/>
          </a:prstGeom>
          <a:noFill/>
        </p:spPr>
        <p:txBody>
          <a:bodyPr wrap="square" anchor="t" lIns="0" rIns="0" tIns="0" bIns="0">
            <a:noAutofit/>
          </a:bodyPr>
          <a:lstStyle/>
          <a:p>
            <a:pPr algn="l">
              <a:lnSpc>
                <a:spcPct val="112000"/>
              </a:lnSpc>
            </a:pPr>
            <a:r>
              <a:rPr sz="1450" b="0" i="0">
                <a:solidFill>
                  <a:srgbClr val="FFFFFF"/>
                </a:solidFill>
                <a:latin typeface="Cambria"/>
              </a:rPr>
              <a:t>Lao động là hoạt động có mục đích, có ý thức của con người nhằm tạo ra các sản phẩm phục vụ cho nhu cầu của đời sống xã hội.</a:t>
            </a:r>
          </a:p>
        </p:txBody>
      </p:sp>
      <p:sp>
        <p:nvSpPr>
          <p:cNvPr id="10" name="TextBox 9"/>
          <p:cNvSpPr txBox="1"/>
          <p:nvPr/>
        </p:nvSpPr>
        <p:spPr>
          <a:xfrm>
            <a:off x="566928" y="3063240"/>
            <a:ext cx="11057839" cy="320040"/>
          </a:xfrm>
          <a:prstGeom prst="rect">
            <a:avLst/>
          </a:prstGeom>
          <a:noFill/>
        </p:spPr>
        <p:txBody>
          <a:bodyPr wrap="square" anchor="t" lIns="0" rIns="0" tIns="0" bIns="0">
            <a:noAutofit/>
          </a:bodyPr>
          <a:lstStyle/>
          <a:p>
            <a:pPr algn="l"/>
            <a:r>
              <a:rPr sz="1400" b="1" i="0">
                <a:solidFill>
                  <a:srgbClr val="2B211A"/>
                </a:solidFill>
                <a:latin typeface="Cambria"/>
              </a:rPr>
              <a:t>Lưu ý quan trọng</a:t>
            </a:r>
          </a:p>
        </p:txBody>
      </p:sp>
      <p:sp>
        <p:nvSpPr>
          <p:cNvPr id="11" name="TextBox 10"/>
          <p:cNvSpPr txBox="1"/>
          <p:nvPr/>
        </p:nvSpPr>
        <p:spPr>
          <a:xfrm>
            <a:off x="612648" y="3474720"/>
            <a:ext cx="10966399" cy="2743200"/>
          </a:xfrm>
          <a:prstGeom prst="rect">
            <a:avLst/>
          </a:prstGeom>
          <a:noFill/>
        </p:spPr>
        <p:txBody>
          <a:bodyPr wrap="square" lIns="0" rIns="0" tIns="0" bIns="0">
            <a:noAutofit/>
          </a:bodyPr>
          <a:lstStyle/>
          <a:p>
            <a:pPr>
              <a:spcAft>
                <a:spcPts val="1000"/>
              </a:spcAft>
            </a:pPr>
            <a:r>
              <a:rPr sz="1400" b="1" i="0">
                <a:solidFill>
                  <a:srgbClr val="B87410"/>
                </a:solidFill>
                <a:latin typeface="Cambria"/>
              </a:rPr>
              <a:t>•  Theo Bộ luật Lao động năm 2019:</a:t>
            </a:r>
            <a:r>
              <a:rPr sz="1400" b="0" i="0">
                <a:solidFill>
                  <a:srgbClr val="2B211A"/>
                </a:solidFill>
                <a:latin typeface="Cambria"/>
              </a:rPr>
              <a:t>  người lao động là người làm việc cho người sử dụng lao động theo thoả thuận, được trả lương và chịu sự quản lí, điều hành, giám sát của người sử dụng lao động.</a:t>
            </a:r>
          </a:p>
          <a:p>
            <a:pPr>
              <a:spcAft>
                <a:spcPts val="1000"/>
              </a:spcAft>
            </a:pPr>
            <a:r>
              <a:rPr sz="1400" b="1" i="0">
                <a:solidFill>
                  <a:srgbClr val="B87410"/>
                </a:solidFill>
                <a:latin typeface="Cambria"/>
              </a:rPr>
              <a:t>•  Lao động có thể là lao động chân tay hoặc lao động trí óc,</a:t>
            </a:r>
            <a:r>
              <a:rPr sz="1400" b="0" i="0">
                <a:solidFill>
                  <a:srgbClr val="2B211A"/>
                </a:solidFill>
                <a:latin typeface="Cambria"/>
              </a:rPr>
              <a:t>  diễn ra trong nhiều lĩnh vực: sản xuất, kinh doanh, dịch vụ...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LAO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Nhận diện: Đâu là hoạt động lao động?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11</a:t>
            </a:r>
          </a:p>
        </p:txBody>
      </p:sp>
      <p:sp>
        <p:nvSpPr>
          <p:cNvPr id="7" name="Rounded Rectangle 6"/>
          <p:cNvSpPr/>
          <p:nvPr/>
        </p:nvSpPr>
        <p:spPr>
          <a:xfrm>
            <a:off x="566928" y="1783080"/>
            <a:ext cx="5400903" cy="2066544"/>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1</a:t>
            </a:r>
          </a:p>
        </p:txBody>
      </p:sp>
      <p:sp>
        <p:nvSpPr>
          <p:cNvPr id="10" name="TextBox 9"/>
          <p:cNvSpPr txBox="1"/>
          <p:nvPr/>
        </p:nvSpPr>
        <p:spPr>
          <a:xfrm>
            <a:off x="1335024" y="1956816"/>
            <a:ext cx="4431639" cy="365760"/>
          </a:xfrm>
          <a:prstGeom prst="rect">
            <a:avLst/>
          </a:prstGeom>
          <a:noFill/>
        </p:spPr>
        <p:txBody>
          <a:bodyPr wrap="square" anchor="t" lIns="0" rIns="0" tIns="0" bIns="0">
            <a:noAutofit/>
          </a:bodyPr>
          <a:lstStyle/>
          <a:p>
            <a:pPr algn="l"/>
            <a:r>
              <a:rPr sz="1450" b="1" i="0">
                <a:solidFill>
                  <a:srgbClr val="2B211A"/>
                </a:solidFill>
                <a:latin typeface="Cambria"/>
              </a:rPr>
              <a:t>Công nhân vận hành máy tại nhà máy</a:t>
            </a:r>
          </a:p>
        </p:txBody>
      </p:sp>
      <p:sp>
        <p:nvSpPr>
          <p:cNvPr id="11" name="TextBox 10"/>
          <p:cNvSpPr txBox="1"/>
          <p:nvPr/>
        </p:nvSpPr>
        <p:spPr>
          <a:xfrm>
            <a:off x="768096" y="2478024"/>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Có mục đích, tạo ra sản phẩm, được trả lương theo hợp đồng lao động.</a:t>
            </a:r>
          </a:p>
        </p:txBody>
      </p:sp>
      <p:sp>
        <p:nvSpPr>
          <p:cNvPr id="12" name="Rounded Rectangle 11"/>
          <p:cNvSpPr/>
          <p:nvPr/>
        </p:nvSpPr>
        <p:spPr>
          <a:xfrm>
            <a:off x="6223863" y="1783080"/>
            <a:ext cx="5400903" cy="2066544"/>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5031"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5031"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2</a:t>
            </a:r>
          </a:p>
        </p:txBody>
      </p:sp>
      <p:sp>
        <p:nvSpPr>
          <p:cNvPr id="15" name="TextBox 14"/>
          <p:cNvSpPr txBox="1"/>
          <p:nvPr/>
        </p:nvSpPr>
        <p:spPr>
          <a:xfrm>
            <a:off x="6991959" y="1956816"/>
            <a:ext cx="4431639" cy="365760"/>
          </a:xfrm>
          <a:prstGeom prst="rect">
            <a:avLst/>
          </a:prstGeom>
          <a:noFill/>
        </p:spPr>
        <p:txBody>
          <a:bodyPr wrap="square" anchor="t" lIns="0" rIns="0" tIns="0" bIns="0">
            <a:noAutofit/>
          </a:bodyPr>
          <a:lstStyle/>
          <a:p>
            <a:pPr algn="l"/>
            <a:r>
              <a:rPr sz="1450" b="1" i="0">
                <a:solidFill>
                  <a:srgbClr val="2B211A"/>
                </a:solidFill>
                <a:latin typeface="Cambria"/>
              </a:rPr>
              <a:t>Bạn học sinh làm bài tập về nhà</a:t>
            </a:r>
          </a:p>
        </p:txBody>
      </p:sp>
      <p:sp>
        <p:nvSpPr>
          <p:cNvPr id="16" name="TextBox 15"/>
          <p:cNvSpPr txBox="1"/>
          <p:nvPr/>
        </p:nvSpPr>
        <p:spPr>
          <a:xfrm>
            <a:off x="6425031" y="2478024"/>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Là hoạt động học tập, không tạo ra sản phẩm phục vụ nhu cầu xã hội, không nhằm mục đích thu nhập.</a:t>
            </a:r>
          </a:p>
        </p:txBody>
      </p:sp>
      <p:sp>
        <p:nvSpPr>
          <p:cNvPr id="17" name="Rounded Rectangle 16"/>
          <p:cNvSpPr/>
          <p:nvPr/>
        </p:nvSpPr>
        <p:spPr>
          <a:xfrm>
            <a:off x="566928" y="4105656"/>
            <a:ext cx="5400903" cy="2066544"/>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68096" y="4306824"/>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306824"/>
            <a:ext cx="420624" cy="420624"/>
          </a:xfrm>
          <a:prstGeom prst="rect">
            <a:avLst/>
          </a:prstGeom>
          <a:noFill/>
        </p:spPr>
        <p:txBody>
          <a:bodyPr wrap="square" anchor="ctr" lIns="0" rIns="0" tIns="0" bIns="0">
            <a:noAutofit/>
          </a:bodyPr>
          <a:lstStyle/>
          <a:p>
            <a:pPr algn="ctr"/>
            <a:r>
              <a:rPr sz="1500" b="1" i="0">
                <a:solidFill>
                  <a:srgbClr val="FFFFFF"/>
                </a:solidFill>
                <a:latin typeface="Cambria"/>
              </a:rPr>
              <a:t>3</a:t>
            </a:r>
          </a:p>
        </p:txBody>
      </p:sp>
      <p:sp>
        <p:nvSpPr>
          <p:cNvPr id="20" name="TextBox 19"/>
          <p:cNvSpPr txBox="1"/>
          <p:nvPr/>
        </p:nvSpPr>
        <p:spPr>
          <a:xfrm>
            <a:off x="1335024" y="4279392"/>
            <a:ext cx="4431639" cy="365760"/>
          </a:xfrm>
          <a:prstGeom prst="rect">
            <a:avLst/>
          </a:prstGeom>
          <a:noFill/>
        </p:spPr>
        <p:txBody>
          <a:bodyPr wrap="square" anchor="t" lIns="0" rIns="0" tIns="0" bIns="0">
            <a:noAutofit/>
          </a:bodyPr>
          <a:lstStyle/>
          <a:p>
            <a:pPr algn="l"/>
            <a:r>
              <a:rPr sz="1450" b="1" i="0">
                <a:solidFill>
                  <a:srgbClr val="2B211A"/>
                </a:solidFill>
                <a:latin typeface="Cambria"/>
              </a:rPr>
              <a:t>Người bán hàng livestream trên mạng xã hội</a:t>
            </a:r>
          </a:p>
        </p:txBody>
      </p:sp>
      <p:sp>
        <p:nvSpPr>
          <p:cNvPr id="21" name="TextBox 20"/>
          <p:cNvSpPr txBox="1"/>
          <p:nvPr/>
        </p:nvSpPr>
        <p:spPr>
          <a:xfrm>
            <a:off x="768096" y="4800600"/>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Có mục đích, tạo thu nhập, phục vụ nhu cầu của người tiêu dùng - đây là một hình thức lao động.</a:t>
            </a:r>
          </a:p>
        </p:txBody>
      </p:sp>
      <p:sp>
        <p:nvSpPr>
          <p:cNvPr id="22" name="Rounded Rectangle 21"/>
          <p:cNvSpPr/>
          <p:nvPr/>
        </p:nvSpPr>
        <p:spPr>
          <a:xfrm>
            <a:off x="6223863" y="4105656"/>
            <a:ext cx="5400903" cy="2066544"/>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5031" y="4306824"/>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5031" y="4306824"/>
            <a:ext cx="420624" cy="420624"/>
          </a:xfrm>
          <a:prstGeom prst="rect">
            <a:avLst/>
          </a:prstGeom>
          <a:noFill/>
        </p:spPr>
        <p:txBody>
          <a:bodyPr wrap="square" anchor="ctr" lIns="0" rIns="0" tIns="0" bIns="0">
            <a:noAutofit/>
          </a:bodyPr>
          <a:lstStyle/>
          <a:p>
            <a:pPr algn="ctr"/>
            <a:r>
              <a:rPr sz="1500" b="1" i="0">
                <a:solidFill>
                  <a:srgbClr val="FFFFFF"/>
                </a:solidFill>
                <a:latin typeface="Cambria"/>
              </a:rPr>
              <a:t>4</a:t>
            </a:r>
          </a:p>
        </p:txBody>
      </p:sp>
      <p:sp>
        <p:nvSpPr>
          <p:cNvPr id="25" name="TextBox 24"/>
          <p:cNvSpPr txBox="1"/>
          <p:nvPr/>
        </p:nvSpPr>
        <p:spPr>
          <a:xfrm>
            <a:off x="6991959" y="4279392"/>
            <a:ext cx="4431639" cy="365760"/>
          </a:xfrm>
          <a:prstGeom prst="rect">
            <a:avLst/>
          </a:prstGeom>
          <a:noFill/>
        </p:spPr>
        <p:txBody>
          <a:bodyPr wrap="square" anchor="t" lIns="0" rIns="0" tIns="0" bIns="0">
            <a:noAutofit/>
          </a:bodyPr>
          <a:lstStyle/>
          <a:p>
            <a:pPr algn="l"/>
            <a:r>
              <a:rPr sz="1450" b="1" i="0">
                <a:solidFill>
                  <a:srgbClr val="2B211A"/>
                </a:solidFill>
                <a:latin typeface="Cambria"/>
              </a:rPr>
              <a:t>Người tham gia hoạt động phạm pháp để kiếm tiền</a:t>
            </a:r>
          </a:p>
        </p:txBody>
      </p:sp>
      <p:sp>
        <p:nvSpPr>
          <p:cNvPr id="26" name="TextBox 25"/>
          <p:cNvSpPr txBox="1"/>
          <p:nvPr/>
        </p:nvSpPr>
        <p:spPr>
          <a:xfrm>
            <a:off x="6425031" y="4800600"/>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Không được coi là lao động hợp pháp vì trái quy định của pháp luật.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THỊ TRƯỜNG LAO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Khái niệm thị trường lao động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12</a:t>
            </a:r>
          </a:p>
        </p:txBody>
      </p:sp>
      <p:sp>
        <p:nvSpPr>
          <p:cNvPr id="7" name="Rounded Rectangle 6"/>
          <p:cNvSpPr/>
          <p:nvPr/>
        </p:nvSpPr>
        <p:spPr>
          <a:xfrm>
            <a:off x="566928" y="1783080"/>
            <a:ext cx="11057839" cy="1051560"/>
          </a:xfrm>
          <a:prstGeom prst="roundRect">
            <a:avLst>
              <a:gd name="adj" fmla="val 9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11096"/>
            <a:ext cx="10600639" cy="274320"/>
          </a:xfrm>
          <a:prstGeom prst="rect">
            <a:avLst/>
          </a:prstGeom>
          <a:noFill/>
        </p:spPr>
        <p:txBody>
          <a:bodyPr wrap="square" anchor="t" lIns="0" rIns="0" tIns="0" bIns="0">
            <a:noAutofit/>
          </a:bodyPr>
          <a:lstStyle/>
          <a:p>
            <a:pPr algn="l"/>
            <a:r>
              <a:rPr sz="1200" b="1" i="0">
                <a:solidFill>
                  <a:srgbClr val="FFFFFF"/>
                </a:solidFill>
                <a:latin typeface="Cambria"/>
              </a:rPr>
              <a:t>ĐỊNH NGHĨA</a:t>
            </a:r>
          </a:p>
        </p:txBody>
      </p:sp>
      <p:sp>
        <p:nvSpPr>
          <p:cNvPr id="9" name="TextBox 8"/>
          <p:cNvSpPr txBox="1"/>
          <p:nvPr/>
        </p:nvSpPr>
        <p:spPr>
          <a:xfrm>
            <a:off x="795528" y="2203704"/>
            <a:ext cx="10600639" cy="566928"/>
          </a:xfrm>
          <a:prstGeom prst="rect">
            <a:avLst/>
          </a:prstGeom>
          <a:noFill/>
        </p:spPr>
        <p:txBody>
          <a:bodyPr wrap="square" anchor="t" lIns="0" rIns="0" tIns="0" bIns="0">
            <a:noAutofit/>
          </a:bodyPr>
          <a:lstStyle/>
          <a:p>
            <a:pPr algn="l">
              <a:lnSpc>
                <a:spcPct val="112000"/>
              </a:lnSpc>
            </a:pPr>
            <a:r>
              <a:rPr sz="1450" b="0" i="0">
                <a:solidFill>
                  <a:srgbClr val="FFFFFF"/>
                </a:solidFill>
                <a:latin typeface="Cambria"/>
              </a:rPr>
              <a:t>Thị trường lao động là không gian giao dịch, nơi xác lập quan hệ giữa người lao động (bên cung ứng sức lao động) và người sử dụng lao động (bên có nhu cầu sử dụng sức lao động), thông qua các hình thức thoả thuận về việc làm, tiền lương và điều kiện làm việc.</a:t>
            </a:r>
          </a:p>
        </p:txBody>
      </p:sp>
      <p:sp>
        <p:nvSpPr>
          <p:cNvPr id="10" name="TextBox 9"/>
          <p:cNvSpPr txBox="1"/>
          <p:nvPr/>
        </p:nvSpPr>
        <p:spPr>
          <a:xfrm>
            <a:off x="566928" y="3063240"/>
            <a:ext cx="11057839" cy="320040"/>
          </a:xfrm>
          <a:prstGeom prst="rect">
            <a:avLst/>
          </a:prstGeom>
          <a:noFill/>
        </p:spPr>
        <p:txBody>
          <a:bodyPr wrap="square" anchor="t" lIns="0" rIns="0" tIns="0" bIns="0">
            <a:noAutofit/>
          </a:bodyPr>
          <a:lstStyle/>
          <a:p>
            <a:pPr algn="l"/>
            <a:r>
              <a:rPr sz="1400" b="1" i="0">
                <a:solidFill>
                  <a:srgbClr val="2B211A"/>
                </a:solidFill>
                <a:latin typeface="Cambria"/>
              </a:rPr>
              <a:t>Ai tham gia thị trường lao động?</a:t>
            </a:r>
          </a:p>
        </p:txBody>
      </p:sp>
      <p:sp>
        <p:nvSpPr>
          <p:cNvPr id="11" name="TextBox 10"/>
          <p:cNvSpPr txBox="1"/>
          <p:nvPr/>
        </p:nvSpPr>
        <p:spPr>
          <a:xfrm>
            <a:off x="612648" y="3474720"/>
            <a:ext cx="10966399" cy="2743200"/>
          </a:xfrm>
          <a:prstGeom prst="rect">
            <a:avLst/>
          </a:prstGeom>
          <a:noFill/>
        </p:spPr>
        <p:txBody>
          <a:bodyPr wrap="square" lIns="0" rIns="0" tIns="0" bIns="0">
            <a:noAutofit/>
          </a:bodyPr>
          <a:lstStyle/>
          <a:p>
            <a:pPr>
              <a:spcAft>
                <a:spcPts val="1000"/>
              </a:spcAft>
            </a:pPr>
            <a:r>
              <a:rPr sz="1400" b="1" i="0">
                <a:solidFill>
                  <a:srgbClr val="B87410"/>
                </a:solidFill>
                <a:latin typeface="Cambria"/>
              </a:rPr>
              <a:t>•  Các chủ thể tham gia:</a:t>
            </a:r>
            <a:r>
              <a:rPr sz="1400" b="0" i="0">
                <a:solidFill>
                  <a:srgbClr val="2B211A"/>
                </a:solidFill>
                <a:latin typeface="Cambria"/>
              </a:rPr>
              <a:t>  người lao động, người sử dụng lao động (doanh nghiệp, tổ chức, cá nhân).</a:t>
            </a:r>
          </a:p>
          <a:p>
            <a:pPr>
              <a:spcAft>
                <a:spcPts val="1000"/>
              </a:spcAft>
            </a:pPr>
            <a:r>
              <a:rPr sz="1400" b="1" i="0">
                <a:solidFill>
                  <a:srgbClr val="B87410"/>
                </a:solidFill>
                <a:latin typeface="Cambria"/>
              </a:rPr>
              <a:t>•  Vai trò của Nhà nước:</a:t>
            </a:r>
            <a:r>
              <a:rPr sz="1400" b="0" i="0">
                <a:solidFill>
                  <a:srgbClr val="2B211A"/>
                </a:solidFill>
                <a:latin typeface="Cambria"/>
              </a:rPr>
              <a:t>  ban hành pháp luật lao động, quản lí và bảo vệ quyền lợi hợp pháp của các bên.</a:t>
            </a:r>
          </a:p>
          <a:p>
            <a:pPr>
              <a:spcAft>
                <a:spcPts val="1000"/>
              </a:spcAft>
            </a:pPr>
            <a:r>
              <a:rPr sz="1400" b="1" i="0">
                <a:solidFill>
                  <a:srgbClr val="B87410"/>
                </a:solidFill>
                <a:latin typeface="Cambria"/>
              </a:rPr>
              <a:t>•  Hình thức thoả thuận:</a:t>
            </a:r>
            <a:r>
              <a:rPr sz="1400" b="0" i="0">
                <a:solidFill>
                  <a:srgbClr val="2B211A"/>
                </a:solidFill>
                <a:latin typeface="Cambria"/>
              </a:rPr>
              <a:t>  có thể bằng văn bản (hợp đồng lao động) hoặc bằng lời nói, tuỳ tính chất công việc.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THỊ TRƯỜNG LAO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Ba yếu tố cấu thành thị trường lao động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13</a:t>
            </a:r>
          </a:p>
        </p:txBody>
      </p:sp>
      <p:sp>
        <p:nvSpPr>
          <p:cNvPr id="7" name="Rounded Rectangle 6"/>
          <p:cNvSpPr/>
          <p:nvPr/>
        </p:nvSpPr>
        <p:spPr>
          <a:xfrm>
            <a:off x="566928" y="1783080"/>
            <a:ext cx="3515258" cy="4389120"/>
          </a:xfrm>
          <a:prstGeom prst="roundRect">
            <a:avLst>
              <a:gd name="adj" fmla="val 9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1</a:t>
            </a:r>
          </a:p>
        </p:txBody>
      </p:sp>
      <p:sp>
        <p:nvSpPr>
          <p:cNvPr id="10" name="TextBox 9"/>
          <p:cNvSpPr txBox="1"/>
          <p:nvPr/>
        </p:nvSpPr>
        <p:spPr>
          <a:xfrm>
            <a:off x="133502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Cung lao động</a:t>
            </a:r>
          </a:p>
        </p:txBody>
      </p:sp>
      <p:sp>
        <p:nvSpPr>
          <p:cNvPr id="11" name="TextBox 10"/>
          <p:cNvSpPr txBox="1"/>
          <p:nvPr/>
        </p:nvSpPr>
        <p:spPr>
          <a:xfrm>
            <a:off x="76809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Số lượng và chất lượng sức lao động mà người lao động sẵn sàng cung ứng cho thị trường.</a:t>
            </a:r>
          </a:p>
        </p:txBody>
      </p:sp>
      <p:sp>
        <p:nvSpPr>
          <p:cNvPr id="12" name="Rounded Rectangle 11"/>
          <p:cNvSpPr/>
          <p:nvPr/>
        </p:nvSpPr>
        <p:spPr>
          <a:xfrm>
            <a:off x="4338218" y="1783080"/>
            <a:ext cx="3515258" cy="4389120"/>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39386" y="1984248"/>
            <a:ext cx="420624" cy="420624"/>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938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2</a:t>
            </a:r>
          </a:p>
        </p:txBody>
      </p:sp>
      <p:sp>
        <p:nvSpPr>
          <p:cNvPr id="15" name="TextBox 14"/>
          <p:cNvSpPr txBox="1"/>
          <p:nvPr/>
        </p:nvSpPr>
        <p:spPr>
          <a:xfrm>
            <a:off x="510631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Cầu lao động</a:t>
            </a:r>
          </a:p>
        </p:txBody>
      </p:sp>
      <p:sp>
        <p:nvSpPr>
          <p:cNvPr id="16" name="TextBox 15"/>
          <p:cNvSpPr txBox="1"/>
          <p:nvPr/>
        </p:nvSpPr>
        <p:spPr>
          <a:xfrm>
            <a:off x="453938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Nhu cầu về số lượng và chất lượng sức lao động mà người sử dụng lao động cần tuyển dụng.</a:t>
            </a:r>
          </a:p>
        </p:txBody>
      </p:sp>
      <p:sp>
        <p:nvSpPr>
          <p:cNvPr id="17" name="Rounded Rectangle 16"/>
          <p:cNvSpPr/>
          <p:nvPr/>
        </p:nvSpPr>
        <p:spPr>
          <a:xfrm>
            <a:off x="8109508" y="1783080"/>
            <a:ext cx="3515258" cy="4389120"/>
          </a:xfrm>
          <a:prstGeom prst="roundRect">
            <a:avLst>
              <a:gd name="adj" fmla="val 9000"/>
            </a:avLst>
          </a:prstGeom>
          <a:solidFill>
            <a:srgbClr val="F7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0676" y="1984248"/>
            <a:ext cx="420624" cy="420624"/>
          </a:xfrm>
          <a:prstGeom prst="ellipse">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067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3</a:t>
            </a:r>
          </a:p>
        </p:txBody>
      </p:sp>
      <p:sp>
        <p:nvSpPr>
          <p:cNvPr id="20" name="TextBox 19"/>
          <p:cNvSpPr txBox="1"/>
          <p:nvPr/>
        </p:nvSpPr>
        <p:spPr>
          <a:xfrm>
            <a:off x="887760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Giá cả sức lao động</a:t>
            </a:r>
          </a:p>
        </p:txBody>
      </p:sp>
      <p:sp>
        <p:nvSpPr>
          <p:cNvPr id="21" name="TextBox 20"/>
          <p:cNvSpPr txBox="1"/>
          <p:nvPr/>
        </p:nvSpPr>
        <p:spPr>
          <a:xfrm>
            <a:off x="831067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Tiền lương, tiền công - hình thành trên cơ sở thoả thuận, chịu tác động của quan hệ cung - cầu.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THỊ TRƯỜNG LAO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So sánh Cung lao động và Cầu lao động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14</a:t>
            </a:r>
          </a:p>
        </p:txBody>
      </p:sp>
      <p:sp>
        <p:nvSpPr>
          <p:cNvPr id="7" name="Rounded Rectangle 6"/>
          <p:cNvSpPr/>
          <p:nvPr/>
        </p:nvSpPr>
        <p:spPr>
          <a:xfrm>
            <a:off x="566928" y="1783080"/>
            <a:ext cx="5368899" cy="502920"/>
          </a:xfrm>
          <a:prstGeom prst="roundRect">
            <a:avLst>
              <a:gd name="adj" fmla="val 16000"/>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83080"/>
            <a:ext cx="5368899" cy="502920"/>
          </a:xfrm>
          <a:prstGeom prst="rect">
            <a:avLst/>
          </a:prstGeom>
          <a:noFill/>
        </p:spPr>
        <p:txBody>
          <a:bodyPr wrap="square" anchor="ctr" lIns="0" rIns="0" tIns="0" bIns="0">
            <a:noAutofit/>
          </a:bodyPr>
          <a:lstStyle/>
          <a:p>
            <a:pPr algn="ctr"/>
            <a:r>
              <a:rPr sz="1500" b="1" i="0">
                <a:solidFill>
                  <a:srgbClr val="FFFFFF"/>
                </a:solidFill>
                <a:latin typeface="Cambria"/>
              </a:rPr>
              <a:t>CUNG LAO ĐỘNG</a:t>
            </a:r>
          </a:p>
        </p:txBody>
      </p:sp>
      <p:sp>
        <p:nvSpPr>
          <p:cNvPr id="9" name="Rounded Rectangle 8"/>
          <p:cNvSpPr/>
          <p:nvPr/>
        </p:nvSpPr>
        <p:spPr>
          <a:xfrm>
            <a:off x="566928" y="2450592"/>
            <a:ext cx="5368899" cy="777240"/>
          </a:xfrm>
          <a:prstGeom prst="roundRect">
            <a:avLst>
              <a:gd name="adj" fmla="val 10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42032"/>
            <a:ext cx="5039715" cy="594360"/>
          </a:xfrm>
          <a:prstGeom prst="rect">
            <a:avLst/>
          </a:prstGeom>
          <a:noFill/>
        </p:spPr>
        <p:txBody>
          <a:bodyPr wrap="square" anchor="ctr" lIns="0" rIns="0" tIns="0" bIns="0">
            <a:noAutofit/>
          </a:bodyPr>
          <a:lstStyle/>
          <a:p>
            <a:pPr algn="l">
              <a:lnSpc>
                <a:spcPct val="108000"/>
              </a:lnSpc>
            </a:pPr>
            <a:r>
              <a:rPr sz="1200" b="0" i="0">
                <a:solidFill>
                  <a:srgbClr val="2B211A"/>
                </a:solidFill>
                <a:latin typeface="Cambria"/>
              </a:rPr>
              <a:t>Xuất phát từ phía người lao động: những người đang tìm việc hoặc sẵn sàng làm việc.</a:t>
            </a:r>
          </a:p>
        </p:txBody>
      </p:sp>
      <p:sp>
        <p:nvSpPr>
          <p:cNvPr id="11" name="Rounded Rectangle 10"/>
          <p:cNvSpPr/>
          <p:nvPr/>
        </p:nvSpPr>
        <p:spPr>
          <a:xfrm>
            <a:off x="566928" y="3355848"/>
            <a:ext cx="5368899" cy="777240"/>
          </a:xfrm>
          <a:prstGeom prst="roundRect">
            <a:avLst>
              <a:gd name="adj" fmla="val 10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47288"/>
            <a:ext cx="5039715" cy="594360"/>
          </a:xfrm>
          <a:prstGeom prst="rect">
            <a:avLst/>
          </a:prstGeom>
          <a:noFill/>
        </p:spPr>
        <p:txBody>
          <a:bodyPr wrap="square" anchor="ctr" lIns="0" rIns="0" tIns="0" bIns="0">
            <a:noAutofit/>
          </a:bodyPr>
          <a:lstStyle/>
          <a:p>
            <a:pPr algn="l">
              <a:lnSpc>
                <a:spcPct val="108000"/>
              </a:lnSpc>
            </a:pPr>
            <a:r>
              <a:rPr sz="1200" b="0" i="0">
                <a:solidFill>
                  <a:srgbClr val="2B211A"/>
                </a:solidFill>
                <a:latin typeface="Cambria"/>
              </a:rPr>
              <a:t>Ví dụ: sinh viên mới ra trường nộp hồ sơ ứng tuyển vị trí nhân viên kinh doanh.</a:t>
            </a:r>
          </a:p>
        </p:txBody>
      </p:sp>
      <p:sp>
        <p:nvSpPr>
          <p:cNvPr id="13" name="Rounded Rectangle 12"/>
          <p:cNvSpPr/>
          <p:nvPr/>
        </p:nvSpPr>
        <p:spPr>
          <a:xfrm>
            <a:off x="566928" y="4261104"/>
            <a:ext cx="5368899" cy="777240"/>
          </a:xfrm>
          <a:prstGeom prst="roundRect">
            <a:avLst>
              <a:gd name="adj" fmla="val 10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52544"/>
            <a:ext cx="5039715" cy="594360"/>
          </a:xfrm>
          <a:prstGeom prst="rect">
            <a:avLst/>
          </a:prstGeom>
          <a:noFill/>
        </p:spPr>
        <p:txBody>
          <a:bodyPr wrap="square" anchor="ctr" lIns="0" rIns="0" tIns="0" bIns="0">
            <a:noAutofit/>
          </a:bodyPr>
          <a:lstStyle/>
          <a:p>
            <a:pPr algn="l">
              <a:lnSpc>
                <a:spcPct val="108000"/>
              </a:lnSpc>
            </a:pPr>
            <a:r>
              <a:rPr sz="1200" b="0" i="0">
                <a:solidFill>
                  <a:srgbClr val="2B211A"/>
                </a:solidFill>
                <a:latin typeface="Cambria"/>
              </a:rPr>
              <a:t>Chịu ảnh hưởng bởi: dân số trong độ tuổi lao động, trình độ đào tạo, tiền lương kỳ vọng.</a:t>
            </a:r>
          </a:p>
        </p:txBody>
      </p:sp>
      <p:sp>
        <p:nvSpPr>
          <p:cNvPr id="15" name="Rounded Rectangle 14"/>
          <p:cNvSpPr/>
          <p:nvPr/>
        </p:nvSpPr>
        <p:spPr>
          <a:xfrm>
            <a:off x="6255867" y="1783080"/>
            <a:ext cx="5368899" cy="502920"/>
          </a:xfrm>
          <a:prstGeom prst="roundRect">
            <a:avLst>
              <a:gd name="adj" fmla="val 16000"/>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5867" y="1783080"/>
            <a:ext cx="5368899" cy="502920"/>
          </a:xfrm>
          <a:prstGeom prst="rect">
            <a:avLst/>
          </a:prstGeom>
          <a:noFill/>
        </p:spPr>
        <p:txBody>
          <a:bodyPr wrap="square" anchor="ctr" lIns="0" rIns="0" tIns="0" bIns="0">
            <a:noAutofit/>
          </a:bodyPr>
          <a:lstStyle/>
          <a:p>
            <a:pPr algn="ctr"/>
            <a:r>
              <a:rPr sz="1500" b="1" i="0">
                <a:solidFill>
                  <a:srgbClr val="FFFFFF"/>
                </a:solidFill>
                <a:latin typeface="Cambria"/>
              </a:rPr>
              <a:t>CẦU LAO ĐỘNG</a:t>
            </a:r>
          </a:p>
        </p:txBody>
      </p:sp>
      <p:sp>
        <p:nvSpPr>
          <p:cNvPr id="17" name="Rounded Rectangle 16"/>
          <p:cNvSpPr/>
          <p:nvPr/>
        </p:nvSpPr>
        <p:spPr>
          <a:xfrm>
            <a:off x="6255867" y="2450592"/>
            <a:ext cx="5368899" cy="777240"/>
          </a:xfrm>
          <a:prstGeom prst="roundRect">
            <a:avLst>
              <a:gd name="adj" fmla="val 10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0459" y="2542032"/>
            <a:ext cx="5039715" cy="594360"/>
          </a:xfrm>
          <a:prstGeom prst="rect">
            <a:avLst/>
          </a:prstGeom>
          <a:noFill/>
        </p:spPr>
        <p:txBody>
          <a:bodyPr wrap="square" anchor="ctr" lIns="0" rIns="0" tIns="0" bIns="0">
            <a:noAutofit/>
          </a:bodyPr>
          <a:lstStyle/>
          <a:p>
            <a:pPr algn="l">
              <a:lnSpc>
                <a:spcPct val="108000"/>
              </a:lnSpc>
            </a:pPr>
            <a:r>
              <a:rPr sz="1200" b="0" i="0">
                <a:solidFill>
                  <a:srgbClr val="2B211A"/>
                </a:solidFill>
                <a:latin typeface="Cambria"/>
              </a:rPr>
              <a:t>Xuất phát từ phía người sử dụng lao động: doanh nghiệp, tổ chức cần tuyển nhân sự.</a:t>
            </a:r>
          </a:p>
        </p:txBody>
      </p:sp>
      <p:sp>
        <p:nvSpPr>
          <p:cNvPr id="19" name="Rounded Rectangle 18"/>
          <p:cNvSpPr/>
          <p:nvPr/>
        </p:nvSpPr>
        <p:spPr>
          <a:xfrm>
            <a:off x="6255867" y="3355848"/>
            <a:ext cx="5368899" cy="777240"/>
          </a:xfrm>
          <a:prstGeom prst="roundRect">
            <a:avLst>
              <a:gd name="adj" fmla="val 10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0459" y="3447288"/>
            <a:ext cx="5039715" cy="594360"/>
          </a:xfrm>
          <a:prstGeom prst="rect">
            <a:avLst/>
          </a:prstGeom>
          <a:noFill/>
        </p:spPr>
        <p:txBody>
          <a:bodyPr wrap="square" anchor="ctr" lIns="0" rIns="0" tIns="0" bIns="0">
            <a:noAutofit/>
          </a:bodyPr>
          <a:lstStyle/>
          <a:p>
            <a:pPr algn="l">
              <a:lnSpc>
                <a:spcPct val="108000"/>
              </a:lnSpc>
            </a:pPr>
            <a:r>
              <a:rPr sz="1200" b="0" i="0">
                <a:solidFill>
                  <a:srgbClr val="2B211A"/>
                </a:solidFill>
                <a:latin typeface="Cambria"/>
              </a:rPr>
              <a:t>Ví dụ: công ty đăng tin tuyển 50 nhân viên bán hàng, mức lương 7-9 triệu đồng/tháng.</a:t>
            </a:r>
          </a:p>
        </p:txBody>
      </p:sp>
      <p:sp>
        <p:nvSpPr>
          <p:cNvPr id="21" name="Rounded Rectangle 20"/>
          <p:cNvSpPr/>
          <p:nvPr/>
        </p:nvSpPr>
        <p:spPr>
          <a:xfrm>
            <a:off x="6255867" y="4261104"/>
            <a:ext cx="5368899" cy="777240"/>
          </a:xfrm>
          <a:prstGeom prst="roundRect">
            <a:avLst>
              <a:gd name="adj" fmla="val 10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0459" y="4352544"/>
            <a:ext cx="5039715" cy="594360"/>
          </a:xfrm>
          <a:prstGeom prst="rect">
            <a:avLst/>
          </a:prstGeom>
          <a:noFill/>
        </p:spPr>
        <p:txBody>
          <a:bodyPr wrap="square" anchor="ctr" lIns="0" rIns="0" tIns="0" bIns="0">
            <a:noAutofit/>
          </a:bodyPr>
          <a:lstStyle/>
          <a:p>
            <a:pPr algn="l">
              <a:lnSpc>
                <a:spcPct val="108000"/>
              </a:lnSpc>
            </a:pPr>
            <a:r>
              <a:rPr sz="1200" b="0" i="0">
                <a:solidFill>
                  <a:srgbClr val="2B211A"/>
                </a:solidFill>
                <a:latin typeface="Cambria"/>
              </a:rPr>
              <a:t>Chịu ảnh hưởng bởi: quy mô sản xuất - kinh doanh, công nghệ, mức lương doanh nghiệp có thể chi trả.</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THỊ TRƯỜNG LAO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Giá cả sức lao động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15</a:t>
            </a:r>
          </a:p>
        </p:txBody>
      </p:sp>
      <p:sp>
        <p:nvSpPr>
          <p:cNvPr id="7" name="Rounded Rectangle 6"/>
          <p:cNvSpPr/>
          <p:nvPr/>
        </p:nvSpPr>
        <p:spPr>
          <a:xfrm>
            <a:off x="566928" y="1783080"/>
            <a:ext cx="11057839" cy="777240"/>
          </a:xfrm>
          <a:prstGeom prst="roundRect">
            <a:avLst>
              <a:gd name="adj" fmla="val 10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01952"/>
            <a:ext cx="10600639" cy="548640"/>
          </a:xfrm>
          <a:prstGeom prst="rect">
            <a:avLst/>
          </a:prstGeom>
          <a:noFill/>
        </p:spPr>
        <p:txBody>
          <a:bodyPr wrap="square" anchor="ctr" lIns="0" rIns="0" tIns="0" bIns="0">
            <a:noAutofit/>
          </a:bodyPr>
          <a:lstStyle/>
          <a:p>
            <a:pPr algn="l">
              <a:lnSpc>
                <a:spcPct val="110000"/>
              </a:lnSpc>
            </a:pPr>
            <a:r>
              <a:rPr sz="1350" b="0" i="1">
                <a:solidFill>
                  <a:srgbClr val="2B211A"/>
                </a:solidFill>
                <a:latin typeface="Cambria"/>
              </a:rPr>
              <a:t>Giá cả sức lao động chính là tiền lương, tiền công mà người sử dụng lao động trả cho người lao động.</a:t>
            </a:r>
          </a:p>
        </p:txBody>
      </p:sp>
      <p:sp>
        <p:nvSpPr>
          <p:cNvPr id="9" name="TextBox 8"/>
          <p:cNvSpPr txBox="1"/>
          <p:nvPr/>
        </p:nvSpPr>
        <p:spPr>
          <a:xfrm>
            <a:off x="612648" y="2788920"/>
            <a:ext cx="10966399" cy="3429000"/>
          </a:xfrm>
          <a:prstGeom prst="rect">
            <a:avLst/>
          </a:prstGeom>
          <a:noFill/>
        </p:spPr>
        <p:txBody>
          <a:bodyPr wrap="square" lIns="0" rIns="0" tIns="0" bIns="0">
            <a:noAutofit/>
          </a:bodyPr>
          <a:lstStyle/>
          <a:p>
            <a:pPr>
              <a:spcAft>
                <a:spcPts val="1200"/>
              </a:spcAft>
            </a:pPr>
            <a:r>
              <a:rPr sz="1500" b="1" i="0">
                <a:solidFill>
                  <a:srgbClr val="2C5A73"/>
                </a:solidFill>
                <a:latin typeface="Cambria"/>
              </a:rPr>
              <a:t>•  Hình thành trên cơ sở thoả thuận</a:t>
            </a:r>
            <a:r>
              <a:rPr sz="1500" b="0" i="0">
                <a:solidFill>
                  <a:srgbClr val="2B211A"/>
                </a:solidFill>
                <a:latin typeface="Cambria"/>
              </a:rPr>
              <a:t>  giữa người lao động và người sử dụng lao động, phù hợp quy định pháp luật (ví dụ: không thấp hơn mức lương tối thiểu vùng).</a:t>
            </a:r>
          </a:p>
          <a:p>
            <a:pPr>
              <a:spcAft>
                <a:spcPts val="1200"/>
              </a:spcAft>
            </a:pPr>
            <a:r>
              <a:rPr sz="1500" b="1" i="0">
                <a:solidFill>
                  <a:srgbClr val="2C5A73"/>
                </a:solidFill>
                <a:latin typeface="Cambria"/>
              </a:rPr>
              <a:t>•  Chịu tác động của quan hệ cung - cầu</a:t>
            </a:r>
            <a:r>
              <a:rPr sz="1500" b="0" i="0">
                <a:solidFill>
                  <a:srgbClr val="2B211A"/>
                </a:solidFill>
                <a:latin typeface="Cambria"/>
              </a:rPr>
              <a:t>  khi cầu lao động lớn hơn cung (khan hiếm nhân lực), tiền lương có xu hướng tăng và ngược lại.</a:t>
            </a:r>
          </a:p>
          <a:p>
            <a:pPr>
              <a:spcAft>
                <a:spcPts val="1200"/>
              </a:spcAft>
            </a:pPr>
            <a:r>
              <a:rPr sz="1500" b="1" i="0">
                <a:solidFill>
                  <a:srgbClr val="2C5A73"/>
                </a:solidFill>
                <a:latin typeface="Cambria"/>
              </a:rPr>
              <a:t>•  Phụ thuộc vào chất lượng sức lao động</a:t>
            </a:r>
            <a:r>
              <a:rPr sz="1500" b="0" i="0">
                <a:solidFill>
                  <a:srgbClr val="2B211A"/>
                </a:solidFill>
                <a:latin typeface="Cambria"/>
              </a:rPr>
              <a:t>  trình độ chuyên môn, kỹ năng, kinh nghiệm, năng suất làm việc của người lao động.</a:t>
            </a:r>
          </a:p>
          <a:p>
            <a:pPr>
              <a:spcAft>
                <a:spcPts val="1200"/>
              </a:spcAft>
            </a:pPr>
            <a:r>
              <a:rPr sz="1500" b="1" i="0">
                <a:solidFill>
                  <a:srgbClr val="2C5A73"/>
                </a:solidFill>
                <a:latin typeface="Cambria"/>
              </a:rPr>
              <a:t>•  Là tín hiệu định hướng nghề nghiệp</a:t>
            </a:r>
            <a:r>
              <a:rPr sz="1500" b="0" i="0">
                <a:solidFill>
                  <a:srgbClr val="2B211A"/>
                </a:solidFill>
                <a:latin typeface="Cambria"/>
              </a:rPr>
              <a:t>  giúp người lao động lựa chọn ngành nghề, nơi làm việc phù hợp với năng lực và mong muốn.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THỊ TRƯỜNG LAO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Vai trò của thị trường lao động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16</a:t>
            </a:r>
          </a:p>
        </p:txBody>
      </p:sp>
      <p:sp>
        <p:nvSpPr>
          <p:cNvPr id="7" name="Rounded Rectangle 6"/>
          <p:cNvSpPr/>
          <p:nvPr/>
        </p:nvSpPr>
        <p:spPr>
          <a:xfrm>
            <a:off x="566928" y="1783080"/>
            <a:ext cx="3515258" cy="4389120"/>
          </a:xfrm>
          <a:prstGeom prst="roundRect">
            <a:avLst>
              <a:gd name="adj" fmla="val 9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84248"/>
            <a:ext cx="3112922" cy="365760"/>
          </a:xfrm>
          <a:prstGeom prst="rect">
            <a:avLst/>
          </a:prstGeom>
          <a:noFill/>
        </p:spPr>
        <p:txBody>
          <a:bodyPr wrap="square" anchor="t" lIns="0" rIns="0" tIns="0" bIns="0">
            <a:noAutofit/>
          </a:bodyPr>
          <a:lstStyle/>
          <a:p>
            <a:pPr algn="l"/>
            <a:r>
              <a:rPr sz="1450" b="1" i="0">
                <a:solidFill>
                  <a:srgbClr val="2C5A73"/>
                </a:solidFill>
                <a:latin typeface="Cambria"/>
              </a:rPr>
              <a:t>Với người lao động</a:t>
            </a:r>
          </a:p>
        </p:txBody>
      </p:sp>
      <p:sp>
        <p:nvSpPr>
          <p:cNvPr id="9" name="TextBox 8"/>
          <p:cNvSpPr txBox="1"/>
          <p:nvPr/>
        </p:nvSpPr>
        <p:spPr>
          <a:xfrm>
            <a:off x="768096" y="2368296"/>
            <a:ext cx="3112922" cy="3602736"/>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Giúp tìm được việc làm phù hợp với năng lực, nguyện vọng và nhận mức thu nhập tương xứng.</a:t>
            </a:r>
          </a:p>
        </p:txBody>
      </p:sp>
      <p:sp>
        <p:nvSpPr>
          <p:cNvPr id="10" name="Rounded Rectangle 9"/>
          <p:cNvSpPr/>
          <p:nvPr/>
        </p:nvSpPr>
        <p:spPr>
          <a:xfrm>
            <a:off x="4338218" y="1783080"/>
            <a:ext cx="3515258" cy="4389120"/>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9386" y="1984248"/>
            <a:ext cx="3112922" cy="365760"/>
          </a:xfrm>
          <a:prstGeom prst="rect">
            <a:avLst/>
          </a:prstGeom>
          <a:noFill/>
        </p:spPr>
        <p:txBody>
          <a:bodyPr wrap="square" anchor="t" lIns="0" rIns="0" tIns="0" bIns="0">
            <a:noAutofit/>
          </a:bodyPr>
          <a:lstStyle/>
          <a:p>
            <a:pPr algn="l"/>
            <a:r>
              <a:rPr sz="1450" b="1" i="0">
                <a:solidFill>
                  <a:srgbClr val="B87410"/>
                </a:solidFill>
                <a:latin typeface="Cambria"/>
              </a:rPr>
              <a:t>Với doanh nghiệp</a:t>
            </a:r>
          </a:p>
        </p:txBody>
      </p:sp>
      <p:sp>
        <p:nvSpPr>
          <p:cNvPr id="12" name="TextBox 11"/>
          <p:cNvSpPr txBox="1"/>
          <p:nvPr/>
        </p:nvSpPr>
        <p:spPr>
          <a:xfrm>
            <a:off x="4539386" y="2368296"/>
            <a:ext cx="3112922" cy="3602736"/>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Giúp tuyển dụng được nhân sự phù hợp với nhu cầu sản xuất, kinh doanh, nâng cao hiệu quả hoạt động.</a:t>
            </a:r>
          </a:p>
        </p:txBody>
      </p:sp>
      <p:sp>
        <p:nvSpPr>
          <p:cNvPr id="13" name="Rounded Rectangle 12"/>
          <p:cNvSpPr/>
          <p:nvPr/>
        </p:nvSpPr>
        <p:spPr>
          <a:xfrm>
            <a:off x="8109508" y="1783080"/>
            <a:ext cx="3515258" cy="4389120"/>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0676" y="1984248"/>
            <a:ext cx="3112922" cy="365760"/>
          </a:xfrm>
          <a:prstGeom prst="rect">
            <a:avLst/>
          </a:prstGeom>
          <a:noFill/>
        </p:spPr>
        <p:txBody>
          <a:bodyPr wrap="square" anchor="t" lIns="0" rIns="0" tIns="0" bIns="0">
            <a:noAutofit/>
          </a:bodyPr>
          <a:lstStyle/>
          <a:p>
            <a:pPr algn="l"/>
            <a:r>
              <a:rPr sz="1450" b="1" i="0">
                <a:solidFill>
                  <a:srgbClr val="538235"/>
                </a:solidFill>
                <a:latin typeface="Cambria"/>
              </a:rPr>
              <a:t>Với nền kinh tế</a:t>
            </a:r>
          </a:p>
        </p:txBody>
      </p:sp>
      <p:sp>
        <p:nvSpPr>
          <p:cNvPr id="15" name="TextBox 14"/>
          <p:cNvSpPr txBox="1"/>
          <p:nvPr/>
        </p:nvSpPr>
        <p:spPr>
          <a:xfrm>
            <a:off x="8310676" y="2368296"/>
            <a:ext cx="3112922" cy="3602736"/>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Góp phần phân bổ hợp lí nguồn lực lao động giữa các ngành, các vùng, thúc đẩy tăng trưởng kinh tế.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3A52"/>
        </a:solidFill>
        <a:effectLst/>
      </p:bgPr>
    </p:bg>
    <p:spTree>
      <p:nvGrpSpPr>
        <p:cNvPr id="1" name=""/>
        <p:cNvGrpSpPr/>
        <p:nvPr/>
      </p:nvGrpSpPr>
      <p:grpSpPr/>
      <p:sp>
        <p:nvSpPr>
          <p:cNvPr id="2" name="Oval 1"/>
          <p:cNvSpPr/>
          <p:nvPr/>
        </p:nvSpPr>
        <p:spPr>
          <a:xfrm>
            <a:off x="-1280160" y="4206240"/>
            <a:ext cx="3291840" cy="3291840"/>
          </a:xfrm>
          <a:prstGeom prst="ellipse">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5486400" cy="365760"/>
          </a:xfrm>
          <a:prstGeom prst="rect">
            <a:avLst/>
          </a:prstGeom>
          <a:noFill/>
        </p:spPr>
        <p:txBody>
          <a:bodyPr wrap="square" anchor="t" lIns="0" rIns="0" tIns="0" bIns="0">
            <a:noAutofit/>
          </a:bodyPr>
          <a:lstStyle/>
          <a:p>
            <a:pPr algn="l"/>
            <a:r>
              <a:rPr sz="1500" b="1" i="0">
                <a:solidFill>
                  <a:srgbClr val="E8A03A"/>
                </a:solidFill>
                <a:latin typeface="Cambria"/>
              </a:rPr>
              <a:t>LUYỆN TẬP</a:t>
            </a:r>
          </a:p>
        </p:txBody>
      </p:sp>
      <p:sp>
        <p:nvSpPr>
          <p:cNvPr id="4" name="TextBox 3"/>
          <p:cNvSpPr txBox="1"/>
          <p:nvPr/>
        </p:nvSpPr>
        <p:spPr>
          <a:xfrm>
            <a:off x="566928" y="2560320"/>
            <a:ext cx="9875520" cy="1463040"/>
          </a:xfrm>
          <a:prstGeom prst="rect">
            <a:avLst/>
          </a:prstGeom>
          <a:noFill/>
        </p:spPr>
        <p:txBody>
          <a:bodyPr wrap="square" anchor="t" lIns="0" rIns="0" tIns="0" bIns="0">
            <a:noAutofit/>
          </a:bodyPr>
          <a:lstStyle/>
          <a:p>
            <a:pPr algn="l">
              <a:lnSpc>
                <a:spcPct val="103000"/>
              </a:lnSpc>
            </a:pPr>
            <a:r>
              <a:rPr sz="3400" b="1" i="0">
                <a:solidFill>
                  <a:srgbClr val="FFFFFF"/>
                </a:solidFill>
                <a:latin typeface="Cambria"/>
              </a:rPr>
              <a:t>Cùng củng cố kiến thức tiết 1</a:t>
            </a:r>
          </a:p>
        </p:txBody>
      </p:sp>
      <p:sp>
        <p:nvSpPr>
          <p:cNvPr id="5" name="TextBox 4"/>
          <p:cNvSpPr txBox="1"/>
          <p:nvPr/>
        </p:nvSpPr>
        <p:spPr>
          <a:xfrm>
            <a:off x="566928" y="3703320"/>
            <a:ext cx="8778240" cy="914400"/>
          </a:xfrm>
          <a:prstGeom prst="rect">
            <a:avLst/>
          </a:prstGeom>
          <a:noFill/>
        </p:spPr>
        <p:txBody>
          <a:bodyPr wrap="square" anchor="t" lIns="0" rIns="0" tIns="0" bIns="0">
            <a:noAutofit/>
          </a:bodyPr>
          <a:lstStyle/>
          <a:p>
            <a:pPr algn="l"/>
            <a:r>
              <a:rPr sz="1600" b="0" i="1">
                <a:solidFill>
                  <a:srgbClr val="FFFFFF"/>
                </a:solidFill>
                <a:latin typeface="Cambria"/>
              </a:rPr>
              <a:t>Vận dụng những gì vừa học để trả lời các câu hỏi sau.</a:t>
            </a:r>
          </a:p>
        </p:txBody>
      </p:sp>
      <p:sp>
        <p:nvSpPr>
          <p:cNvPr id="6" name="Rectangle 5"/>
          <p:cNvSpPr/>
          <p:nvPr/>
        </p:nvSpPr>
        <p:spPr>
          <a:xfrm>
            <a:off x="566928" y="6400800"/>
            <a:ext cx="11057839" cy="11430"/>
          </a:xfrm>
          <a:prstGeom prst="rect">
            <a:avLst/>
          </a:prstGeom>
          <a:solidFill>
            <a:srgbClr val="5B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FFFFFF"/>
                </a:solidFill>
                <a:latin typeface="Cambria"/>
              </a:rPr>
              <a:t>GDKTPL 11 | Bài 5: Thị trường lao động và việc làm - Tiết 1</a:t>
            </a:r>
          </a:p>
        </p:txBody>
      </p:sp>
      <p:sp>
        <p:nvSpPr>
          <p:cNvPr id="8" name="TextBox 7"/>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FFFFFF"/>
                </a:solidFill>
                <a:latin typeface="Cambria"/>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1E3A52"/>
                </a:solidFill>
                <a:latin typeface="Cambria"/>
              </a:rPr>
              <a:t>LUYỆN TẬP</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Bài tập 1: Đúng hay sai?</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18</a:t>
            </a:r>
          </a:p>
        </p:txBody>
      </p:sp>
      <p:sp>
        <p:nvSpPr>
          <p:cNvPr id="7" name="Rounded Rectangle 6"/>
          <p:cNvSpPr/>
          <p:nvPr/>
        </p:nvSpPr>
        <p:spPr>
          <a:xfrm>
            <a:off x="566928" y="1783080"/>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39112"/>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39112"/>
            <a:ext cx="384048" cy="384048"/>
          </a:xfrm>
          <a:prstGeom prst="rect">
            <a:avLst/>
          </a:prstGeom>
          <a:noFill/>
        </p:spPr>
        <p:txBody>
          <a:bodyPr wrap="square" anchor="ctr" lIns="0" rIns="0" tIns="0" bIns="0">
            <a:noAutofit/>
          </a:bodyPr>
          <a:lstStyle/>
          <a:p>
            <a:pPr algn="ctr"/>
            <a:r>
              <a:rPr sz="1400" b="1" i="0">
                <a:solidFill>
                  <a:srgbClr val="FFFFFF"/>
                </a:solidFill>
                <a:latin typeface="Cambria"/>
              </a:rPr>
              <a:t>1</a:t>
            </a:r>
          </a:p>
        </p:txBody>
      </p:sp>
      <p:sp>
        <p:nvSpPr>
          <p:cNvPr id="10" name="TextBox 9"/>
          <p:cNvSpPr txBox="1"/>
          <p:nvPr/>
        </p:nvSpPr>
        <p:spPr>
          <a:xfrm>
            <a:off x="1280160" y="1783080"/>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Lao động là hoạt động có mục đích, có ý thức của con người nhằm tạo ra sản phẩm phục vụ nhu cầu xã hội.</a:t>
            </a:r>
          </a:p>
        </p:txBody>
      </p:sp>
      <p:sp>
        <p:nvSpPr>
          <p:cNvPr id="11" name="Rounded Rectangle 10"/>
          <p:cNvSpPr/>
          <p:nvPr/>
        </p:nvSpPr>
        <p:spPr>
          <a:xfrm>
            <a:off x="10618927" y="1984248"/>
            <a:ext cx="868680" cy="475488"/>
          </a:xfrm>
          <a:prstGeom prst="roundRect">
            <a:avLst>
              <a:gd name="adj" fmla="val 30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18927" y="1984248"/>
            <a:ext cx="868680" cy="475488"/>
          </a:xfrm>
          <a:prstGeom prst="rect">
            <a:avLst/>
          </a:prstGeom>
          <a:noFill/>
        </p:spPr>
        <p:txBody>
          <a:bodyPr wrap="square" anchor="ctr" lIns="0" rIns="0" tIns="0" bIns="0">
            <a:noAutofit/>
          </a:bodyPr>
          <a:lstStyle/>
          <a:p>
            <a:pPr algn="ctr"/>
            <a:r>
              <a:rPr sz="1250" b="1" i="0">
                <a:solidFill>
                  <a:srgbClr val="FFFFFF"/>
                </a:solidFill>
                <a:latin typeface="Cambria"/>
              </a:rPr>
              <a:t>ĐÚNG</a:t>
            </a:r>
          </a:p>
        </p:txBody>
      </p:sp>
      <p:sp>
        <p:nvSpPr>
          <p:cNvPr id="13" name="Rounded Rectangle 12"/>
          <p:cNvSpPr/>
          <p:nvPr/>
        </p:nvSpPr>
        <p:spPr>
          <a:xfrm>
            <a:off x="566928" y="2825496"/>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3081528"/>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81528"/>
            <a:ext cx="384048" cy="384048"/>
          </a:xfrm>
          <a:prstGeom prst="rect">
            <a:avLst/>
          </a:prstGeom>
          <a:noFill/>
        </p:spPr>
        <p:txBody>
          <a:bodyPr wrap="square" anchor="ctr" lIns="0" rIns="0" tIns="0" bIns="0">
            <a:noAutofit/>
          </a:bodyPr>
          <a:lstStyle/>
          <a:p>
            <a:pPr algn="ctr"/>
            <a:r>
              <a:rPr sz="1400" b="1" i="0">
                <a:solidFill>
                  <a:srgbClr val="FFFFFF"/>
                </a:solidFill>
                <a:latin typeface="Cambria"/>
              </a:rPr>
              <a:t>2</a:t>
            </a:r>
          </a:p>
        </p:txBody>
      </p:sp>
      <p:sp>
        <p:nvSpPr>
          <p:cNvPr id="16" name="TextBox 15"/>
          <p:cNvSpPr txBox="1"/>
          <p:nvPr/>
        </p:nvSpPr>
        <p:spPr>
          <a:xfrm>
            <a:off x="1280160" y="2825496"/>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Thị trường lao động chỉ tồn tại khi các bên kí hợp đồng lao động bằng văn bản.</a:t>
            </a:r>
          </a:p>
        </p:txBody>
      </p:sp>
      <p:sp>
        <p:nvSpPr>
          <p:cNvPr id="17" name="Rounded Rectangle 16"/>
          <p:cNvSpPr/>
          <p:nvPr/>
        </p:nvSpPr>
        <p:spPr>
          <a:xfrm>
            <a:off x="10618927" y="3026664"/>
            <a:ext cx="868680" cy="475488"/>
          </a:xfrm>
          <a:prstGeom prst="roundRect">
            <a:avLst>
              <a:gd name="adj" fmla="val 30000"/>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18927" y="3026664"/>
            <a:ext cx="868680" cy="475488"/>
          </a:xfrm>
          <a:prstGeom prst="rect">
            <a:avLst/>
          </a:prstGeom>
          <a:noFill/>
        </p:spPr>
        <p:txBody>
          <a:bodyPr wrap="square" anchor="ctr" lIns="0" rIns="0" tIns="0" bIns="0">
            <a:noAutofit/>
          </a:bodyPr>
          <a:lstStyle/>
          <a:p>
            <a:pPr algn="ctr"/>
            <a:r>
              <a:rPr sz="1250" b="1" i="0">
                <a:solidFill>
                  <a:srgbClr val="FFFFFF"/>
                </a:solidFill>
                <a:latin typeface="Cambria"/>
              </a:rPr>
              <a:t>SAI</a:t>
            </a:r>
          </a:p>
        </p:txBody>
      </p:sp>
      <p:sp>
        <p:nvSpPr>
          <p:cNvPr id="19" name="Rounded Rectangle 18"/>
          <p:cNvSpPr/>
          <p:nvPr/>
        </p:nvSpPr>
        <p:spPr>
          <a:xfrm>
            <a:off x="566928" y="3867912"/>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4123944"/>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123944"/>
            <a:ext cx="384048" cy="384048"/>
          </a:xfrm>
          <a:prstGeom prst="rect">
            <a:avLst/>
          </a:prstGeom>
          <a:noFill/>
        </p:spPr>
        <p:txBody>
          <a:bodyPr wrap="square" anchor="ctr" lIns="0" rIns="0" tIns="0" bIns="0">
            <a:noAutofit/>
          </a:bodyPr>
          <a:lstStyle/>
          <a:p>
            <a:pPr algn="ctr"/>
            <a:r>
              <a:rPr sz="1400" b="1" i="0">
                <a:solidFill>
                  <a:srgbClr val="FFFFFF"/>
                </a:solidFill>
                <a:latin typeface="Cambria"/>
              </a:rPr>
              <a:t>3</a:t>
            </a:r>
          </a:p>
        </p:txBody>
      </p:sp>
      <p:sp>
        <p:nvSpPr>
          <p:cNvPr id="22" name="TextBox 21"/>
          <p:cNvSpPr txBox="1"/>
          <p:nvPr/>
        </p:nvSpPr>
        <p:spPr>
          <a:xfrm>
            <a:off x="1280160" y="3867912"/>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Cung lao động là số lượng, chất lượng sức lao động mà người lao động sẵn sàng cung ứng cho thị trường.</a:t>
            </a:r>
          </a:p>
        </p:txBody>
      </p:sp>
      <p:sp>
        <p:nvSpPr>
          <p:cNvPr id="23" name="Rounded Rectangle 22"/>
          <p:cNvSpPr/>
          <p:nvPr/>
        </p:nvSpPr>
        <p:spPr>
          <a:xfrm>
            <a:off x="10618927" y="4069080"/>
            <a:ext cx="868680" cy="475488"/>
          </a:xfrm>
          <a:prstGeom prst="roundRect">
            <a:avLst>
              <a:gd name="adj" fmla="val 30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18927" y="4069080"/>
            <a:ext cx="868680" cy="475488"/>
          </a:xfrm>
          <a:prstGeom prst="rect">
            <a:avLst/>
          </a:prstGeom>
          <a:noFill/>
        </p:spPr>
        <p:txBody>
          <a:bodyPr wrap="square" anchor="ctr" lIns="0" rIns="0" tIns="0" bIns="0">
            <a:noAutofit/>
          </a:bodyPr>
          <a:lstStyle/>
          <a:p>
            <a:pPr algn="ctr"/>
            <a:r>
              <a:rPr sz="1250" b="1" i="0">
                <a:solidFill>
                  <a:srgbClr val="FFFFFF"/>
                </a:solidFill>
                <a:latin typeface="Cambria"/>
              </a:rPr>
              <a:t>ĐÚNG</a:t>
            </a:r>
          </a:p>
        </p:txBody>
      </p:sp>
      <p:sp>
        <p:nvSpPr>
          <p:cNvPr id="25" name="Rounded Rectangle 24"/>
          <p:cNvSpPr/>
          <p:nvPr/>
        </p:nvSpPr>
        <p:spPr>
          <a:xfrm>
            <a:off x="566928" y="4910328"/>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31520" y="5166360"/>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166360"/>
            <a:ext cx="384048" cy="384048"/>
          </a:xfrm>
          <a:prstGeom prst="rect">
            <a:avLst/>
          </a:prstGeom>
          <a:noFill/>
        </p:spPr>
        <p:txBody>
          <a:bodyPr wrap="square" anchor="ctr" lIns="0" rIns="0" tIns="0" bIns="0">
            <a:noAutofit/>
          </a:bodyPr>
          <a:lstStyle/>
          <a:p>
            <a:pPr algn="ctr"/>
            <a:r>
              <a:rPr sz="1400" b="1" i="0">
                <a:solidFill>
                  <a:srgbClr val="FFFFFF"/>
                </a:solidFill>
                <a:latin typeface="Cambria"/>
              </a:rPr>
              <a:t>4</a:t>
            </a:r>
          </a:p>
        </p:txBody>
      </p:sp>
      <p:sp>
        <p:nvSpPr>
          <p:cNvPr id="28" name="TextBox 27"/>
          <p:cNvSpPr txBox="1"/>
          <p:nvPr/>
        </p:nvSpPr>
        <p:spPr>
          <a:xfrm>
            <a:off x="1280160" y="4910328"/>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Giá cả sức lao động không chịu tác động của quan hệ cung - cầu lao động trên thị trường.</a:t>
            </a:r>
          </a:p>
        </p:txBody>
      </p:sp>
      <p:sp>
        <p:nvSpPr>
          <p:cNvPr id="29" name="Rounded Rectangle 28"/>
          <p:cNvSpPr/>
          <p:nvPr/>
        </p:nvSpPr>
        <p:spPr>
          <a:xfrm>
            <a:off x="10618927" y="5111496"/>
            <a:ext cx="868680" cy="475488"/>
          </a:xfrm>
          <a:prstGeom prst="roundRect">
            <a:avLst>
              <a:gd name="adj" fmla="val 30000"/>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18927" y="5111496"/>
            <a:ext cx="868680" cy="475488"/>
          </a:xfrm>
          <a:prstGeom prst="rect">
            <a:avLst/>
          </a:prstGeom>
          <a:noFill/>
        </p:spPr>
        <p:txBody>
          <a:bodyPr wrap="square" anchor="ctr" lIns="0" rIns="0" tIns="0" bIns="0">
            <a:noAutofit/>
          </a:bodyPr>
          <a:lstStyle/>
          <a:p>
            <a:pPr algn="ctr"/>
            <a:r>
              <a:rPr sz="1250" b="1" i="0">
                <a:solidFill>
                  <a:srgbClr val="FFFFFF"/>
                </a:solidFill>
                <a:latin typeface="Cambria"/>
              </a:rPr>
              <a:t>SAI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1E3A52"/>
                </a:solidFill>
                <a:latin typeface="Cambria"/>
              </a:rPr>
              <a:t>LUYỆN TẬP</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500" b="1" i="0">
                <a:solidFill>
                  <a:srgbClr val="2B211A"/>
                </a:solidFill>
                <a:latin typeface="Cambria"/>
              </a:rPr>
              <a:t>Bài tập 2: Xử lí tình huống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19</a:t>
            </a:r>
          </a:p>
        </p:txBody>
      </p:sp>
      <p:sp>
        <p:nvSpPr>
          <p:cNvPr id="7" name="Rounded Rectangle 6"/>
          <p:cNvSpPr/>
          <p:nvPr/>
        </p:nvSpPr>
        <p:spPr>
          <a:xfrm>
            <a:off x="566928" y="1737360"/>
            <a:ext cx="11057839" cy="777240"/>
          </a:xfrm>
          <a:prstGeom prst="roundRect">
            <a:avLst>
              <a:gd name="adj" fmla="val 10000"/>
            </a:avLst>
          </a:prstGeom>
          <a:solidFill>
            <a:srgbClr val="E7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847088"/>
            <a:ext cx="10600639" cy="566928"/>
          </a:xfrm>
          <a:prstGeom prst="rect">
            <a:avLst/>
          </a:prstGeom>
          <a:noFill/>
        </p:spPr>
        <p:txBody>
          <a:bodyPr wrap="square" anchor="ctr" lIns="0" rIns="0" tIns="0" bIns="0">
            <a:noAutofit/>
          </a:bodyPr>
          <a:lstStyle/>
          <a:p>
            <a:pPr algn="l">
              <a:lnSpc>
                <a:spcPct val="110000"/>
              </a:lnSpc>
            </a:pPr>
            <a:r>
              <a:rPr sz="1500" b="1" i="0">
                <a:solidFill>
                  <a:srgbClr val="2B211A"/>
                </a:solidFill>
                <a:latin typeface="Cambria"/>
              </a:rPr>
              <a:t>Công ty X đăng tin tuyển 50 nhân viên bán hàng, mức lương thoả thuận 7-9 triệu đồng/tháng. Thông tin này thể hiện yếu tố nào của thị trường lao động?</a:t>
            </a:r>
          </a:p>
        </p:txBody>
      </p:sp>
      <p:sp>
        <p:nvSpPr>
          <p:cNvPr id="9" name="Rounded Rectangle 8"/>
          <p:cNvSpPr/>
          <p:nvPr/>
        </p:nvSpPr>
        <p:spPr>
          <a:xfrm>
            <a:off x="566928" y="2697480"/>
            <a:ext cx="5414619" cy="868680"/>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948940"/>
            <a:ext cx="365760" cy="36576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48940"/>
            <a:ext cx="365760" cy="365760"/>
          </a:xfrm>
          <a:prstGeom prst="rect">
            <a:avLst/>
          </a:prstGeom>
          <a:noFill/>
        </p:spPr>
        <p:txBody>
          <a:bodyPr wrap="square" anchor="ctr" lIns="0" rIns="0" tIns="0" bIns="0">
            <a:noAutofit/>
          </a:bodyPr>
          <a:lstStyle/>
          <a:p>
            <a:pPr algn="ctr"/>
            <a:r>
              <a:rPr sz="1400" b="1" i="0">
                <a:solidFill>
                  <a:srgbClr val="FFFFFF"/>
                </a:solidFill>
                <a:latin typeface="Cambria"/>
              </a:rPr>
              <a:t>A</a:t>
            </a:r>
          </a:p>
        </p:txBody>
      </p:sp>
      <p:sp>
        <p:nvSpPr>
          <p:cNvPr id="12" name="TextBox 11"/>
          <p:cNvSpPr txBox="1"/>
          <p:nvPr/>
        </p:nvSpPr>
        <p:spPr>
          <a:xfrm>
            <a:off x="1207008" y="2697480"/>
            <a:ext cx="4591659" cy="868680"/>
          </a:xfrm>
          <a:prstGeom prst="rect">
            <a:avLst/>
          </a:prstGeom>
          <a:noFill/>
        </p:spPr>
        <p:txBody>
          <a:bodyPr wrap="square" anchor="ctr" lIns="0" rIns="0" tIns="0" bIns="0">
            <a:noAutofit/>
          </a:bodyPr>
          <a:lstStyle/>
          <a:p>
            <a:pPr algn="l">
              <a:lnSpc>
                <a:spcPct val="105000"/>
              </a:lnSpc>
            </a:pPr>
            <a:r>
              <a:rPr sz="1250" b="0" i="0">
                <a:solidFill>
                  <a:srgbClr val="2B211A"/>
                </a:solidFill>
                <a:latin typeface="Cambria"/>
              </a:rPr>
              <a:t>A. Chỉ thể hiện cung lao động</a:t>
            </a:r>
          </a:p>
        </p:txBody>
      </p:sp>
      <p:sp>
        <p:nvSpPr>
          <p:cNvPr id="13" name="Rounded Rectangle 12"/>
          <p:cNvSpPr/>
          <p:nvPr/>
        </p:nvSpPr>
        <p:spPr>
          <a:xfrm>
            <a:off x="6210147" y="2697480"/>
            <a:ext cx="5414619" cy="868680"/>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74739" y="2948940"/>
            <a:ext cx="365760" cy="36576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4739" y="2948940"/>
            <a:ext cx="365760" cy="365760"/>
          </a:xfrm>
          <a:prstGeom prst="rect">
            <a:avLst/>
          </a:prstGeom>
          <a:noFill/>
        </p:spPr>
        <p:txBody>
          <a:bodyPr wrap="square" anchor="ctr" lIns="0" rIns="0" tIns="0" bIns="0">
            <a:noAutofit/>
          </a:bodyPr>
          <a:lstStyle/>
          <a:p>
            <a:pPr algn="ctr"/>
            <a:r>
              <a:rPr sz="1400" b="1" i="0">
                <a:solidFill>
                  <a:srgbClr val="FFFFFF"/>
                </a:solidFill>
                <a:latin typeface="Cambria"/>
              </a:rPr>
              <a:t>B</a:t>
            </a:r>
          </a:p>
        </p:txBody>
      </p:sp>
      <p:sp>
        <p:nvSpPr>
          <p:cNvPr id="16" name="TextBox 15"/>
          <p:cNvSpPr txBox="1"/>
          <p:nvPr/>
        </p:nvSpPr>
        <p:spPr>
          <a:xfrm>
            <a:off x="6850227" y="2697480"/>
            <a:ext cx="4591659" cy="868680"/>
          </a:xfrm>
          <a:prstGeom prst="rect">
            <a:avLst/>
          </a:prstGeom>
          <a:noFill/>
        </p:spPr>
        <p:txBody>
          <a:bodyPr wrap="square" anchor="ctr" lIns="0" rIns="0" tIns="0" bIns="0">
            <a:noAutofit/>
          </a:bodyPr>
          <a:lstStyle/>
          <a:p>
            <a:pPr algn="l">
              <a:lnSpc>
                <a:spcPct val="105000"/>
              </a:lnSpc>
            </a:pPr>
            <a:r>
              <a:rPr sz="1250" b="0" i="0">
                <a:solidFill>
                  <a:srgbClr val="2B211A"/>
                </a:solidFill>
                <a:latin typeface="Cambria"/>
              </a:rPr>
              <a:t>B. Chỉ thể hiện cầu lao động</a:t>
            </a:r>
          </a:p>
        </p:txBody>
      </p:sp>
      <p:sp>
        <p:nvSpPr>
          <p:cNvPr id="17" name="Rounded Rectangle 16"/>
          <p:cNvSpPr/>
          <p:nvPr/>
        </p:nvSpPr>
        <p:spPr>
          <a:xfrm>
            <a:off x="566928" y="3749040"/>
            <a:ext cx="5414619" cy="868680"/>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000500"/>
            <a:ext cx="365760" cy="36576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00500"/>
            <a:ext cx="365760" cy="365760"/>
          </a:xfrm>
          <a:prstGeom prst="rect">
            <a:avLst/>
          </a:prstGeom>
          <a:noFill/>
        </p:spPr>
        <p:txBody>
          <a:bodyPr wrap="square" anchor="ctr" lIns="0" rIns="0" tIns="0" bIns="0">
            <a:noAutofit/>
          </a:bodyPr>
          <a:lstStyle/>
          <a:p>
            <a:pPr algn="ctr"/>
            <a:r>
              <a:rPr sz="1400" b="1" i="0">
                <a:solidFill>
                  <a:srgbClr val="FFFFFF"/>
                </a:solidFill>
                <a:latin typeface="Cambria"/>
              </a:rPr>
              <a:t>C</a:t>
            </a:r>
          </a:p>
        </p:txBody>
      </p:sp>
      <p:sp>
        <p:nvSpPr>
          <p:cNvPr id="20" name="TextBox 19"/>
          <p:cNvSpPr txBox="1"/>
          <p:nvPr/>
        </p:nvSpPr>
        <p:spPr>
          <a:xfrm>
            <a:off x="1207008" y="3749040"/>
            <a:ext cx="4591659" cy="868680"/>
          </a:xfrm>
          <a:prstGeom prst="rect">
            <a:avLst/>
          </a:prstGeom>
          <a:noFill/>
        </p:spPr>
        <p:txBody>
          <a:bodyPr wrap="square" anchor="ctr" lIns="0" rIns="0" tIns="0" bIns="0">
            <a:noAutofit/>
          </a:bodyPr>
          <a:lstStyle/>
          <a:p>
            <a:pPr algn="l">
              <a:lnSpc>
                <a:spcPct val="105000"/>
              </a:lnSpc>
            </a:pPr>
            <a:r>
              <a:rPr sz="1250" b="0" i="0">
                <a:solidFill>
                  <a:srgbClr val="2B211A"/>
                </a:solidFill>
                <a:latin typeface="Cambria"/>
              </a:rPr>
              <a:t>C. Chỉ thể hiện giá cả sức lao động</a:t>
            </a:r>
          </a:p>
        </p:txBody>
      </p:sp>
      <p:sp>
        <p:nvSpPr>
          <p:cNvPr id="21" name="Rounded Rectangle 20"/>
          <p:cNvSpPr/>
          <p:nvPr/>
        </p:nvSpPr>
        <p:spPr>
          <a:xfrm>
            <a:off x="6210147" y="3749040"/>
            <a:ext cx="5414619" cy="868680"/>
          </a:xfrm>
          <a:prstGeom prst="roundRect">
            <a:avLst>
              <a:gd name="adj" fmla="val 12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74739" y="4000500"/>
            <a:ext cx="365760" cy="365760"/>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4739" y="4000500"/>
            <a:ext cx="365760" cy="365760"/>
          </a:xfrm>
          <a:prstGeom prst="rect">
            <a:avLst/>
          </a:prstGeom>
          <a:noFill/>
        </p:spPr>
        <p:txBody>
          <a:bodyPr wrap="square" anchor="ctr" lIns="0" rIns="0" tIns="0" bIns="0">
            <a:noAutofit/>
          </a:bodyPr>
          <a:lstStyle/>
          <a:p>
            <a:pPr algn="ctr"/>
            <a:r>
              <a:rPr sz="1400" b="1" i="0">
                <a:solidFill>
                  <a:srgbClr val="FFFFFF"/>
                </a:solidFill>
                <a:latin typeface="Cambria"/>
              </a:rPr>
              <a:t>D</a:t>
            </a:r>
          </a:p>
        </p:txBody>
      </p:sp>
      <p:sp>
        <p:nvSpPr>
          <p:cNvPr id="24" name="TextBox 23"/>
          <p:cNvSpPr txBox="1"/>
          <p:nvPr/>
        </p:nvSpPr>
        <p:spPr>
          <a:xfrm>
            <a:off x="6850227" y="3749040"/>
            <a:ext cx="4591659" cy="868680"/>
          </a:xfrm>
          <a:prstGeom prst="rect">
            <a:avLst/>
          </a:prstGeom>
          <a:noFill/>
        </p:spPr>
        <p:txBody>
          <a:bodyPr wrap="square" anchor="ctr" lIns="0" rIns="0" tIns="0" bIns="0">
            <a:noAutofit/>
          </a:bodyPr>
          <a:lstStyle/>
          <a:p>
            <a:pPr algn="l">
              <a:lnSpc>
                <a:spcPct val="105000"/>
              </a:lnSpc>
            </a:pPr>
            <a:r>
              <a:rPr sz="1250" b="0" i="0">
                <a:solidFill>
                  <a:srgbClr val="2B211A"/>
                </a:solidFill>
                <a:latin typeface="Cambria"/>
              </a:rPr>
              <a:t>D. Thể hiện cả cầu lao động và giá cả sức lao động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B87410"/>
                </a:solidFill>
                <a:latin typeface="Cambria"/>
              </a:rPr>
              <a:t>VẬN DỤNG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Nhiệm vụ về nhà</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1</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20</a:t>
            </a:r>
          </a:p>
        </p:txBody>
      </p:sp>
      <p:sp>
        <p:nvSpPr>
          <p:cNvPr id="7" name="Rounded Rectangle 6"/>
          <p:cNvSpPr/>
          <p:nvPr/>
        </p:nvSpPr>
        <p:spPr>
          <a:xfrm>
            <a:off x="566928" y="1783080"/>
            <a:ext cx="11057839" cy="1051560"/>
          </a:xfrm>
          <a:prstGeom prst="roundRect">
            <a:avLst>
              <a:gd name="adj" fmla="val 9000"/>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11096"/>
            <a:ext cx="10600639" cy="274320"/>
          </a:xfrm>
          <a:prstGeom prst="rect">
            <a:avLst/>
          </a:prstGeom>
          <a:noFill/>
        </p:spPr>
        <p:txBody>
          <a:bodyPr wrap="square" anchor="t" lIns="0" rIns="0" tIns="0" bIns="0">
            <a:noAutofit/>
          </a:bodyPr>
          <a:lstStyle/>
          <a:p>
            <a:pPr algn="l"/>
            <a:r>
              <a:rPr sz="1200" b="1" i="0">
                <a:solidFill>
                  <a:srgbClr val="FFFFFF"/>
                </a:solidFill>
                <a:latin typeface="Cambria"/>
              </a:rPr>
              <a:t>LIÊN HỆ THỰC TẾ</a:t>
            </a:r>
          </a:p>
        </p:txBody>
      </p:sp>
      <p:sp>
        <p:nvSpPr>
          <p:cNvPr id="9" name="TextBox 8"/>
          <p:cNvSpPr txBox="1"/>
          <p:nvPr/>
        </p:nvSpPr>
        <p:spPr>
          <a:xfrm>
            <a:off x="795528" y="2203704"/>
            <a:ext cx="10600639" cy="566928"/>
          </a:xfrm>
          <a:prstGeom prst="rect">
            <a:avLst/>
          </a:prstGeom>
          <a:noFill/>
        </p:spPr>
        <p:txBody>
          <a:bodyPr wrap="square" anchor="t" lIns="0" rIns="0" tIns="0" bIns="0">
            <a:noAutofit/>
          </a:bodyPr>
          <a:lstStyle/>
          <a:p>
            <a:pPr algn="l">
              <a:lnSpc>
                <a:spcPct val="112000"/>
              </a:lnSpc>
            </a:pPr>
            <a:r>
              <a:rPr sz="1450" b="0" i="0">
                <a:solidFill>
                  <a:srgbClr val="FFFFFF"/>
                </a:solidFill>
                <a:latin typeface="Cambria"/>
              </a:rPr>
              <a:t>Em hãy phỏng vấn một người thân (bố, mẹ, anh, chị...) đang đi làm và ghi lại ngắn gọn: công việc hiện tại là gì, mức lương được thoả thuận như thế nào và điều gì ảnh hưởng đến mức lương đó.</a:t>
            </a:r>
          </a:p>
        </p:txBody>
      </p:sp>
      <p:sp>
        <p:nvSpPr>
          <p:cNvPr id="10" name="TextBox 9"/>
          <p:cNvSpPr txBox="1"/>
          <p:nvPr/>
        </p:nvSpPr>
        <p:spPr>
          <a:xfrm>
            <a:off x="566928" y="3063240"/>
            <a:ext cx="11057839" cy="320040"/>
          </a:xfrm>
          <a:prstGeom prst="rect">
            <a:avLst/>
          </a:prstGeom>
          <a:noFill/>
        </p:spPr>
        <p:txBody>
          <a:bodyPr wrap="square" anchor="t" lIns="0" rIns="0" tIns="0" bIns="0">
            <a:noAutofit/>
          </a:bodyPr>
          <a:lstStyle/>
          <a:p>
            <a:pPr algn="l"/>
            <a:r>
              <a:rPr sz="1400" b="1" i="0">
                <a:solidFill>
                  <a:srgbClr val="2B211A"/>
                </a:solidFill>
                <a:latin typeface="Cambria"/>
              </a:rPr>
              <a:t>Yêu cầu sản phẩm</a:t>
            </a:r>
          </a:p>
        </p:txBody>
      </p:sp>
      <p:sp>
        <p:nvSpPr>
          <p:cNvPr id="11" name="TextBox 10"/>
          <p:cNvSpPr txBox="1"/>
          <p:nvPr/>
        </p:nvSpPr>
        <p:spPr>
          <a:xfrm>
            <a:off x="612648" y="3474720"/>
            <a:ext cx="10966399" cy="2743200"/>
          </a:xfrm>
          <a:prstGeom prst="rect">
            <a:avLst/>
          </a:prstGeom>
          <a:noFill/>
        </p:spPr>
        <p:txBody>
          <a:bodyPr wrap="square" lIns="0" rIns="0" tIns="0" bIns="0">
            <a:noAutofit/>
          </a:bodyPr>
          <a:lstStyle/>
          <a:p>
            <a:pPr>
              <a:spcAft>
                <a:spcPts val="1000"/>
              </a:spcAft>
            </a:pPr>
            <a:r>
              <a:rPr sz="1400" b="1" i="0">
                <a:solidFill>
                  <a:srgbClr val="B87410"/>
                </a:solidFill>
                <a:latin typeface="Cambria"/>
              </a:rPr>
              <a:t>•  Viết đoạn văn ngắn (khoảng 10 dòng)</a:t>
            </a:r>
            <a:r>
              <a:rPr sz="1400" b="0" i="0">
                <a:solidFill>
                  <a:srgbClr val="2B211A"/>
                </a:solidFill>
                <a:latin typeface="Cambria"/>
              </a:rPr>
              <a:t>  trình bày kết quả phỏng vấn, chỉ rõ yếu tố cung, cầu và giá cả sức lao động trong câu chuyện đó.</a:t>
            </a:r>
          </a:p>
          <a:p>
            <a:pPr>
              <a:spcAft>
                <a:spcPts val="1000"/>
              </a:spcAft>
            </a:pPr>
            <a:r>
              <a:rPr sz="1400" b="1" i="0">
                <a:solidFill>
                  <a:srgbClr val="B87410"/>
                </a:solidFill>
                <a:latin typeface="Cambria"/>
              </a:rPr>
              <a:t>•  Chuẩn bị chia sẻ trước lớp</a:t>
            </a:r>
            <a:r>
              <a:rPr sz="1400" b="0" i="0">
                <a:solidFill>
                  <a:srgbClr val="2B211A"/>
                </a:solidFill>
                <a:latin typeface="Cambria"/>
              </a:rPr>
              <a:t>  vào đầu tiết học sau (Tiết 2: Việc làm, thị trường việc làm và trách nhiệm công dân).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