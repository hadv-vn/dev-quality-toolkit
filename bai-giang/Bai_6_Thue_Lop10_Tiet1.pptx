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GIÁO DỤC KINH TẾ VÀ PHÁP LUẬT 10</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4800" b="1" i="0">
                <a:solidFill>
                  <a:srgbClr val="FFFFFF"/>
                </a:solidFill>
                <a:latin typeface="Georgia"/>
              </a:rPr>
              <a:t>BÀI 6: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Chủ đề: Sản xuất kinh doanh và các chủ thể kinh tế</a:t>
            </a:r>
          </a:p>
        </p:txBody>
      </p:sp>
      <p:sp>
        <p:nvSpPr>
          <p:cNvPr id="7" name="Oval 6"/>
          <p:cNvSpPr/>
          <p:nvPr/>
        </p:nvSpPr>
        <p:spPr>
          <a:xfrm>
            <a:off x="822960" y="393192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8" name="TextBox 7"/>
          <p:cNvSpPr txBox="1"/>
          <p:nvPr/>
        </p:nvSpPr>
        <p:spPr>
          <a:xfrm>
            <a:off x="1325880" y="395020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Thời lượng: 2 tiết (90 phút)</a:t>
            </a:r>
          </a:p>
        </p:txBody>
      </p:sp>
      <p:sp>
        <p:nvSpPr>
          <p:cNvPr id="9" name="Oval 8"/>
          <p:cNvSpPr/>
          <p:nvPr/>
        </p:nvSpPr>
        <p:spPr>
          <a:xfrm>
            <a:off x="822960" y="443484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3263A"/>
                </a:solidFill>
                <a:latin typeface="Calibri"/>
              </a:rPr>
              <a:t>•</a:t>
            </a:r>
          </a:p>
        </p:txBody>
      </p:sp>
      <p:sp>
        <p:nvSpPr>
          <p:cNvPr id="10" name="TextBox 9"/>
          <p:cNvSpPr txBox="1"/>
          <p:nvPr/>
        </p:nvSpPr>
        <p:spPr>
          <a:xfrm>
            <a:off x="1325880" y="4453128"/>
            <a:ext cx="8686800" cy="411480"/>
          </a:xfrm>
          <a:prstGeom prst="rect">
            <a:avLst/>
          </a:prstGeom>
          <a:noFill/>
        </p:spPr>
        <p:txBody>
          <a:bodyPr wrap="square" anchor="t" lIns="0" rIns="0" tIns="0" bIns="0">
            <a:spAutoFit/>
          </a:bodyPr>
          <a:lstStyle/>
          <a:p>
            <a:pPr algn="l">
              <a:lnSpc>
                <a:spcPct val="100000"/>
              </a:lnSpc>
              <a:spcAft>
                <a:spcPts val="0"/>
              </a:spcAft>
            </a:pPr>
            <a:r>
              <a:rPr sz="1400" b="0" i="0">
                <a:solidFill>
                  <a:srgbClr val="FFFFFF"/>
                </a:solidFill>
                <a:latin typeface="Calibri"/>
              </a:rPr>
              <a:t>Hình thức: Trò chơi khởi động – Khám phá – Luyện tập – Vận dụng</a:t>
            </a:r>
          </a:p>
        </p:txBody>
      </p:sp>
      <p:sp>
        <p:nvSpPr>
          <p:cNvPr id="11" name="Rectangle 10"/>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Tổ Giáo dục công dân | Bài giảng điện tử</a:t>
            </a:r>
          </a:p>
        </p:txBody>
      </p:sp>
      <p:sp>
        <p:nvSpPr>
          <p:cNvPr id="13" name="TextBox 12"/>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C4733"/>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3A5B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E8C97A"/>
                </a:solidFill>
                <a:latin typeface="Calibri"/>
              </a:rPr>
              <a:t>TIẾT 1 · 45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Khái niệm – Đặc điểm –</a:t>
            </a:r>
          </a:p>
          <a:p>
            <a:pPr algn="l">
              <a:lnSpc>
                <a:spcPct val="103000"/>
              </a:lnSpc>
              <a:spcAft>
                <a:spcPts val="0"/>
              </a:spcAft>
            </a:pPr>
            <a:r>
              <a:rPr sz="3800" b="1" i="0">
                <a:solidFill>
                  <a:srgbClr val="FFFFFF"/>
                </a:solidFill>
                <a:latin typeface="Georgia"/>
              </a:rPr>
              <a:t>Vai trò của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Vì sao mọi khoản thu nhập, mọi hàng hoá ta mua đều gắn với thuế?</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C4922"/>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F6DDC3"/>
                </a:solidFill>
                <a:latin typeface="Calibri"/>
              </a:rPr>
              <a:t>KHỞI ĐỘNG · 10 PHÚT</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3800" b="1" i="0">
                <a:solidFill>
                  <a:srgbClr val="FFFFFF"/>
                </a:solidFill>
                <a:latin typeface="Georgia"/>
              </a:rPr>
              <a:t>Trò chơi:</a:t>
            </a:r>
          </a:p>
          <a:p>
            <a:pPr algn="l">
              <a:lnSpc>
                <a:spcPct val="103000"/>
              </a:lnSpc>
              <a:spcAft>
                <a:spcPts val="0"/>
              </a:spcAft>
            </a:pPr>
            <a:r>
              <a:rPr sz="3800" b="1" i="0">
                <a:solidFill>
                  <a:srgbClr val="FFFFFF"/>
                </a:solidFill>
                <a:latin typeface="Georgia"/>
              </a:rPr>
              <a:t>“NHÌN GIÁ ĐOÁN 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Ai tinh mắt hơn – Ai phản xạ nhanh hơn?</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 – Khởi động</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LUẬT CHƠI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Cách chơi trò “Nhìn giá đoán thuế”</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Chuẩn bị</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Lớp chia thành 4 đội. Mỗi đội có 1 bảng phụ/giấy A3 và bút dạ để ghi đáp án.</a:t>
            </a:r>
          </a:p>
        </p:txBody>
      </p:sp>
      <p:sp>
        <p:nvSpPr>
          <p:cNvPr id="9" name="Rounded Rectangle 8"/>
          <p:cNvSpPr/>
          <p:nvPr/>
        </p:nvSpPr>
        <p:spPr>
          <a:xfrm>
            <a:off x="6245352" y="2331720"/>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Luật chơi</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GV lần lượt chiếu 4 hình ảnh hoá đơn/tình huống mua hàng có ghi khoản thuế. Trong 15 giây, các đội viết tên loại thuế xuất hiện trong hoá đơn đó.</a:t>
            </a:r>
          </a:p>
        </p:txBody>
      </p:sp>
      <p:sp>
        <p:nvSpPr>
          <p:cNvPr id="13" name="Rounded Rectangle 12"/>
          <p:cNvSpPr/>
          <p:nvPr/>
        </p:nvSpPr>
        <p:spPr>
          <a:xfrm>
            <a:off x="548640" y="4233672"/>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điểm</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Đội trả lời đúng và giơ bảng nhanh nhất được 10 điểm; đội đúng nhưng chậm hơn được 5 điểm; trả lời sai không có điểm.</a:t>
            </a:r>
          </a:p>
        </p:txBody>
      </p:sp>
      <p:sp>
        <p:nvSpPr>
          <p:cNvPr id="17" name="Rounded Rectangle 16"/>
          <p:cNvSpPr/>
          <p:nvPr/>
        </p:nvSpPr>
        <p:spPr>
          <a:xfrm>
            <a:off x="6245352" y="4233672"/>
            <a:ext cx="5394960" cy="16002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Kết thúc</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Sau 4 lượt, đội có tổng điểm cao nhất chiến thắng và nhận một phần quà nhỏ/điểm cộng từ GV.</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CÂU HỎI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Vòng 1 – Quan sát và trả lời nhanh</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78308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1</a:t>
            </a:r>
          </a:p>
        </p:txBody>
      </p:sp>
      <p:sp>
        <p:nvSpPr>
          <p:cNvPr id="7" name="TextBox 6"/>
          <p:cNvSpPr txBox="1"/>
          <p:nvPr/>
        </p:nvSpPr>
        <p:spPr>
          <a:xfrm>
            <a:off x="786384" y="2788920"/>
            <a:ext cx="10616184" cy="11795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Hoá đơn siêu thị ghi: “Giá chưa thuế: 200.000đ – Thuế GTGT (10%): 20.000đ – Tổng thanh toán: 220.000đ”.</a:t>
            </a:r>
          </a:p>
          <a:p>
            <a:pPr algn="l">
              <a:lnSpc>
                <a:spcPct val="116000"/>
              </a:lnSpc>
              <a:spcAft>
                <a:spcPts val="0"/>
              </a:spcAft>
            </a:pPr>
            <a:r>
              <a:rPr sz="1450" b="0" i="0">
                <a:solidFill>
                  <a:srgbClr val="2A2522"/>
                </a:solidFill>
                <a:latin typeface="Calibri"/>
              </a:rPr>
              <a:t>Hỏi: Khoản 20.000đ trong hoá đơn là loại thuế nào?</a:t>
            </a:r>
          </a:p>
        </p:txBody>
      </p:sp>
      <p:sp>
        <p:nvSpPr>
          <p:cNvPr id="8" name="Rounded Rectangle 7"/>
          <p:cNvSpPr/>
          <p:nvPr/>
        </p:nvSpPr>
        <p:spPr>
          <a:xfrm>
            <a:off x="548640" y="4297680"/>
            <a:ext cx="11091672" cy="178308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44398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2</a:t>
            </a:r>
          </a:p>
        </p:txBody>
      </p:sp>
      <p:sp>
        <p:nvSpPr>
          <p:cNvPr id="10" name="TextBox 9"/>
          <p:cNvSpPr txBox="1"/>
          <p:nvPr/>
        </p:nvSpPr>
        <p:spPr>
          <a:xfrm>
            <a:off x="786384" y="4754880"/>
            <a:ext cx="10616184" cy="11795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Trong bảng lương tháng của bố bạn A có một dòng bị trừ: “Thuế TNCN: 850.000đ”.</a:t>
            </a:r>
          </a:p>
          <a:p>
            <a:pPr algn="l">
              <a:lnSpc>
                <a:spcPct val="116000"/>
              </a:lnSpc>
              <a:spcAft>
                <a:spcPts val="0"/>
              </a:spcAft>
            </a:pPr>
            <a:r>
              <a:rPr sz="1450" b="0" i="0">
                <a:solidFill>
                  <a:srgbClr val="2A2522"/>
                </a:solidFill>
                <a:latin typeface="Calibri"/>
              </a:rPr>
              <a:t>Hỏi: Đây là loại thuế gì và đánh vào đối tượng nào?</a:t>
            </a:r>
          </a:p>
        </p:txBody>
      </p:sp>
      <p:sp>
        <p:nvSpPr>
          <p:cNvPr id="11" name="Rectangle 1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13" name="TextBox 1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KHỞI ĐỘNG · CÂU HỎI</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Vòng 2 – Quan sát và trả lời nhanh</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41732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47802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3</a:t>
            </a:r>
          </a:p>
        </p:txBody>
      </p:sp>
      <p:sp>
        <p:nvSpPr>
          <p:cNvPr id="7" name="TextBox 6"/>
          <p:cNvSpPr txBox="1"/>
          <p:nvPr/>
        </p:nvSpPr>
        <p:spPr>
          <a:xfrm>
            <a:off x="786384" y="2788920"/>
            <a:ext cx="10616184" cy="813816"/>
          </a:xfrm>
          <a:prstGeom prst="rect">
            <a:avLst/>
          </a:prstGeom>
          <a:noFill/>
        </p:spPr>
        <p:txBody>
          <a:bodyPr wrap="square" anchor="t" lIns="0" rIns="0" tIns="0" bIns="0">
            <a:spAutoFit/>
          </a:bodyPr>
          <a:lstStyle/>
          <a:p>
            <a:pPr algn="l">
              <a:lnSpc>
                <a:spcPct val="116000"/>
              </a:lnSpc>
              <a:spcAft>
                <a:spcPts val="0"/>
              </a:spcAft>
            </a:pPr>
            <a:r>
              <a:rPr sz="1350" b="0" i="0">
                <a:solidFill>
                  <a:srgbClr val="2A2522"/>
                </a:solidFill>
                <a:latin typeface="Calibri"/>
              </a:rPr>
              <a:t>Một chai rượu ngoại có cộng thêm khoản gọi là “thuế TTĐB”. Đây là thuế gì và thường đánh vào những mặt hàng nào?</a:t>
            </a:r>
          </a:p>
        </p:txBody>
      </p:sp>
      <p:sp>
        <p:nvSpPr>
          <p:cNvPr id="8" name="Rounded Rectangle 7"/>
          <p:cNvSpPr/>
          <p:nvPr/>
        </p:nvSpPr>
        <p:spPr>
          <a:xfrm>
            <a:off x="548640" y="3913632"/>
            <a:ext cx="11091672" cy="12344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059936"/>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9C4922"/>
                </a:solidFill>
                <a:latin typeface="Calibri"/>
              </a:rPr>
              <a:t>TÌNH HUỐNG 4</a:t>
            </a:r>
          </a:p>
        </p:txBody>
      </p:sp>
      <p:sp>
        <p:nvSpPr>
          <p:cNvPr id="10" name="TextBox 9"/>
          <p:cNvSpPr txBox="1"/>
          <p:nvPr/>
        </p:nvSpPr>
        <p:spPr>
          <a:xfrm>
            <a:off x="786384" y="4370832"/>
            <a:ext cx="10616184" cy="630936"/>
          </a:xfrm>
          <a:prstGeom prst="rect">
            <a:avLst/>
          </a:prstGeom>
          <a:noFill/>
        </p:spPr>
        <p:txBody>
          <a:bodyPr wrap="square" anchor="t" lIns="0" rIns="0" tIns="0" bIns="0">
            <a:spAutoFit/>
          </a:bodyPr>
          <a:lstStyle/>
          <a:p>
            <a:pPr algn="l">
              <a:lnSpc>
                <a:spcPct val="116000"/>
              </a:lnSpc>
              <a:spcAft>
                <a:spcPts val="0"/>
              </a:spcAft>
            </a:pPr>
            <a:r>
              <a:rPr sz="1350" b="0" i="0">
                <a:solidFill>
                  <a:srgbClr val="2A2522"/>
                </a:solidFill>
                <a:latin typeface="Calibri"/>
              </a:rPr>
              <a:t>Một lô hàng điện tử nhập khẩu phải nộp thêm một khoản thuế khi qua cửa khẩu hải quan. Đó là thuế gì?</a:t>
            </a:r>
          </a:p>
        </p:txBody>
      </p:sp>
      <p:sp>
        <p:nvSpPr>
          <p:cNvPr id="11" name="Rounded Rectangle 10"/>
          <p:cNvSpPr/>
          <p:nvPr/>
        </p:nvSpPr>
        <p:spPr>
          <a:xfrm>
            <a:off x="548640" y="5285232"/>
            <a:ext cx="11091672" cy="93268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285232"/>
            <a:ext cx="82296" cy="93268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5449824"/>
            <a:ext cx="10671048" cy="365760"/>
          </a:xfrm>
          <a:prstGeom prst="rect">
            <a:avLst/>
          </a:prstGeom>
          <a:noFill/>
        </p:spPr>
        <p:txBody>
          <a:bodyPr wrap="square" anchor="t" lIns="0" rIns="0" tIns="0" bIns="0">
            <a:spAutoFit/>
          </a:bodyPr>
          <a:lstStyle/>
          <a:p>
            <a:pPr algn="l">
              <a:lnSpc>
                <a:spcPct val="100000"/>
              </a:lnSpc>
              <a:spcAft>
                <a:spcPts val="0"/>
              </a:spcAft>
            </a:pPr>
            <a:r>
              <a:rPr sz="1350" b="1" i="0">
                <a:solidFill>
                  <a:srgbClr val="1F3B57"/>
                </a:solidFill>
                <a:latin typeface="Calibri"/>
              </a:rPr>
              <a:t>ĐÁP ÁN NHANH</a:t>
            </a:r>
          </a:p>
        </p:txBody>
      </p:sp>
      <p:sp>
        <p:nvSpPr>
          <p:cNvPr id="14" name="TextBox 13"/>
          <p:cNvSpPr txBox="1"/>
          <p:nvPr/>
        </p:nvSpPr>
        <p:spPr>
          <a:xfrm>
            <a:off x="786384" y="5815584"/>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1) Thuế giá trị gia tăng (GTGT)   2) Thuế thu nhập cá nhân (TNCN)   3) Thuế tiêu thụ đặc biệt (rượu, bia, thuốc lá, ô tô...)   4) Thuế nhập khẩu</a:t>
            </a:r>
          </a:p>
        </p:txBody>
      </p:sp>
      <p:sp>
        <p:nvSpPr>
          <p:cNvPr id="15" name="Rectangle 14"/>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Khởi động</a:t>
            </a:r>
          </a:p>
        </p:txBody>
      </p:sp>
      <p:sp>
        <p:nvSpPr>
          <p:cNvPr id="17" name="TextBox 16"/>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GỢI MỞ</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Vì sao trên mỗi hoá đơn luôn có một dòng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5544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32888"/>
            <a:ext cx="548640" cy="548640"/>
          </a:xfrm>
          <a:prstGeom prst="rect">
            <a:avLst/>
          </a:prstGeom>
          <a:noFill/>
        </p:spPr>
        <p:txBody>
          <a:bodyPr wrap="square" anchor="t" lIns="0" rIns="0" tIns="0" bIns="0">
            <a:spAutoFit/>
          </a:bodyPr>
          <a:lstStyle/>
          <a:p>
            <a:pPr algn="l">
              <a:lnSpc>
                <a:spcPct val="100000"/>
              </a:lnSpc>
              <a:spcAft>
                <a:spcPts val="0"/>
              </a:spcAft>
            </a:pPr>
            <a:r>
              <a:rPr sz="4400" b="1" i="0">
                <a:solidFill>
                  <a:srgbClr val="C78A2E"/>
                </a:solidFill>
                <a:latin typeface="Georgia"/>
              </a:rPr>
              <a:t>“</a:t>
            </a:r>
          </a:p>
        </p:txBody>
      </p:sp>
      <p:sp>
        <p:nvSpPr>
          <p:cNvPr id="7" name="TextBox 6"/>
          <p:cNvSpPr txBox="1"/>
          <p:nvPr/>
        </p:nvSpPr>
        <p:spPr>
          <a:xfrm>
            <a:off x="1371600" y="2587752"/>
            <a:ext cx="9902952" cy="731520"/>
          </a:xfrm>
          <a:prstGeom prst="rect">
            <a:avLst/>
          </a:prstGeom>
          <a:noFill/>
        </p:spPr>
        <p:txBody>
          <a:bodyPr wrap="square" anchor="t" lIns="0" rIns="0" tIns="0" bIns="0">
            <a:spAutoFit/>
          </a:bodyPr>
          <a:lstStyle/>
          <a:p>
            <a:pPr algn="l">
              <a:lnSpc>
                <a:spcPct val="115000"/>
              </a:lnSpc>
              <a:spcAft>
                <a:spcPts val="0"/>
              </a:spcAft>
            </a:pPr>
            <a:r>
              <a:rPr sz="1700" b="0" i="1">
                <a:solidFill>
                  <a:srgbClr val="1F3B57"/>
                </a:solidFill>
                <a:latin typeface="Georgia"/>
              </a:rPr>
              <a:t>Trên đời này, không có gì là chắc chắn ngoài cái chết và thuế.</a:t>
            </a:r>
          </a:p>
        </p:txBody>
      </p:sp>
      <p:sp>
        <p:nvSpPr>
          <p:cNvPr id="8" name="TextBox 7"/>
          <p:cNvSpPr txBox="1"/>
          <p:nvPr/>
        </p:nvSpPr>
        <p:spPr>
          <a:xfrm>
            <a:off x="1371600" y="3429000"/>
            <a:ext cx="9902952" cy="320040"/>
          </a:xfrm>
          <a:prstGeom prst="rect">
            <a:avLst/>
          </a:prstGeom>
          <a:noFill/>
        </p:spPr>
        <p:txBody>
          <a:bodyPr wrap="square" anchor="t" lIns="0" rIns="0" tIns="0" bIns="0">
            <a:spAutoFit/>
          </a:bodyPr>
          <a:lstStyle/>
          <a:p>
            <a:pPr algn="l">
              <a:lnSpc>
                <a:spcPct val="100000"/>
              </a:lnSpc>
              <a:spcAft>
                <a:spcPts val="0"/>
              </a:spcAft>
            </a:pPr>
            <a:r>
              <a:rPr sz="1250" b="1" i="0">
                <a:solidFill>
                  <a:srgbClr val="5B554E"/>
                </a:solidFill>
                <a:latin typeface="Calibri"/>
              </a:rPr>
              <a:t>— Benjamin Franklin</a:t>
            </a:r>
          </a:p>
        </p:txBody>
      </p:sp>
      <p:sp>
        <p:nvSpPr>
          <p:cNvPr id="9" name="TextBox 8"/>
          <p:cNvSpPr txBox="1"/>
          <p:nvPr/>
        </p:nvSpPr>
        <p:spPr>
          <a:xfrm>
            <a:off x="548640" y="4160520"/>
            <a:ext cx="11091672" cy="2011680"/>
          </a:xfrm>
          <a:prstGeom prst="rect">
            <a:avLst/>
          </a:prstGeom>
          <a:noFill/>
        </p:spPr>
        <p:txBody>
          <a:bodyPr wrap="square" lIns="0" rIns="0" tIns="0" bIns="0">
            <a:spAutoFit/>
          </a:bodyPr>
          <a:lstStyle/>
          <a:p>
            <a:pPr>
              <a:lnSpc>
                <a:spcPct val="112000"/>
              </a:lnSpc>
              <a:spcAft>
                <a:spcPts val="800"/>
              </a:spcAft>
            </a:pPr>
            <a:r>
              <a:rPr sz="1550" b="1">
                <a:solidFill>
                  <a:srgbClr val="1F3B57"/>
                </a:solidFill>
                <a:latin typeface="Calibri"/>
              </a:rPr>
              <a:t>▪  </a:t>
            </a:r>
            <a:r>
              <a:rPr sz="1550">
                <a:solidFill>
                  <a:srgbClr val="2A2522"/>
                </a:solidFill>
                <a:latin typeface="Calibri"/>
              </a:rPr>
              <a:t>Số tiền thuế trong mỗi hoá đơn được nộp vào đâu, và dùng để làm gì?</a:t>
            </a:r>
          </a:p>
          <a:p>
            <a:pPr>
              <a:lnSpc>
                <a:spcPct val="112000"/>
              </a:lnSpc>
              <a:spcAft>
                <a:spcPts val="800"/>
              </a:spcAft>
            </a:pPr>
            <a:r>
              <a:rPr sz="1550" b="1">
                <a:solidFill>
                  <a:srgbClr val="1F3B57"/>
                </a:solidFill>
                <a:latin typeface="Calibri"/>
              </a:rPr>
              <a:t>▪  </a:t>
            </a:r>
            <a:r>
              <a:rPr sz="1550">
                <a:solidFill>
                  <a:srgbClr val="2A2522"/>
                </a:solidFill>
                <a:latin typeface="Calibri"/>
              </a:rPr>
              <a:t>Ai là người quy định các em, gia đình em phải nộp thuế hay không, nộp bao nhiêu?</a:t>
            </a:r>
          </a:p>
          <a:p>
            <a:pPr>
              <a:lnSpc>
                <a:spcPct val="112000"/>
              </a:lnSpc>
              <a:spcAft>
                <a:spcPts val="800"/>
              </a:spcAft>
            </a:pPr>
            <a:r>
              <a:rPr sz="1550" b="1">
                <a:solidFill>
                  <a:srgbClr val="1F3B57"/>
                </a:solidFill>
                <a:latin typeface="Calibri"/>
              </a:rPr>
              <a:t>▪  </a:t>
            </a:r>
            <a:r>
              <a:rPr sz="1550">
                <a:solidFill>
                  <a:srgbClr val="2A2522"/>
                </a:solidFill>
                <a:latin typeface="Calibri"/>
              </a:rPr>
              <a:t>Vì sao gần như tất cả mọi người, mọi tổ chức đều phải nộp thuế mà không thể từ chối?</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Gợi mở</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263A"/>
        </a:solidFill>
        <a:effectLst/>
      </p:bgPr>
    </p:bg>
    <p:spTree>
      <p:nvGrpSpPr>
        <p:cNvPr id="1" name=""/>
        <p:cNvGrpSpPr/>
        <p:nvPr/>
      </p:nvGrpSpPr>
      <p:grpSpPr/>
      <p:sp>
        <p:nvSpPr>
          <p:cNvPr id="2" name="Oval 1"/>
          <p:cNvSpPr/>
          <p:nvPr/>
        </p:nvSpPr>
        <p:spPr>
          <a:xfrm>
            <a:off x="8869680" y="-2103120"/>
            <a:ext cx="5669280" cy="5669280"/>
          </a:xfrm>
          <a:prstGeom prst="ellipse">
            <a:avLst/>
          </a:prstGeom>
          <a:solidFill>
            <a:srgbClr val="224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548640"/>
            <a:ext cx="3291840" cy="3291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8686800" cy="365760"/>
          </a:xfrm>
          <a:prstGeom prst="rect">
            <a:avLst/>
          </a:prstGeom>
          <a:noFill/>
        </p:spPr>
        <p:txBody>
          <a:bodyPr wrap="square" anchor="t" lIns="0" rIns="0" tIns="0" bIns="0">
            <a:spAutoFit/>
          </a:bodyPr>
          <a:lstStyle/>
          <a:p>
            <a:pPr algn="l">
              <a:lnSpc>
                <a:spcPct val="100000"/>
              </a:lnSpc>
              <a:spcAft>
                <a:spcPts val="0"/>
              </a:spcAft>
            </a:pPr>
            <a:r>
              <a:rPr sz="1450" b="1" i="0" spc="220">
                <a:solidFill>
                  <a:srgbClr val="C78A2E"/>
                </a:solidFill>
                <a:latin typeface="Calibri"/>
              </a:rPr>
              <a:t>BÀI 6</a:t>
            </a:r>
          </a:p>
        </p:txBody>
      </p:sp>
      <p:sp>
        <p:nvSpPr>
          <p:cNvPr id="5" name="TextBox 4"/>
          <p:cNvSpPr txBox="1"/>
          <p:nvPr/>
        </p:nvSpPr>
        <p:spPr>
          <a:xfrm>
            <a:off x="822960" y="1828800"/>
            <a:ext cx="9692640" cy="1828800"/>
          </a:xfrm>
          <a:prstGeom prst="rect">
            <a:avLst/>
          </a:prstGeom>
          <a:noFill/>
        </p:spPr>
        <p:txBody>
          <a:bodyPr wrap="square" anchor="t" lIns="0" rIns="0" tIns="0" bIns="0">
            <a:spAutoFit/>
          </a:bodyPr>
          <a:lstStyle/>
          <a:p>
            <a:pPr algn="l">
              <a:lnSpc>
                <a:spcPct val="103000"/>
              </a:lnSpc>
              <a:spcAft>
                <a:spcPts val="0"/>
              </a:spcAft>
            </a:pPr>
            <a:r>
              <a:rPr sz="5400" b="1" i="0">
                <a:solidFill>
                  <a:srgbClr val="FFFFFF"/>
                </a:solidFill>
                <a:latin typeface="Georgia"/>
              </a:rPr>
              <a:t>THUẾ</a:t>
            </a:r>
          </a:p>
        </p:txBody>
      </p:sp>
      <p:sp>
        <p:nvSpPr>
          <p:cNvPr id="6" name="TextBox 5"/>
          <p:cNvSpPr txBox="1"/>
          <p:nvPr/>
        </p:nvSpPr>
        <p:spPr>
          <a:xfrm>
            <a:off x="822960" y="3246120"/>
            <a:ext cx="9326880" cy="822960"/>
          </a:xfrm>
          <a:prstGeom prst="rect">
            <a:avLst/>
          </a:prstGeom>
          <a:noFill/>
        </p:spPr>
        <p:txBody>
          <a:bodyPr wrap="square" anchor="t" lIns="0" rIns="0" tIns="0" bIns="0">
            <a:spAutoFit/>
          </a:bodyPr>
          <a:lstStyle/>
          <a:p>
            <a:pPr algn="l">
              <a:lnSpc>
                <a:spcPct val="115000"/>
              </a:lnSpc>
              <a:spcAft>
                <a:spcPts val="0"/>
              </a:spcAft>
            </a:pPr>
            <a:r>
              <a:rPr sz="1650" b="0" i="1">
                <a:solidFill>
                  <a:srgbClr val="E8E3D6"/>
                </a:solidFill>
                <a:latin typeface="Calibri"/>
              </a:rPr>
              <a:t>Tiết 1: Khái niệm – Đặc điểm – Vai trò của thuế</a:t>
            </a:r>
          </a:p>
        </p:txBody>
      </p:sp>
      <p:sp>
        <p:nvSpPr>
          <p:cNvPr id="7" name="Rectangle 6"/>
          <p:cNvSpPr/>
          <p:nvPr/>
        </p:nvSpPr>
        <p:spPr>
          <a:xfrm>
            <a:off x="822960" y="6035040"/>
            <a:ext cx="2377440" cy="15240"/>
          </a:xfrm>
          <a:prstGeom prst="rect">
            <a:avLst/>
          </a:prstGeom>
          <a:solidFill>
            <a:srgbClr val="9A9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6172200"/>
            <a:ext cx="8229600" cy="320040"/>
          </a:xfrm>
          <a:prstGeom prst="rect">
            <a:avLst/>
          </a:prstGeom>
          <a:noFill/>
        </p:spPr>
        <p:txBody>
          <a:bodyPr wrap="square" anchor="t" lIns="0" rIns="0" tIns="0" bIns="0">
            <a:spAutoFit/>
          </a:bodyPr>
          <a:lstStyle/>
          <a:p>
            <a:pPr algn="l">
              <a:lnSpc>
                <a:spcPct val="100000"/>
              </a:lnSpc>
              <a:spcAft>
                <a:spcPts val="0"/>
              </a:spcAft>
            </a:pPr>
            <a:r>
              <a:rPr sz="1150" b="0" i="1">
                <a:solidFill>
                  <a:srgbClr val="CFC9BA"/>
                </a:solidFill>
                <a:latin typeface="Calibri"/>
              </a:rPr>
              <a:t>GDKTPL 10 – Bài 6: Thuế | Tiết 1</a:t>
            </a:r>
          </a:p>
        </p:txBody>
      </p:sp>
      <p:sp>
        <p:nvSpPr>
          <p:cNvPr id="9" name="TextBox 8"/>
          <p:cNvSpPr txBox="1"/>
          <p:nvPr/>
        </p:nvSpPr>
        <p:spPr>
          <a:xfrm>
            <a:off x="10972800" y="6446520"/>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CFC9B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MỤC TIÊU BÀI HỌC · TIẾT 1</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Sau tiết học, em sẽ...</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3538728" cy="35204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KT</a:t>
            </a:r>
          </a:p>
        </p:txBody>
      </p:sp>
      <p:sp>
        <p:nvSpPr>
          <p:cNvPr id="7" name="TextBox 6"/>
          <p:cNvSpPr txBox="1"/>
          <p:nvPr/>
        </p:nvSpPr>
        <p:spPr>
          <a:xfrm>
            <a:off x="731520"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Kiến thức</a:t>
            </a:r>
          </a:p>
        </p:txBody>
      </p:sp>
      <p:sp>
        <p:nvSpPr>
          <p:cNvPr id="8" name="TextBox 7"/>
          <p:cNvSpPr txBox="1"/>
          <p:nvPr/>
        </p:nvSpPr>
        <p:spPr>
          <a:xfrm>
            <a:off x="731520"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Nêu được khái niệm thuế; chỉ ra được các đặc điểm cơ bản của thuế; phân tích được vai trò của thuế đối với Nhà nước và xã hội.</a:t>
            </a:r>
          </a:p>
        </p:txBody>
      </p:sp>
      <p:sp>
        <p:nvSpPr>
          <p:cNvPr id="9" name="Rounded Rectangle 8"/>
          <p:cNvSpPr/>
          <p:nvPr/>
        </p:nvSpPr>
        <p:spPr>
          <a:xfrm>
            <a:off x="4315968" y="2331720"/>
            <a:ext cx="3538728" cy="35204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1460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NL</a:t>
            </a:r>
          </a:p>
        </p:txBody>
      </p:sp>
      <p:sp>
        <p:nvSpPr>
          <p:cNvPr id="11" name="TextBox 10"/>
          <p:cNvSpPr txBox="1"/>
          <p:nvPr/>
        </p:nvSpPr>
        <p:spPr>
          <a:xfrm>
            <a:off x="4498848" y="300837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Năng lực</a:t>
            </a:r>
          </a:p>
        </p:txBody>
      </p:sp>
      <p:sp>
        <p:nvSpPr>
          <p:cNvPr id="12" name="TextBox 11"/>
          <p:cNvSpPr txBox="1"/>
          <p:nvPr/>
        </p:nvSpPr>
        <p:spPr>
          <a:xfrm>
            <a:off x="4498848" y="3355848"/>
            <a:ext cx="3172968"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Điều chỉnh hành vi: nhận thức đúng về nghĩa vụ nộp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Tìm hiểu và tham gia hoạt động KT–XH: thu thập, xử lí thông tin về thuế qua tình huống thực tế.</a:t>
            </a:r>
          </a:p>
        </p:txBody>
      </p:sp>
      <p:sp>
        <p:nvSpPr>
          <p:cNvPr id="13" name="Rounded Rectangle 12"/>
          <p:cNvSpPr/>
          <p:nvPr/>
        </p:nvSpPr>
        <p:spPr>
          <a:xfrm>
            <a:off x="8083296" y="2331720"/>
            <a:ext cx="3557016" cy="3520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1460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PC</a:t>
            </a:r>
          </a:p>
        </p:txBody>
      </p:sp>
      <p:sp>
        <p:nvSpPr>
          <p:cNvPr id="15" name="TextBox 14"/>
          <p:cNvSpPr txBox="1"/>
          <p:nvPr/>
        </p:nvSpPr>
        <p:spPr>
          <a:xfrm>
            <a:off x="8266176" y="300837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Phẩm chất</a:t>
            </a:r>
          </a:p>
        </p:txBody>
      </p:sp>
      <p:sp>
        <p:nvSpPr>
          <p:cNvPr id="16" name="TextBox 15"/>
          <p:cNvSpPr txBox="1"/>
          <p:nvPr/>
        </p:nvSpPr>
        <p:spPr>
          <a:xfrm>
            <a:off x="8266176" y="3355848"/>
            <a:ext cx="3191256" cy="24323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Trách nhiệm: có ý thức tuân thủ pháp luật thuế.</a:t>
            </a:r>
          </a:p>
          <a:p>
            <a:pPr algn="l">
              <a:lnSpc>
                <a:spcPct val="108000"/>
              </a:lnSpc>
              <a:spcAft>
                <a:spcPts val="0"/>
              </a:spcAft>
            </a:pPr>
            <a:r>
              <a:rPr sz="1250" b="0" i="0">
                <a:solidFill>
                  <a:srgbClr val="2A2522"/>
                </a:solidFill>
                <a:latin typeface="Calibri"/>
              </a:rPr>
              <a:t/>
            </a:r>
          </a:p>
          <a:p>
            <a:pPr algn="l">
              <a:lnSpc>
                <a:spcPct val="108000"/>
              </a:lnSpc>
              <a:spcAft>
                <a:spcPts val="0"/>
              </a:spcAft>
            </a:pPr>
            <a:r>
              <a:rPr sz="1250" b="0" i="0">
                <a:solidFill>
                  <a:srgbClr val="2A2522"/>
                </a:solidFill>
                <a:latin typeface="Calibri"/>
              </a:rPr>
              <a:t>Trung thực: đồng tình với việc kê khai, nộp thuế minh bạch, phê phán hành vi trốn thuế.</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Mục tiêu</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1 · KHÁI NIỆM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là gì?</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41732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31720"/>
            <a:ext cx="82296" cy="141732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96312"/>
            <a:ext cx="10671048" cy="365760"/>
          </a:xfrm>
          <a:prstGeom prst="rect">
            <a:avLst/>
          </a:prstGeom>
          <a:noFill/>
        </p:spPr>
        <p:txBody>
          <a:bodyPr wrap="square" anchor="t" lIns="0" rIns="0" tIns="0" bIns="0">
            <a:spAutoFit/>
          </a:bodyPr>
          <a:lstStyle/>
          <a:p>
            <a:pPr algn="l">
              <a:lnSpc>
                <a:spcPct val="100000"/>
              </a:lnSpc>
              <a:spcAft>
                <a:spcPts val="0"/>
              </a:spcAft>
            </a:pPr>
            <a:r>
              <a:rPr sz="1300" b="1" i="0">
                <a:solidFill>
                  <a:srgbClr val="1F3B57"/>
                </a:solidFill>
                <a:latin typeface="Calibri"/>
              </a:rPr>
              <a:t>ĐỊNH NGHĨA (SGK GDKTPL 10 – Kết nối tri thức, Bài 6)</a:t>
            </a:r>
          </a:p>
        </p:txBody>
      </p:sp>
      <p:sp>
        <p:nvSpPr>
          <p:cNvPr id="8" name="TextBox 7"/>
          <p:cNvSpPr txBox="1"/>
          <p:nvPr/>
        </p:nvSpPr>
        <p:spPr>
          <a:xfrm>
            <a:off x="786384" y="2862072"/>
            <a:ext cx="10671048" cy="75895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Thuế là một khoản nộp ngân sách nhà nước bắt buộc của tổ chức, hộ gia đình, hộ kinh doanh, cá nhân theo quy định của các luật thuế.</a:t>
            </a:r>
          </a:p>
        </p:txBody>
      </p:sp>
      <p:sp>
        <p:nvSpPr>
          <p:cNvPr id="9" name="Rounded Rectangle 8"/>
          <p:cNvSpPr/>
          <p:nvPr/>
        </p:nvSpPr>
        <p:spPr>
          <a:xfrm>
            <a:off x="548640" y="3977639"/>
            <a:ext cx="3538728"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1</a:t>
            </a:r>
          </a:p>
        </p:txBody>
      </p:sp>
      <p:sp>
        <p:nvSpPr>
          <p:cNvPr id="11" name="TextBox 10"/>
          <p:cNvSpPr txBox="1"/>
          <p:nvPr/>
        </p:nvSpPr>
        <p:spPr>
          <a:xfrm>
            <a:off x="731520" y="4654295"/>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“Bắt buộc”</a:t>
            </a:r>
          </a:p>
        </p:txBody>
      </p:sp>
      <p:sp>
        <p:nvSpPr>
          <p:cNvPr id="12" name="TextBox 11"/>
          <p:cNvSpPr txBox="1"/>
          <p:nvPr/>
        </p:nvSpPr>
        <p:spPr>
          <a:xfrm>
            <a:off x="731520" y="5001767"/>
            <a:ext cx="3172968"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Mọi tổ chức, cá nhân thuộc diện chịu thuế đều phải nộp, không phụ thuộc vào ý muốn cá nhân.</a:t>
            </a:r>
          </a:p>
        </p:txBody>
      </p:sp>
      <p:sp>
        <p:nvSpPr>
          <p:cNvPr id="13" name="Rounded Rectangle 12"/>
          <p:cNvSpPr/>
          <p:nvPr/>
        </p:nvSpPr>
        <p:spPr>
          <a:xfrm>
            <a:off x="4315968" y="3977639"/>
            <a:ext cx="3538728"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98848"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2</a:t>
            </a:r>
          </a:p>
        </p:txBody>
      </p:sp>
      <p:sp>
        <p:nvSpPr>
          <p:cNvPr id="15" name="TextBox 14"/>
          <p:cNvSpPr txBox="1"/>
          <p:nvPr/>
        </p:nvSpPr>
        <p:spPr>
          <a:xfrm>
            <a:off x="4498848" y="4654295"/>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“Không hoàn trả trực tiếp”</a:t>
            </a:r>
          </a:p>
        </p:txBody>
      </p:sp>
      <p:sp>
        <p:nvSpPr>
          <p:cNvPr id="16" name="TextBox 15"/>
          <p:cNvSpPr txBox="1"/>
          <p:nvPr/>
        </p:nvSpPr>
        <p:spPr>
          <a:xfrm>
            <a:off x="4498848" y="5001767"/>
            <a:ext cx="3172968"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Người nộp thuế không nhận lại ngay một khoản lợi ích tương ứng, mà hưởng lợi gián tiếp qua dịch vụ công.</a:t>
            </a:r>
          </a:p>
        </p:txBody>
      </p:sp>
      <p:sp>
        <p:nvSpPr>
          <p:cNvPr id="17" name="Rounded Rectangle 16"/>
          <p:cNvSpPr/>
          <p:nvPr/>
        </p:nvSpPr>
        <p:spPr>
          <a:xfrm>
            <a:off x="8083296" y="3977639"/>
            <a:ext cx="3557016" cy="196596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66176" y="4160519"/>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3</a:t>
            </a:r>
          </a:p>
        </p:txBody>
      </p:sp>
      <p:sp>
        <p:nvSpPr>
          <p:cNvPr id="19" name="TextBox 18"/>
          <p:cNvSpPr txBox="1"/>
          <p:nvPr/>
        </p:nvSpPr>
        <p:spPr>
          <a:xfrm>
            <a:off x="8266176" y="4654295"/>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“Theo luật định”</a:t>
            </a:r>
          </a:p>
        </p:txBody>
      </p:sp>
      <p:sp>
        <p:nvSpPr>
          <p:cNvPr id="20" name="TextBox 19"/>
          <p:cNvSpPr txBox="1"/>
          <p:nvPr/>
        </p:nvSpPr>
        <p:spPr>
          <a:xfrm>
            <a:off x="8266176" y="5001767"/>
            <a:ext cx="3191256" cy="877824"/>
          </a:xfrm>
          <a:prstGeom prst="rect">
            <a:avLst/>
          </a:prstGeom>
          <a:noFill/>
        </p:spPr>
        <p:txBody>
          <a:bodyPr wrap="square" anchor="t" lIns="0" rIns="0" tIns="0" bIns="0">
            <a:spAutoFit/>
          </a:bodyPr>
          <a:lstStyle/>
          <a:p>
            <a:pPr algn="l">
              <a:lnSpc>
                <a:spcPct val="108000"/>
              </a:lnSpc>
              <a:spcAft>
                <a:spcPts val="0"/>
              </a:spcAft>
            </a:pPr>
            <a:r>
              <a:rPr sz="1200" b="0" i="0">
                <a:solidFill>
                  <a:srgbClr val="2A2522"/>
                </a:solidFill>
                <a:latin typeface="Calibri"/>
              </a:rPr>
              <a:t>Đối tượng, mức thuế, cách thu do các luật thuế của Nhà nước quy định cụ thể.</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2 · ĐẶC ĐIỂM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Bốn đặc điểm cơ bản của thuế</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7" name="TextBox 6"/>
          <p:cNvSpPr txBox="1"/>
          <p:nvPr/>
        </p:nvSpPr>
        <p:spPr>
          <a:xfrm>
            <a:off x="731520"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bắt buộc</a:t>
            </a:r>
          </a:p>
        </p:txBody>
      </p:sp>
      <p:sp>
        <p:nvSpPr>
          <p:cNvPr id="8" name="TextBox 7"/>
          <p:cNvSpPr txBox="1"/>
          <p:nvPr/>
        </p:nvSpPr>
        <p:spPr>
          <a:xfrm>
            <a:off x="731520"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Được bảo đảm thực hiện bằng quyền lực nhà nước (mang tính cưỡng chế).</a:t>
            </a:r>
          </a:p>
        </p:txBody>
      </p:sp>
      <p:sp>
        <p:nvSpPr>
          <p:cNvPr id="9" name="Rounded Rectangle 8"/>
          <p:cNvSpPr/>
          <p:nvPr/>
        </p:nvSpPr>
        <p:spPr>
          <a:xfrm>
            <a:off x="6245352" y="2331720"/>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1460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11" name="TextBox 10"/>
          <p:cNvSpPr txBox="1"/>
          <p:nvPr/>
        </p:nvSpPr>
        <p:spPr>
          <a:xfrm>
            <a:off x="6428232" y="3008376"/>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Không hoàn trả trực tiếp</a:t>
            </a:r>
          </a:p>
        </p:txBody>
      </p:sp>
      <p:sp>
        <p:nvSpPr>
          <p:cNvPr id="12" name="TextBox 11"/>
          <p:cNvSpPr txBox="1"/>
          <p:nvPr/>
        </p:nvSpPr>
        <p:spPr>
          <a:xfrm>
            <a:off x="6428232" y="3355848"/>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Người nộp thuế không nhận lại trực tiếp khoản lợi ích tương ứng số thuế đã nộp.</a:t>
            </a:r>
          </a:p>
        </p:txBody>
      </p:sp>
      <p:sp>
        <p:nvSpPr>
          <p:cNvPr id="13" name="Rounded Rectangle 12"/>
          <p:cNvSpPr/>
          <p:nvPr/>
        </p:nvSpPr>
        <p:spPr>
          <a:xfrm>
            <a:off x="548640" y="4233672"/>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4416552"/>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15" name="TextBox 14"/>
          <p:cNvSpPr txBox="1"/>
          <p:nvPr/>
        </p:nvSpPr>
        <p:spPr>
          <a:xfrm>
            <a:off x="731520"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Tính pháp lí cao</a:t>
            </a:r>
          </a:p>
        </p:txBody>
      </p:sp>
      <p:sp>
        <p:nvSpPr>
          <p:cNvPr id="16" name="TextBox 15"/>
          <p:cNvSpPr txBox="1"/>
          <p:nvPr/>
        </p:nvSpPr>
        <p:spPr>
          <a:xfrm>
            <a:off x="731520"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Chỉ được ban hành, sửa đổi bởi cơ quan nhà nước có thẩm quyền (Quốc hội) qua luật, pháp lệnh.</a:t>
            </a:r>
          </a:p>
        </p:txBody>
      </p:sp>
      <p:sp>
        <p:nvSpPr>
          <p:cNvPr id="17" name="Rounded Rectangle 16"/>
          <p:cNvSpPr/>
          <p:nvPr/>
        </p:nvSpPr>
        <p:spPr>
          <a:xfrm>
            <a:off x="6245352" y="4233672"/>
            <a:ext cx="5394960" cy="160020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8232" y="4416552"/>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19" name="TextBox 18"/>
          <p:cNvSpPr txBox="1"/>
          <p:nvPr/>
        </p:nvSpPr>
        <p:spPr>
          <a:xfrm>
            <a:off x="6428232" y="4910328"/>
            <a:ext cx="5029200"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Gắn với hoạt động kinh tế</a:t>
            </a:r>
          </a:p>
        </p:txBody>
      </p:sp>
      <p:sp>
        <p:nvSpPr>
          <p:cNvPr id="20" name="TextBox 19"/>
          <p:cNvSpPr txBox="1"/>
          <p:nvPr/>
        </p:nvSpPr>
        <p:spPr>
          <a:xfrm>
            <a:off x="6428232" y="5257800"/>
            <a:ext cx="5029200" cy="51206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Phát sinh từ hoạt động sản xuất, kinh doanh, thu nhập, tiêu dùng, sử dụng tài sản...</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3 · TÌNH HUỐNG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Đọc tình huống và trả lời</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96596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1362456"/>
          </a:xfrm>
          <a:prstGeom prst="rect">
            <a:avLst/>
          </a:prstGeom>
          <a:noFill/>
        </p:spPr>
        <p:txBody>
          <a:bodyPr wrap="square" anchor="t" lIns="0" rIns="0" tIns="0" bIns="0">
            <a:spAutoFit/>
          </a:bodyPr>
          <a:lstStyle/>
          <a:p>
            <a:pPr algn="l">
              <a:lnSpc>
                <a:spcPct val="116000"/>
              </a:lnSpc>
              <a:spcAft>
                <a:spcPts val="0"/>
              </a:spcAft>
            </a:pPr>
            <a:r>
              <a:rPr sz="1500" b="0" i="0">
                <a:solidFill>
                  <a:srgbClr val="2A2522"/>
                </a:solidFill>
                <a:latin typeface="Calibri"/>
              </a:rPr>
              <a:t>Anh M mở cửa hàng kinh doanh quần áo. Mỗi tháng, anh M đều kê khai và nộp thuế giá trị gia tăng, thuế thu nhập cá nhân theo quy định, dù anh không trực tiếp nhận lại con đường, trường học hay bệnh viện nào được xây dựng từ số tiền đó.</a:t>
            </a:r>
          </a:p>
        </p:txBody>
      </p:sp>
      <p:sp>
        <p:nvSpPr>
          <p:cNvPr id="8" name="TextBox 7"/>
          <p:cNvSpPr txBox="1"/>
          <p:nvPr/>
        </p:nvSpPr>
        <p:spPr>
          <a:xfrm>
            <a:off x="548640" y="4572000"/>
            <a:ext cx="11091672" cy="1645920"/>
          </a:xfrm>
          <a:prstGeom prst="rect">
            <a:avLst/>
          </a:prstGeom>
          <a:noFill/>
        </p:spPr>
        <p:txBody>
          <a:bodyPr wrap="square" lIns="0" rIns="0" tIns="0" bIns="0">
            <a:spAutoFit/>
          </a:bodyPr>
          <a:lstStyle/>
          <a:p>
            <a:pPr>
              <a:lnSpc>
                <a:spcPct val="112000"/>
              </a:lnSpc>
              <a:spcAft>
                <a:spcPts val="800"/>
              </a:spcAft>
            </a:pPr>
            <a:r>
              <a:rPr sz="1450" b="1">
                <a:solidFill>
                  <a:srgbClr val="1F3B57"/>
                </a:solidFill>
                <a:latin typeface="Calibri"/>
              </a:rPr>
              <a:t>▪  </a:t>
            </a:r>
            <a:r>
              <a:rPr sz="1450">
                <a:solidFill>
                  <a:srgbClr val="2A2522"/>
                </a:solidFill>
                <a:latin typeface="Calibri"/>
              </a:rPr>
              <a:t>Việc nộp thuế của anh M thể hiện những đặc điểm nào của thuế?</a:t>
            </a:r>
          </a:p>
          <a:p>
            <a:pPr>
              <a:lnSpc>
                <a:spcPct val="112000"/>
              </a:lnSpc>
              <a:spcAft>
                <a:spcPts val="800"/>
              </a:spcAft>
            </a:pPr>
            <a:r>
              <a:rPr sz="1450" b="1">
                <a:solidFill>
                  <a:srgbClr val="1F3B57"/>
                </a:solidFill>
                <a:latin typeface="Calibri"/>
              </a:rPr>
              <a:t>▪  </a:t>
            </a:r>
            <a:r>
              <a:rPr sz="1450">
                <a:solidFill>
                  <a:srgbClr val="2A2522"/>
                </a:solidFill>
                <a:latin typeface="Calibri"/>
              </a:rPr>
              <a:t>Vì sao anh M vẫn phải nộp thuế dù không được hưởng lợi ích ngay lập tức, trực tiếp?</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4 · VAI TRÒ (1)</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 nguồn thu chủ yếu của ngân sách nhà nước</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5394960"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7" name="TextBox 6"/>
          <p:cNvSpPr txBox="1"/>
          <p:nvPr/>
        </p:nvSpPr>
        <p:spPr>
          <a:xfrm>
            <a:off x="731520" y="3054096"/>
            <a:ext cx="50292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Nguồn thu chủ yếu, ổn định</a:t>
            </a:r>
          </a:p>
        </p:txBody>
      </p:sp>
      <p:sp>
        <p:nvSpPr>
          <p:cNvPr id="8" name="TextBox 7"/>
          <p:cNvSpPr txBox="1"/>
          <p:nvPr/>
        </p:nvSpPr>
        <p:spPr>
          <a:xfrm>
            <a:off x="731520" y="3401568"/>
            <a:ext cx="5029200" cy="2295144"/>
          </a:xfrm>
          <a:prstGeom prst="rect">
            <a:avLst/>
          </a:prstGeom>
          <a:noFill/>
        </p:spPr>
        <p:txBody>
          <a:bodyPr wrap="square" anchor="t" lIns="0" rIns="0" tIns="0" bIns="0">
            <a:spAutoFit/>
          </a:bodyPr>
          <a:lstStyle/>
          <a:p>
            <a:pPr algn="l">
              <a:lnSpc>
                <a:spcPct val="108000"/>
              </a:lnSpc>
              <a:spcAft>
                <a:spcPts val="0"/>
              </a:spcAft>
            </a:pPr>
            <a:r>
              <a:rPr sz="1300" b="0" i="0">
                <a:solidFill>
                  <a:srgbClr val="2A2522"/>
                </a:solidFill>
                <a:latin typeface="Calibri"/>
              </a:rPr>
              <a:t>Thuế là nguồn thu chủ yếu của ngân sách nhà nước, bảo đảm nguồn lực chi cho quốc phòng – an ninh, giáo dục, y tế, an sinh xã hội, đầu tư cơ sở hạ tầng...</a:t>
            </a:r>
          </a:p>
        </p:txBody>
      </p:sp>
      <p:sp>
        <p:nvSpPr>
          <p:cNvPr id="9" name="Rounded Rectangle 8"/>
          <p:cNvSpPr/>
          <p:nvPr/>
        </p:nvSpPr>
        <p:spPr>
          <a:xfrm>
            <a:off x="6245352" y="2377440"/>
            <a:ext cx="5394960" cy="338328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28232"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1" name="TextBox 10"/>
          <p:cNvSpPr txBox="1"/>
          <p:nvPr/>
        </p:nvSpPr>
        <p:spPr>
          <a:xfrm>
            <a:off x="6428232" y="3054096"/>
            <a:ext cx="50292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Công cụ điều tiết vĩ mô</a:t>
            </a:r>
          </a:p>
        </p:txBody>
      </p:sp>
      <p:sp>
        <p:nvSpPr>
          <p:cNvPr id="12" name="TextBox 11"/>
          <p:cNvSpPr txBox="1"/>
          <p:nvPr/>
        </p:nvSpPr>
        <p:spPr>
          <a:xfrm>
            <a:off x="6428232" y="3401568"/>
            <a:ext cx="5029200" cy="2295144"/>
          </a:xfrm>
          <a:prstGeom prst="rect">
            <a:avLst/>
          </a:prstGeom>
          <a:noFill/>
        </p:spPr>
        <p:txBody>
          <a:bodyPr wrap="square" anchor="t" lIns="0" rIns="0" tIns="0" bIns="0">
            <a:spAutoFit/>
          </a:bodyPr>
          <a:lstStyle/>
          <a:p>
            <a:pPr algn="l">
              <a:lnSpc>
                <a:spcPct val="108000"/>
              </a:lnSpc>
              <a:spcAft>
                <a:spcPts val="0"/>
              </a:spcAft>
            </a:pPr>
            <a:r>
              <a:rPr sz="1300" b="0" i="0">
                <a:solidFill>
                  <a:srgbClr val="2A2522"/>
                </a:solidFill>
                <a:latin typeface="Calibri"/>
              </a:rPr>
              <a:t>Nhà nước sử dụng thuế (tăng/giảm thuế suất, miễn giảm thuế) để điều tiết sản xuất, khuyến khích hoặc hạn chế tiêu dùng một số hàng hoá, dịch vụ.</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KHÁM PHÁ 5 · VAI TRÒ (2)</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Thuế góp phần bảo đảm công bằng xã hội</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566160"/>
          </a:xfrm>
          <a:prstGeom prst="rect">
            <a:avLst/>
          </a:prstGeom>
          <a:noFill/>
        </p:spPr>
        <p:txBody>
          <a:bodyPr wrap="square" lIns="0" rIns="0" tIns="0" bIns="0">
            <a:spAutoFit/>
          </a:bodyPr>
          <a:lstStyle/>
          <a:p>
            <a:pPr>
              <a:lnSpc>
                <a:spcPct val="112000"/>
              </a:lnSpc>
              <a:spcAft>
                <a:spcPts val="1400"/>
              </a:spcAft>
            </a:pPr>
            <a:r>
              <a:rPr sz="1500" b="1">
                <a:solidFill>
                  <a:srgbClr val="1F3B57"/>
                </a:solidFill>
                <a:latin typeface="Calibri"/>
              </a:rPr>
              <a:t>▪  </a:t>
            </a:r>
            <a:r>
              <a:rPr sz="1500" b="1">
                <a:solidFill>
                  <a:srgbClr val="2A2522"/>
                </a:solidFill>
                <a:latin typeface="Calibri"/>
              </a:rPr>
              <a:t>Điều tiết thu nhập: </a:t>
            </a:r>
            <a:r>
              <a:rPr sz="1500">
                <a:solidFill>
                  <a:srgbClr val="2A2522"/>
                </a:solidFill>
                <a:latin typeface="Calibri"/>
              </a:rPr>
              <a:t>thuế thu nhập cá nhân áp dụng biểu thuế luỹ tiến từng phần – thu nhập càng cao, thuế suất càng cao – góp phần thu hẹp khoảng cách giàu nghèo.</a:t>
            </a:r>
          </a:p>
          <a:p>
            <a:pPr>
              <a:lnSpc>
                <a:spcPct val="112000"/>
              </a:lnSpc>
              <a:spcAft>
                <a:spcPts val="1400"/>
              </a:spcAft>
            </a:pPr>
            <a:r>
              <a:rPr sz="1500" b="1">
                <a:solidFill>
                  <a:srgbClr val="1F3B57"/>
                </a:solidFill>
                <a:latin typeface="Calibri"/>
              </a:rPr>
              <a:t>▪  </a:t>
            </a:r>
            <a:r>
              <a:rPr sz="1500" b="1">
                <a:solidFill>
                  <a:srgbClr val="2A2522"/>
                </a:solidFill>
                <a:latin typeface="Calibri"/>
              </a:rPr>
              <a:t>Hướng dẫn tiêu dùng, bảo vệ sản xuất trong nước: </a:t>
            </a:r>
            <a:r>
              <a:rPr sz="1500">
                <a:solidFill>
                  <a:srgbClr val="2A2522"/>
                </a:solidFill>
                <a:latin typeface="Calibri"/>
              </a:rPr>
              <a:t>đánh thuế cao hơn với hàng hoá cần hạn chế (thuốc lá, rượu bia...), hỗ trợ thuế với hàng hoá cần khuyến khích.</a:t>
            </a:r>
          </a:p>
          <a:p>
            <a:pPr>
              <a:lnSpc>
                <a:spcPct val="112000"/>
              </a:lnSpc>
              <a:spcAft>
                <a:spcPts val="1400"/>
              </a:spcAft>
            </a:pPr>
            <a:r>
              <a:rPr sz="1500" b="1">
                <a:solidFill>
                  <a:srgbClr val="1F3B57"/>
                </a:solidFill>
                <a:latin typeface="Calibri"/>
              </a:rPr>
              <a:t>▪  </a:t>
            </a:r>
            <a:r>
              <a:rPr sz="1500" b="1">
                <a:solidFill>
                  <a:srgbClr val="2A2522"/>
                </a:solidFill>
                <a:latin typeface="Calibri"/>
              </a:rPr>
              <a:t>Bảo vệ lợi ích quốc gia, môi trường: </a:t>
            </a:r>
            <a:r>
              <a:rPr sz="1500">
                <a:solidFill>
                  <a:srgbClr val="2A2522"/>
                </a:solidFill>
                <a:latin typeface="Calibri"/>
              </a:rPr>
              <a:t>thông qua thuế xuất – nhập khẩu, thuế bảo vệ môi trường, góp phần bảo vệ sản xuất trong nước và tài nguyên, môi trường.</a:t>
            </a:r>
          </a:p>
        </p:txBody>
      </p:sp>
      <p:sp>
        <p:nvSpPr>
          <p:cNvPr id="6" name="Rectangle 5"/>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Khám phá</a:t>
            </a:r>
          </a:p>
        </p:txBody>
      </p:sp>
      <p:sp>
        <p:nvSpPr>
          <p:cNvPr id="8" name="TextBox 7"/>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78A2E"/>
                </a:solidFill>
                <a:latin typeface="Calibri"/>
              </a:rPr>
              <a:t>TỔNG KẾT NHANH</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Sơ đồ tư duy: Thuế là gì?</a:t>
            </a:r>
          </a:p>
        </p:txBody>
      </p:sp>
      <p:sp>
        <p:nvSpPr>
          <p:cNvPr id="4" name="Rectangle 3"/>
          <p:cNvSpPr/>
          <p:nvPr/>
        </p:nvSpPr>
        <p:spPr>
          <a:xfrm>
            <a:off x="548640" y="1472184"/>
            <a:ext cx="822960" cy="406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3538728" cy="3291840"/>
          </a:xfrm>
          <a:prstGeom prst="roundRect">
            <a:avLst>
              <a:gd name="adj" fmla="val 6000"/>
            </a:avLst>
          </a:prstGeom>
          <a:solidFill>
            <a:srgbClr val="DE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560320"/>
            <a:ext cx="420624" cy="420624"/>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7" name="TextBox 6"/>
          <p:cNvSpPr txBox="1"/>
          <p:nvPr/>
        </p:nvSpPr>
        <p:spPr>
          <a:xfrm>
            <a:off x="731520"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KHÁI NIỆM</a:t>
            </a:r>
          </a:p>
        </p:txBody>
      </p:sp>
      <p:sp>
        <p:nvSpPr>
          <p:cNvPr id="8" name="TextBox 7"/>
          <p:cNvSpPr txBox="1"/>
          <p:nvPr/>
        </p:nvSpPr>
        <p:spPr>
          <a:xfrm>
            <a:off x="731520" y="3401568"/>
            <a:ext cx="3172968"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Khoản thu bắt buộc vào ngân sách nhà nước của tổ chức, cá nhân theo quy định của luật thuế.</a:t>
            </a:r>
          </a:p>
        </p:txBody>
      </p:sp>
      <p:sp>
        <p:nvSpPr>
          <p:cNvPr id="9" name="Rounded Rectangle 8"/>
          <p:cNvSpPr/>
          <p:nvPr/>
        </p:nvSpPr>
        <p:spPr>
          <a:xfrm>
            <a:off x="4315968" y="2377440"/>
            <a:ext cx="3538728" cy="32918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98848" y="2560320"/>
            <a:ext cx="420624" cy="420624"/>
          </a:xfrm>
          <a:prstGeom prst="ellipse">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1" name="TextBox 10"/>
          <p:cNvSpPr txBox="1"/>
          <p:nvPr/>
        </p:nvSpPr>
        <p:spPr>
          <a:xfrm>
            <a:off x="4498848" y="3054096"/>
            <a:ext cx="3172968"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ĐẶC ĐIỂM</a:t>
            </a:r>
          </a:p>
        </p:txBody>
      </p:sp>
      <p:sp>
        <p:nvSpPr>
          <p:cNvPr id="12" name="TextBox 11"/>
          <p:cNvSpPr txBox="1"/>
          <p:nvPr/>
        </p:nvSpPr>
        <p:spPr>
          <a:xfrm>
            <a:off x="4498848" y="3401568"/>
            <a:ext cx="3172968"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Bắt buộc – không hoàn trả trực tiếp – tính pháp lí cao – gắn liền với hoạt động kinh tế.</a:t>
            </a:r>
          </a:p>
        </p:txBody>
      </p:sp>
      <p:sp>
        <p:nvSpPr>
          <p:cNvPr id="13" name="Rounded Rectangle 12"/>
          <p:cNvSpPr/>
          <p:nvPr/>
        </p:nvSpPr>
        <p:spPr>
          <a:xfrm>
            <a:off x="8083296" y="2377440"/>
            <a:ext cx="3557016" cy="32918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66176" y="2560320"/>
            <a:ext cx="420624" cy="420624"/>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Calibri"/>
              </a:rPr>
              <a:t>★</a:t>
            </a:r>
          </a:p>
        </p:txBody>
      </p:sp>
      <p:sp>
        <p:nvSpPr>
          <p:cNvPr id="15" name="TextBox 14"/>
          <p:cNvSpPr txBox="1"/>
          <p:nvPr/>
        </p:nvSpPr>
        <p:spPr>
          <a:xfrm>
            <a:off x="8266176" y="3054096"/>
            <a:ext cx="3191256" cy="365760"/>
          </a:xfrm>
          <a:prstGeom prst="rect">
            <a:avLst/>
          </a:prstGeom>
          <a:noFill/>
        </p:spPr>
        <p:txBody>
          <a:bodyPr wrap="square" anchor="t" lIns="0" rIns="0" tIns="0" bIns="0">
            <a:spAutoFit/>
          </a:bodyPr>
          <a:lstStyle/>
          <a:p>
            <a:pPr algn="l">
              <a:lnSpc>
                <a:spcPct val="100000"/>
              </a:lnSpc>
              <a:spcAft>
                <a:spcPts val="0"/>
              </a:spcAft>
            </a:pPr>
            <a:r>
              <a:rPr sz="1450" b="1" i="0">
                <a:solidFill>
                  <a:srgbClr val="1F3B57"/>
                </a:solidFill>
                <a:latin typeface="Calibri"/>
              </a:rPr>
              <a:t>VAI TRÒ</a:t>
            </a:r>
          </a:p>
        </p:txBody>
      </p:sp>
      <p:sp>
        <p:nvSpPr>
          <p:cNvPr id="16" name="TextBox 15"/>
          <p:cNvSpPr txBox="1"/>
          <p:nvPr/>
        </p:nvSpPr>
        <p:spPr>
          <a:xfrm>
            <a:off x="8266176" y="3401568"/>
            <a:ext cx="3191256" cy="2203704"/>
          </a:xfrm>
          <a:prstGeom prst="rect">
            <a:avLst/>
          </a:prstGeom>
          <a:noFill/>
        </p:spPr>
        <p:txBody>
          <a:bodyPr wrap="square" anchor="t" lIns="0" rIns="0" tIns="0" bIns="0">
            <a:spAutoFit/>
          </a:bodyPr>
          <a:lstStyle/>
          <a:p>
            <a:pPr algn="l">
              <a:lnSpc>
                <a:spcPct val="108000"/>
              </a:lnSpc>
              <a:spcAft>
                <a:spcPts val="0"/>
              </a:spcAft>
            </a:pPr>
            <a:r>
              <a:rPr sz="1250" b="0" i="0">
                <a:solidFill>
                  <a:srgbClr val="2A2522"/>
                </a:solidFill>
                <a:latin typeface="Calibri"/>
              </a:rPr>
              <a:t>Nguồn thu chủ yếu của NSNN – công cụ điều tiết vĩ mô – bảo đảm công bằng xã hội.</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Tổng kết</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82880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1. Khoản thu nào sau đây được xem là thuế?</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Tiền phạt vi phạm giao thông</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Thuế giá trị gia tăng khi mua hàng hoá</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Tiền quyên góp từ thiện</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Học phí trường tư thục</a:t>
            </a:r>
          </a:p>
        </p:txBody>
      </p:sp>
      <p:sp>
        <p:nvSpPr>
          <p:cNvPr id="11" name="Rounded Rectangle 10"/>
          <p:cNvSpPr/>
          <p:nvPr/>
        </p:nvSpPr>
        <p:spPr>
          <a:xfrm>
            <a:off x="548640" y="4343400"/>
            <a:ext cx="11091672" cy="182880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47141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2. Đặc điểm nào sau đây KHÔNG đúng với thuế?</a:t>
            </a:r>
          </a:p>
        </p:txBody>
      </p:sp>
      <p:sp>
        <p:nvSpPr>
          <p:cNvPr id="13" name="TextBox 12"/>
          <p:cNvSpPr txBox="1"/>
          <p:nvPr/>
        </p:nvSpPr>
        <p:spPr>
          <a:xfrm>
            <a:off x="749808"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Mang tính bắt buộc</a:t>
            </a:r>
          </a:p>
        </p:txBody>
      </p:sp>
      <p:sp>
        <p:nvSpPr>
          <p:cNvPr id="14" name="TextBox 13"/>
          <p:cNvSpPr txBox="1"/>
          <p:nvPr/>
        </p:nvSpPr>
        <p:spPr>
          <a:xfrm>
            <a:off x="6094476" y="50017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B. Người nộp thuế được hoàn trả trực tiếp tương ứng số tiền đã nộp</a:t>
            </a:r>
          </a:p>
        </p:txBody>
      </p:sp>
      <p:sp>
        <p:nvSpPr>
          <p:cNvPr id="15" name="TextBox 14"/>
          <p:cNvSpPr txBox="1"/>
          <p:nvPr/>
        </p:nvSpPr>
        <p:spPr>
          <a:xfrm>
            <a:off x="749808"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Do cơ quan nhà nước có thẩm quyền quy định</a:t>
            </a:r>
          </a:p>
        </p:txBody>
      </p:sp>
      <p:sp>
        <p:nvSpPr>
          <p:cNvPr id="16" name="TextBox 15"/>
          <p:cNvSpPr txBox="1"/>
          <p:nvPr/>
        </p:nvSpPr>
        <p:spPr>
          <a:xfrm>
            <a:off x="6094476" y="536752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Gắn liền với các hoạt động kinh tế</a:t>
            </a:r>
          </a:p>
        </p:txBody>
      </p:sp>
      <p:sp>
        <p:nvSpPr>
          <p:cNvPr id="17" name="Rectangle 16"/>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19" name="TextBox 18"/>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TRẮC NGHIỆM</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Khoanh vào chữ cái trước đáp án đúng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31720"/>
            <a:ext cx="11091672" cy="1691640"/>
          </a:xfrm>
          <a:prstGeom prst="roundRect">
            <a:avLst>
              <a:gd name="adj" fmla="val 6000"/>
            </a:avLst>
          </a:prstGeom>
          <a:solidFill>
            <a:srgbClr val="F4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5973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3. Việc Nhà nước tăng thuế tiêu thụ đặc biệt với thuốc lá chủ yếu nhằm mục đích gì?</a:t>
            </a:r>
          </a:p>
        </p:txBody>
      </p:sp>
      <p:sp>
        <p:nvSpPr>
          <p:cNvPr id="7" name="TextBox 6"/>
          <p:cNvSpPr txBox="1"/>
          <p:nvPr/>
        </p:nvSpPr>
        <p:spPr>
          <a:xfrm>
            <a:off x="749808" y="299008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Tăng lợi nhuận cho doanh nghiệp thuốc lá</a:t>
            </a:r>
          </a:p>
        </p:txBody>
      </p:sp>
      <p:sp>
        <p:nvSpPr>
          <p:cNvPr id="8" name="TextBox 7"/>
          <p:cNvSpPr txBox="1"/>
          <p:nvPr/>
        </p:nvSpPr>
        <p:spPr>
          <a:xfrm>
            <a:off x="6094476" y="299008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Hạn chế tiêu dùng mặt hàng có hại cho sức khoẻ  ✓</a:t>
            </a:r>
          </a:p>
        </p:txBody>
      </p:sp>
      <p:sp>
        <p:nvSpPr>
          <p:cNvPr id="9" name="TextBox 8"/>
          <p:cNvSpPr txBox="1"/>
          <p:nvPr/>
        </p:nvSpPr>
        <p:spPr>
          <a:xfrm>
            <a:off x="749808"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Giảm giá bán thuốc lá</a:t>
            </a:r>
          </a:p>
        </p:txBody>
      </p:sp>
      <p:sp>
        <p:nvSpPr>
          <p:cNvPr id="10" name="TextBox 9"/>
          <p:cNvSpPr txBox="1"/>
          <p:nvPr/>
        </p:nvSpPr>
        <p:spPr>
          <a:xfrm>
            <a:off x="6094476" y="335584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Khuyến khích xuất khẩu thuốc lá</a:t>
            </a:r>
          </a:p>
        </p:txBody>
      </p:sp>
      <p:sp>
        <p:nvSpPr>
          <p:cNvPr id="11" name="Rounded Rectangle 10"/>
          <p:cNvSpPr/>
          <p:nvPr/>
        </p:nvSpPr>
        <p:spPr>
          <a:xfrm>
            <a:off x="548640" y="4206240"/>
            <a:ext cx="11091672" cy="16916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334256"/>
            <a:ext cx="10689336" cy="457200"/>
          </a:xfrm>
          <a:prstGeom prst="rect">
            <a:avLst/>
          </a:prstGeom>
          <a:noFill/>
        </p:spPr>
        <p:txBody>
          <a:bodyPr wrap="square" anchor="t" lIns="0" rIns="0" tIns="0" bIns="0">
            <a:spAutoFit/>
          </a:bodyPr>
          <a:lstStyle/>
          <a:p>
            <a:pPr algn="l">
              <a:lnSpc>
                <a:spcPct val="105000"/>
              </a:lnSpc>
              <a:spcAft>
                <a:spcPts val="0"/>
              </a:spcAft>
            </a:pPr>
            <a:r>
              <a:rPr sz="1350" b="1" i="0">
                <a:solidFill>
                  <a:srgbClr val="1F3B57"/>
                </a:solidFill>
                <a:latin typeface="Calibri"/>
              </a:rPr>
              <a:t>Câu 4. Ngân sách nhà nước chi cho giáo dục, y tế, quốc phòng... chủ yếu hình thành từ nguồn nào?</a:t>
            </a:r>
          </a:p>
        </p:txBody>
      </p:sp>
      <p:sp>
        <p:nvSpPr>
          <p:cNvPr id="13" name="TextBox 12"/>
          <p:cNvSpPr txBox="1"/>
          <p:nvPr/>
        </p:nvSpPr>
        <p:spPr>
          <a:xfrm>
            <a:off x="749808" y="486460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A. Vay nợ nước ngoài</a:t>
            </a:r>
          </a:p>
        </p:txBody>
      </p:sp>
      <p:sp>
        <p:nvSpPr>
          <p:cNvPr id="14" name="TextBox 13"/>
          <p:cNvSpPr txBox="1"/>
          <p:nvPr/>
        </p:nvSpPr>
        <p:spPr>
          <a:xfrm>
            <a:off x="6094476" y="4864608"/>
            <a:ext cx="5253228" cy="329184"/>
          </a:xfrm>
          <a:prstGeom prst="rect">
            <a:avLst/>
          </a:prstGeom>
          <a:noFill/>
        </p:spPr>
        <p:txBody>
          <a:bodyPr wrap="square" anchor="t" lIns="0" rIns="0" tIns="0" bIns="0">
            <a:spAutoFit/>
          </a:bodyPr>
          <a:lstStyle/>
          <a:p>
            <a:pPr algn="l">
              <a:lnSpc>
                <a:spcPct val="100000"/>
              </a:lnSpc>
              <a:spcAft>
                <a:spcPts val="0"/>
              </a:spcAft>
            </a:pPr>
            <a:r>
              <a:rPr sz="1200" b="1" i="0">
                <a:solidFill>
                  <a:srgbClr val="6C222A"/>
                </a:solidFill>
                <a:latin typeface="Calibri"/>
              </a:rPr>
              <a:t>B. Thuế  ✓</a:t>
            </a:r>
          </a:p>
        </p:txBody>
      </p:sp>
      <p:sp>
        <p:nvSpPr>
          <p:cNvPr id="15" name="TextBox 14"/>
          <p:cNvSpPr txBox="1"/>
          <p:nvPr/>
        </p:nvSpPr>
        <p:spPr>
          <a:xfrm>
            <a:off x="749808"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C. Viện trợ quốc tế</a:t>
            </a:r>
          </a:p>
        </p:txBody>
      </p:sp>
      <p:sp>
        <p:nvSpPr>
          <p:cNvPr id="16" name="TextBox 15"/>
          <p:cNvSpPr txBox="1"/>
          <p:nvPr/>
        </p:nvSpPr>
        <p:spPr>
          <a:xfrm>
            <a:off x="6094476" y="5230368"/>
            <a:ext cx="5253228" cy="329184"/>
          </a:xfrm>
          <a:prstGeom prst="rect">
            <a:avLst/>
          </a:prstGeom>
          <a:noFill/>
        </p:spPr>
        <p:txBody>
          <a:bodyPr wrap="square" anchor="t" lIns="0" rIns="0" tIns="0" bIns="0">
            <a:spAutoFit/>
          </a:bodyPr>
          <a:lstStyle/>
          <a:p>
            <a:pPr algn="l">
              <a:lnSpc>
                <a:spcPct val="100000"/>
              </a:lnSpc>
              <a:spcAft>
                <a:spcPts val="0"/>
              </a:spcAft>
            </a:pPr>
            <a:r>
              <a:rPr sz="1200" b="0" i="0">
                <a:solidFill>
                  <a:srgbClr val="2A2522"/>
                </a:solidFill>
                <a:latin typeface="Calibri"/>
              </a:rPr>
              <a:t>D. Bán tài nguyên</a:t>
            </a:r>
          </a:p>
        </p:txBody>
      </p:sp>
      <p:sp>
        <p:nvSpPr>
          <p:cNvPr id="17" name="Rounded Rectangle 16"/>
          <p:cNvSpPr/>
          <p:nvPr/>
        </p:nvSpPr>
        <p:spPr>
          <a:xfrm>
            <a:off x="548640" y="6035040"/>
            <a:ext cx="11091672" cy="384048"/>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6035040"/>
            <a:ext cx="82296" cy="384048"/>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6199632"/>
            <a:ext cx="10671048" cy="365760"/>
          </a:xfrm>
          <a:prstGeom prst="rect">
            <a:avLst/>
          </a:prstGeom>
          <a:noFill/>
        </p:spPr>
        <p:txBody>
          <a:bodyPr wrap="square" anchor="t" lIns="0" rIns="0" tIns="0" bIns="0">
            <a:spAutoFit/>
          </a:bodyPr>
          <a:lstStyle/>
          <a:p>
            <a:pPr algn="l">
              <a:lnSpc>
                <a:spcPct val="100000"/>
              </a:lnSpc>
              <a:spcAft>
                <a:spcPts val="0"/>
              </a:spcAft>
            </a:pPr>
            <a:r>
              <a:rPr sz="1500" b="1" i="0">
                <a:solidFill>
                  <a:srgbClr val="1F3B57"/>
                </a:solidFill>
                <a:latin typeface="Calibri"/>
              </a:rPr>
              <a:t/>
            </a:r>
          </a:p>
        </p:txBody>
      </p:sp>
      <p:sp>
        <p:nvSpPr>
          <p:cNvPr id="20" name="TextBox 19"/>
          <p:cNvSpPr txBox="1"/>
          <p:nvPr/>
        </p:nvSpPr>
        <p:spPr>
          <a:xfrm>
            <a:off x="786384" y="6565392"/>
            <a:ext cx="10671048" cy="-274320"/>
          </a:xfrm>
          <a:prstGeom prst="rect">
            <a:avLst/>
          </a:prstGeom>
          <a:noFill/>
        </p:spPr>
        <p:txBody>
          <a:bodyPr wrap="square" anchor="t" lIns="0" rIns="0" tIns="0" bIns="0">
            <a:spAutoFit/>
          </a:bodyPr>
          <a:lstStyle/>
          <a:p>
            <a:pPr algn="l">
              <a:lnSpc>
                <a:spcPct val="114000"/>
              </a:lnSpc>
              <a:spcAft>
                <a:spcPts val="0"/>
              </a:spcAft>
            </a:pPr>
            <a:r>
              <a:rPr sz="1250" b="0" i="0">
                <a:solidFill>
                  <a:srgbClr val="2A2522"/>
                </a:solidFill>
                <a:latin typeface="Calibri"/>
              </a:rPr>
              <a:t>Đáp án: Câu 1 – B      Câu 2 – B      Câu 3 – B      Câu 4 – B</a:t>
            </a:r>
          </a:p>
        </p:txBody>
      </p:sp>
      <p:sp>
        <p:nvSpPr>
          <p:cNvPr id="21" name="Rectangle 20"/>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23" name="TextBox 22"/>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C15B2C"/>
                </a:solidFill>
                <a:latin typeface="Calibri"/>
              </a:rPr>
              <a:t>LUYỆN TẬP · TÌNH HUỐNG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Xử lí tình huống</a:t>
            </a:r>
          </a:p>
        </p:txBody>
      </p:sp>
      <p:sp>
        <p:nvSpPr>
          <p:cNvPr id="4" name="Rectangle 3"/>
          <p:cNvSpPr/>
          <p:nvPr/>
        </p:nvSpPr>
        <p:spPr>
          <a:xfrm>
            <a:off x="548640" y="1472184"/>
            <a:ext cx="822960" cy="40640"/>
          </a:xfrm>
          <a:prstGeom prst="rect">
            <a:avLst/>
          </a:prstGeom>
          <a:solidFill>
            <a:srgbClr val="C15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377440"/>
            <a:ext cx="11091672" cy="155448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523744"/>
            <a:ext cx="10634472" cy="292608"/>
          </a:xfrm>
          <a:prstGeom prst="rect">
            <a:avLst/>
          </a:prstGeom>
          <a:noFill/>
        </p:spPr>
        <p:txBody>
          <a:bodyPr wrap="square" anchor="t" lIns="0" rIns="0" tIns="0" bIns="0">
            <a:spAutoFit/>
          </a:bodyPr>
          <a:lstStyle/>
          <a:p>
            <a:pPr algn="l">
              <a:lnSpc>
                <a:spcPct val="100000"/>
              </a:lnSpc>
              <a:spcAft>
                <a:spcPts val="0"/>
              </a:spcAft>
            </a:pPr>
            <a:r>
              <a:rPr sz="1250" b="1" i="0" spc="100">
                <a:solidFill>
                  <a:srgbClr val="8C2F39"/>
                </a:solidFill>
                <a:latin typeface="Calibri"/>
              </a:rPr>
              <a:t>TÌNH HUỐNG</a:t>
            </a:r>
          </a:p>
        </p:txBody>
      </p:sp>
      <p:sp>
        <p:nvSpPr>
          <p:cNvPr id="7" name="TextBox 6"/>
          <p:cNvSpPr txBox="1"/>
          <p:nvPr/>
        </p:nvSpPr>
        <p:spPr>
          <a:xfrm>
            <a:off x="786384" y="2834640"/>
            <a:ext cx="10616184" cy="950976"/>
          </a:xfrm>
          <a:prstGeom prst="rect">
            <a:avLst/>
          </a:prstGeom>
          <a:noFill/>
        </p:spPr>
        <p:txBody>
          <a:bodyPr wrap="square" anchor="t" lIns="0" rIns="0" tIns="0" bIns="0">
            <a:spAutoFit/>
          </a:bodyPr>
          <a:lstStyle/>
          <a:p>
            <a:pPr algn="l">
              <a:lnSpc>
                <a:spcPct val="116000"/>
              </a:lnSpc>
              <a:spcAft>
                <a:spcPts val="0"/>
              </a:spcAft>
            </a:pPr>
            <a:r>
              <a:rPr sz="1450" b="0" i="0">
                <a:solidFill>
                  <a:srgbClr val="2A2522"/>
                </a:solidFill>
                <a:latin typeface="Calibri"/>
              </a:rPr>
              <a:t>Cửa hàng của cô H bán được nhiều hàng nhưng cô cố tình không xuất hoá đơn để giảm bớt số thuế giá trị gia tăng và thuế thu nhập cá nhân phải nộp.</a:t>
            </a:r>
          </a:p>
        </p:txBody>
      </p:sp>
      <p:sp>
        <p:nvSpPr>
          <p:cNvPr id="8" name="TextBox 7"/>
          <p:cNvSpPr txBox="1"/>
          <p:nvPr/>
        </p:nvSpPr>
        <p:spPr>
          <a:xfrm>
            <a:off x="548640" y="4160520"/>
            <a:ext cx="11091672" cy="1005840"/>
          </a:xfrm>
          <a:prstGeom prst="rect">
            <a:avLst/>
          </a:prstGeom>
          <a:noFill/>
        </p:spPr>
        <p:txBody>
          <a:bodyPr wrap="square" lIns="0" rIns="0" tIns="0" bIns="0">
            <a:spAutoFit/>
          </a:bodyPr>
          <a:lstStyle/>
          <a:p>
            <a:pPr>
              <a:lnSpc>
                <a:spcPct val="112000"/>
              </a:lnSpc>
              <a:spcAft>
                <a:spcPts val="800"/>
              </a:spcAft>
            </a:pPr>
            <a:r>
              <a:rPr sz="1400" b="1">
                <a:solidFill>
                  <a:srgbClr val="1F3B57"/>
                </a:solidFill>
                <a:latin typeface="Calibri"/>
              </a:rPr>
              <a:t>▪  </a:t>
            </a:r>
            <a:r>
              <a:rPr sz="1400">
                <a:solidFill>
                  <a:srgbClr val="2A2522"/>
                </a:solidFill>
                <a:latin typeface="Calibri"/>
              </a:rPr>
              <a:t>Hành vi của cô H vi phạm đặc điểm nào của thuế?</a:t>
            </a:r>
          </a:p>
          <a:p>
            <a:pPr>
              <a:lnSpc>
                <a:spcPct val="112000"/>
              </a:lnSpc>
              <a:spcAft>
                <a:spcPts val="800"/>
              </a:spcAft>
            </a:pPr>
            <a:r>
              <a:rPr sz="1400" b="1">
                <a:solidFill>
                  <a:srgbClr val="1F3B57"/>
                </a:solidFill>
                <a:latin typeface="Calibri"/>
              </a:rPr>
              <a:t>▪  </a:t>
            </a:r>
            <a:r>
              <a:rPr sz="1400">
                <a:solidFill>
                  <a:srgbClr val="2A2522"/>
                </a:solidFill>
                <a:latin typeface="Calibri"/>
              </a:rPr>
              <a:t>Nếu là người thân của cô H, em sẽ khuyên cô như thế nào?</a:t>
            </a:r>
          </a:p>
        </p:txBody>
      </p:sp>
      <p:sp>
        <p:nvSpPr>
          <p:cNvPr id="9" name="Rounded Rectangle 8"/>
          <p:cNvSpPr/>
          <p:nvPr/>
        </p:nvSpPr>
        <p:spPr>
          <a:xfrm>
            <a:off x="548640" y="5257800"/>
            <a:ext cx="11091672" cy="960120"/>
          </a:xfrm>
          <a:prstGeom prst="roundRect">
            <a:avLst>
              <a:gd name="adj" fmla="val 6000"/>
            </a:avLst>
          </a:prstGeom>
          <a:solidFill>
            <a:srgbClr val="F6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5257800"/>
            <a:ext cx="82296" cy="96012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422392"/>
            <a:ext cx="10671048" cy="365760"/>
          </a:xfrm>
          <a:prstGeom prst="rect">
            <a:avLst/>
          </a:prstGeom>
          <a:noFill/>
        </p:spPr>
        <p:txBody>
          <a:bodyPr wrap="square" anchor="t" lIns="0" rIns="0" tIns="0" bIns="0">
            <a:spAutoFit/>
          </a:bodyPr>
          <a:lstStyle/>
          <a:p>
            <a:pPr algn="l">
              <a:lnSpc>
                <a:spcPct val="100000"/>
              </a:lnSpc>
              <a:spcAft>
                <a:spcPts val="0"/>
              </a:spcAft>
            </a:pPr>
            <a:r>
              <a:rPr sz="1250" b="1" i="0">
                <a:solidFill>
                  <a:srgbClr val="1F3B57"/>
                </a:solidFill>
                <a:latin typeface="Calibri"/>
              </a:rPr>
              <a:t>GỢI Ý</a:t>
            </a:r>
          </a:p>
        </p:txBody>
      </p:sp>
      <p:sp>
        <p:nvSpPr>
          <p:cNvPr id="12" name="TextBox 11"/>
          <p:cNvSpPr txBox="1"/>
          <p:nvPr/>
        </p:nvSpPr>
        <p:spPr>
          <a:xfrm>
            <a:off x="786384" y="5788152"/>
            <a:ext cx="10671048" cy="301752"/>
          </a:xfrm>
          <a:prstGeom prst="rect">
            <a:avLst/>
          </a:prstGeom>
          <a:noFill/>
        </p:spPr>
        <p:txBody>
          <a:bodyPr wrap="square" anchor="t" lIns="0" rIns="0" tIns="0" bIns="0">
            <a:spAutoFit/>
          </a:bodyPr>
          <a:lstStyle/>
          <a:p>
            <a:pPr algn="l">
              <a:lnSpc>
                <a:spcPct val="114000"/>
              </a:lnSpc>
              <a:spcAft>
                <a:spcPts val="0"/>
              </a:spcAft>
            </a:pPr>
            <a:r>
              <a:rPr sz="1200" b="0" i="0">
                <a:solidFill>
                  <a:srgbClr val="2A2522"/>
                </a:solidFill>
                <a:latin typeface="Calibri"/>
              </a:rPr>
              <a:t>Vi phạm tính bắt buộc và tính pháp lí của thuế; hành vi trốn thuế là vi phạm pháp luật, có thể bị xử phạt hành chính hoặc truy cứu trách nhiệm hình sự tuỳ mức độ.</a:t>
            </a:r>
          </a:p>
        </p:txBody>
      </p:sp>
      <p:sp>
        <p:nvSpPr>
          <p:cNvPr id="13" name="Rectangle 12"/>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Luyện tập</a:t>
            </a:r>
          </a:p>
        </p:txBody>
      </p:sp>
      <p:sp>
        <p:nvSpPr>
          <p:cNvPr id="15" name="TextBox 14"/>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1 – Sưu tầm hoá đơn thực tế</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Về nhà, em xin phép người thân giữ lại 1 hoá đơn mua hàng (siêu thị, xăng dầu, ăn uống...) có ghi rõ thuế giá trị gia tăng.</a:t>
            </a:r>
          </a:p>
          <a:p>
            <a:pPr algn="l">
              <a:lnSpc>
                <a:spcPct val="114000"/>
              </a:lnSpc>
              <a:spcAft>
                <a:spcPts val="0"/>
              </a:spcAft>
            </a:pPr>
            <a:r>
              <a:rPr sz="1400" b="0" i="0">
                <a:solidFill>
                  <a:srgbClr val="2A2522"/>
                </a:solidFill>
                <a:latin typeface="Calibri"/>
              </a:rPr>
              <a:t/>
            </a:r>
          </a:p>
          <a:p>
            <a:pPr algn="l">
              <a:lnSpc>
                <a:spcPct val="114000"/>
              </a:lnSpc>
              <a:spcAft>
                <a:spcPts val="0"/>
              </a:spcAft>
            </a:pPr>
            <a:r>
              <a:rPr sz="1400" b="0" i="0">
                <a:solidFill>
                  <a:srgbClr val="2A2522"/>
                </a:solidFill>
                <a:latin typeface="Calibri"/>
              </a:rPr>
              <a:t>Hãy xác định: số tiền thuế đã nộp là bao nhiêu? Số tiền đó chiếm khoảng bao nhiêu % giá trị hàng hoá? Nộp lại phiếu quan sát vào tiết học sau.</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5EF"/>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8C2F39"/>
                </a:solidFill>
                <a:latin typeface="Calibri"/>
              </a:rPr>
              <a:t>VẬN DỤNG</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Nhiệm vụ 2 – Viết đoạn văn ngắn</a:t>
            </a:r>
          </a:p>
        </p:txBody>
      </p:sp>
      <p:sp>
        <p:nvSpPr>
          <p:cNvPr id="4" name="Rectangle 3"/>
          <p:cNvSpPr/>
          <p:nvPr/>
        </p:nvSpPr>
        <p:spPr>
          <a:xfrm>
            <a:off x="548640" y="1472184"/>
            <a:ext cx="822960" cy="40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468880"/>
            <a:ext cx="11091672" cy="2377440"/>
          </a:xfrm>
          <a:prstGeom prst="roundRect">
            <a:avLst>
              <a:gd name="adj" fmla="val 6000"/>
            </a:avLst>
          </a:prstGeom>
          <a:solidFill>
            <a:srgbClr val="F1D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468880"/>
            <a:ext cx="82296" cy="23774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633472"/>
            <a:ext cx="10671048" cy="365760"/>
          </a:xfrm>
          <a:prstGeom prst="rect">
            <a:avLst/>
          </a:prstGeom>
          <a:noFill/>
        </p:spPr>
        <p:txBody>
          <a:bodyPr wrap="square" anchor="t" lIns="0" rIns="0" tIns="0" bIns="0">
            <a:spAutoFit/>
          </a:bodyPr>
          <a:lstStyle/>
          <a:p>
            <a:pPr algn="l">
              <a:lnSpc>
                <a:spcPct val="100000"/>
              </a:lnSpc>
              <a:spcAft>
                <a:spcPts val="0"/>
              </a:spcAft>
            </a:pPr>
            <a:r>
              <a:rPr sz="1400" b="1" i="0">
                <a:solidFill>
                  <a:srgbClr val="1F3B57"/>
                </a:solidFill>
                <a:latin typeface="Calibri"/>
              </a:rPr>
              <a:t>YÊU CẦU</a:t>
            </a:r>
          </a:p>
        </p:txBody>
      </p:sp>
      <p:sp>
        <p:nvSpPr>
          <p:cNvPr id="8" name="TextBox 7"/>
          <p:cNvSpPr txBox="1"/>
          <p:nvPr/>
        </p:nvSpPr>
        <p:spPr>
          <a:xfrm>
            <a:off x="786384" y="2999232"/>
            <a:ext cx="10671048" cy="1719072"/>
          </a:xfrm>
          <a:prstGeom prst="rect">
            <a:avLst/>
          </a:prstGeom>
          <a:noFill/>
        </p:spPr>
        <p:txBody>
          <a:bodyPr wrap="square" anchor="t" lIns="0" rIns="0" tIns="0" bIns="0">
            <a:spAutoFit/>
          </a:bodyPr>
          <a:lstStyle/>
          <a:p>
            <a:pPr algn="l">
              <a:lnSpc>
                <a:spcPct val="114000"/>
              </a:lnSpc>
              <a:spcAft>
                <a:spcPts val="0"/>
              </a:spcAft>
            </a:pPr>
            <a:r>
              <a:rPr sz="1450" b="0" i="0">
                <a:solidFill>
                  <a:srgbClr val="2A2522"/>
                </a:solidFill>
                <a:latin typeface="Calibri"/>
              </a:rPr>
              <a:t>Viết một đoạn văn ngắn (5–7 câu) trình bày suy nghĩ của em về nhận định:</a:t>
            </a:r>
          </a:p>
          <a:p>
            <a:pPr algn="l">
              <a:lnSpc>
                <a:spcPct val="114000"/>
              </a:lnSpc>
              <a:spcAft>
                <a:spcPts val="0"/>
              </a:spcAft>
            </a:pPr>
            <a:r>
              <a:rPr sz="1450" b="0" i="0">
                <a:solidFill>
                  <a:srgbClr val="2A2522"/>
                </a:solidFill>
                <a:latin typeface="Calibri"/>
              </a:rPr>
              <a:t>“Nộp thuế là quyền lợi và nghĩa vụ của mỗi công dân đối với đất nước.”</a:t>
            </a:r>
          </a:p>
          <a:p>
            <a:pPr algn="l">
              <a:lnSpc>
                <a:spcPct val="114000"/>
              </a:lnSpc>
              <a:spcAft>
                <a:spcPts val="0"/>
              </a:spcAft>
            </a:pPr>
            <a:r>
              <a:rPr sz="1450" b="0" i="0">
                <a:solidFill>
                  <a:srgbClr val="2A2522"/>
                </a:solidFill>
                <a:latin typeface="Calibri"/>
              </a:rPr>
              <a:t/>
            </a:r>
          </a:p>
          <a:p>
            <a:pPr algn="l">
              <a:lnSpc>
                <a:spcPct val="114000"/>
              </a:lnSpc>
              <a:spcAft>
                <a:spcPts val="0"/>
              </a:spcAft>
            </a:pPr>
            <a:r>
              <a:rPr sz="1450" b="0" i="0">
                <a:solidFill>
                  <a:srgbClr val="2A2522"/>
                </a:solidFill>
                <a:latin typeface="Calibri"/>
              </a:rPr>
              <a:t>Nộp bài vào đầu tiết học sau.</a:t>
            </a:r>
          </a:p>
        </p:txBody>
      </p:sp>
      <p:sp>
        <p:nvSpPr>
          <p:cNvPr id="9" name="Rectangle 8"/>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Vận dụng</a:t>
            </a:r>
          </a:p>
        </p:txBody>
      </p:sp>
      <p:sp>
        <p:nvSpPr>
          <p:cNvPr id="11" name="TextBox 10"/>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TextBox 1"/>
          <p:cNvSpPr txBox="1"/>
          <p:nvPr/>
        </p:nvSpPr>
        <p:spPr>
          <a:xfrm>
            <a:off x="548640" y="384048"/>
            <a:ext cx="10515600" cy="292608"/>
          </a:xfrm>
          <a:prstGeom prst="rect">
            <a:avLst/>
          </a:prstGeom>
          <a:noFill/>
        </p:spPr>
        <p:txBody>
          <a:bodyPr wrap="square" anchor="t" lIns="0" rIns="0" tIns="0" bIns="0">
            <a:spAutoFit/>
          </a:bodyPr>
          <a:lstStyle/>
          <a:p>
            <a:pPr algn="l">
              <a:lnSpc>
                <a:spcPct val="100000"/>
              </a:lnSpc>
              <a:spcAft>
                <a:spcPts val="0"/>
              </a:spcAft>
            </a:pPr>
            <a:r>
              <a:rPr sz="1300" b="1" i="0" spc="160">
                <a:solidFill>
                  <a:srgbClr val="1F3B57"/>
                </a:solidFill>
                <a:latin typeface="Calibri"/>
              </a:rPr>
              <a:t>GHI NHỚ</a:t>
            </a:r>
          </a:p>
        </p:txBody>
      </p:sp>
      <p:sp>
        <p:nvSpPr>
          <p:cNvPr id="3" name="TextBox 2"/>
          <p:cNvSpPr txBox="1"/>
          <p:nvPr/>
        </p:nvSpPr>
        <p:spPr>
          <a:xfrm>
            <a:off x="548640" y="676656"/>
            <a:ext cx="11064240" cy="777240"/>
          </a:xfrm>
          <a:prstGeom prst="rect">
            <a:avLst/>
          </a:prstGeom>
          <a:noFill/>
        </p:spPr>
        <p:txBody>
          <a:bodyPr wrap="square" anchor="t" lIns="0" rIns="0" tIns="0" bIns="0">
            <a:spAutoFit/>
          </a:bodyPr>
          <a:lstStyle/>
          <a:p>
            <a:pPr algn="l">
              <a:lnSpc>
                <a:spcPct val="102000"/>
              </a:lnSpc>
              <a:spcAft>
                <a:spcPts val="0"/>
              </a:spcAft>
            </a:pPr>
            <a:r>
              <a:rPr sz="3000" b="1" i="0">
                <a:solidFill>
                  <a:srgbClr val="1F3B57"/>
                </a:solidFill>
                <a:latin typeface="Georgia"/>
              </a:rPr>
              <a:t>Tổng kết Tiết 1</a:t>
            </a:r>
          </a:p>
        </p:txBody>
      </p:sp>
      <p:sp>
        <p:nvSpPr>
          <p:cNvPr id="4" name="Rectangle 3"/>
          <p:cNvSpPr/>
          <p:nvPr/>
        </p:nvSpPr>
        <p:spPr>
          <a:xfrm>
            <a:off x="548640" y="1472184"/>
            <a:ext cx="822960" cy="40640"/>
          </a:xfrm>
          <a:prstGeom prst="rect">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423160"/>
            <a:ext cx="11091672" cy="3108960"/>
          </a:xfrm>
          <a:prstGeom prst="rect">
            <a:avLst/>
          </a:prstGeom>
          <a:noFill/>
        </p:spPr>
        <p:txBody>
          <a:bodyPr wrap="square" lIns="0" rIns="0" tIns="0" bIns="0">
            <a:spAutoFit/>
          </a:bodyPr>
          <a:lstStyle/>
          <a:p>
            <a:pPr>
              <a:lnSpc>
                <a:spcPct val="112000"/>
              </a:lnSpc>
              <a:spcAft>
                <a:spcPts val="1600"/>
              </a:spcAft>
            </a:pPr>
            <a:r>
              <a:rPr sz="1600" b="1">
                <a:solidFill>
                  <a:srgbClr val="1F3B57"/>
                </a:solidFill>
                <a:latin typeface="Calibri"/>
              </a:rPr>
              <a:t>▪  </a:t>
            </a:r>
            <a:r>
              <a:rPr sz="1600" b="1">
                <a:solidFill>
                  <a:srgbClr val="2A2522"/>
                </a:solidFill>
                <a:latin typeface="Calibri"/>
              </a:rPr>
              <a:t>Khái niệm: </a:t>
            </a:r>
            <a:r>
              <a:rPr sz="1600">
                <a:solidFill>
                  <a:srgbClr val="2A2522"/>
                </a:solidFill>
                <a:latin typeface="Calibri"/>
              </a:rPr>
              <a:t>Thuế là khoản thu bắt buộc vào ngân sách nhà nước theo luật định, không hoàn trả trực tiếp.</a:t>
            </a:r>
          </a:p>
          <a:p>
            <a:pPr>
              <a:lnSpc>
                <a:spcPct val="112000"/>
              </a:lnSpc>
              <a:spcAft>
                <a:spcPts val="1600"/>
              </a:spcAft>
            </a:pPr>
            <a:r>
              <a:rPr sz="1600" b="1">
                <a:solidFill>
                  <a:srgbClr val="1F3B57"/>
                </a:solidFill>
                <a:latin typeface="Calibri"/>
              </a:rPr>
              <a:t>▪  </a:t>
            </a:r>
            <a:r>
              <a:rPr sz="1600" b="1">
                <a:solidFill>
                  <a:srgbClr val="2A2522"/>
                </a:solidFill>
                <a:latin typeface="Calibri"/>
              </a:rPr>
              <a:t>Đặc điểm: </a:t>
            </a:r>
            <a:r>
              <a:rPr sz="1600">
                <a:solidFill>
                  <a:srgbClr val="2A2522"/>
                </a:solidFill>
                <a:latin typeface="Calibri"/>
              </a:rPr>
              <a:t>bắt buộc – không hoàn trả trực tiếp – tính pháp lí cao – gắn với hoạt động kinh tế.</a:t>
            </a:r>
          </a:p>
          <a:p>
            <a:pPr>
              <a:lnSpc>
                <a:spcPct val="112000"/>
              </a:lnSpc>
              <a:spcAft>
                <a:spcPts val="1600"/>
              </a:spcAft>
            </a:pPr>
            <a:r>
              <a:rPr sz="1600" b="1">
                <a:solidFill>
                  <a:srgbClr val="1F3B57"/>
                </a:solidFill>
                <a:latin typeface="Calibri"/>
              </a:rPr>
              <a:t>▪  </a:t>
            </a:r>
            <a:r>
              <a:rPr sz="1600" b="1">
                <a:solidFill>
                  <a:srgbClr val="2A2522"/>
                </a:solidFill>
                <a:latin typeface="Calibri"/>
              </a:rPr>
              <a:t>Vai trò: </a:t>
            </a:r>
            <a:r>
              <a:rPr sz="1600">
                <a:solidFill>
                  <a:srgbClr val="2A2522"/>
                </a:solidFill>
                <a:latin typeface="Calibri"/>
              </a:rPr>
              <a:t>nguồn thu chủ yếu của NSNN, công cụ điều tiết vĩ mô nền kinh tế, bảo đảm công bằng xã hội.</a:t>
            </a:r>
          </a:p>
        </p:txBody>
      </p:sp>
      <p:sp>
        <p:nvSpPr>
          <p:cNvPr id="6" name="Rounded Rectangle 5"/>
          <p:cNvSpPr/>
          <p:nvPr/>
        </p:nvSpPr>
        <p:spPr>
          <a:xfrm>
            <a:off x="548640" y="5349240"/>
            <a:ext cx="11091672" cy="777240"/>
          </a:xfrm>
          <a:prstGeom prst="roundRect">
            <a:avLst>
              <a:gd name="adj" fmla="val 6000"/>
            </a:avLst>
          </a:prstGeom>
          <a:solidFill>
            <a:srgbClr val="EFE7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349240"/>
            <a:ext cx="82296" cy="777240"/>
          </a:xfrm>
          <a:prstGeom prst="rect">
            <a:avLst/>
          </a:prstGeom>
          <a:solidFill>
            <a:srgbClr val="C7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513832"/>
            <a:ext cx="10671048" cy="365760"/>
          </a:xfrm>
          <a:prstGeom prst="rect">
            <a:avLst/>
          </a:prstGeom>
          <a:noFill/>
        </p:spPr>
        <p:txBody>
          <a:bodyPr wrap="square" anchor="t" lIns="0" rIns="0" tIns="0" bIns="0">
            <a:spAutoFit/>
          </a:bodyPr>
          <a:lstStyle/>
          <a:p>
            <a:pPr algn="l">
              <a:lnSpc>
                <a:spcPct val="100000"/>
              </a:lnSpc>
              <a:spcAft>
                <a:spcPts val="0"/>
              </a:spcAft>
            </a:pPr>
            <a:r>
              <a:rPr sz="100" b="1" i="0">
                <a:solidFill>
                  <a:srgbClr val="1F3B57"/>
                </a:solidFill>
                <a:latin typeface="Calibri"/>
              </a:rPr>
              <a:t/>
            </a:r>
          </a:p>
        </p:txBody>
      </p:sp>
      <p:sp>
        <p:nvSpPr>
          <p:cNvPr id="9" name="TextBox 8"/>
          <p:cNvSpPr txBox="1"/>
          <p:nvPr/>
        </p:nvSpPr>
        <p:spPr>
          <a:xfrm>
            <a:off x="786384" y="5879592"/>
            <a:ext cx="10671048" cy="118872"/>
          </a:xfrm>
          <a:prstGeom prst="rect">
            <a:avLst/>
          </a:prstGeom>
          <a:noFill/>
        </p:spPr>
        <p:txBody>
          <a:bodyPr wrap="square" anchor="t" lIns="0" rIns="0" tIns="0" bIns="0">
            <a:spAutoFit/>
          </a:bodyPr>
          <a:lstStyle/>
          <a:p>
            <a:pPr algn="l">
              <a:lnSpc>
                <a:spcPct val="114000"/>
              </a:lnSpc>
              <a:spcAft>
                <a:spcPts val="0"/>
              </a:spcAft>
            </a:pPr>
            <a:r>
              <a:rPr sz="1400" b="0" i="0">
                <a:solidFill>
                  <a:srgbClr val="2A2522"/>
                </a:solidFill>
                <a:latin typeface="Calibri"/>
              </a:rPr>
              <a:t>Hẹn gặp lại các em ở Tiết 2: Các loại thuế – Quyền và nghĩa vụ của công dân về thuế.</a:t>
            </a:r>
          </a:p>
        </p:txBody>
      </p:sp>
      <p:sp>
        <p:nvSpPr>
          <p:cNvPr id="10" name="Rectangle 9"/>
          <p:cNvSpPr/>
          <p:nvPr/>
        </p:nvSpPr>
        <p:spPr>
          <a:xfrm>
            <a:off x="548640" y="6473952"/>
            <a:ext cx="11091672" cy="1397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spcAft>
                <a:spcPts val="0"/>
              </a:spcAft>
            </a:pPr>
            <a:r>
              <a:rPr sz="1050" b="0" i="1">
                <a:solidFill>
                  <a:srgbClr val="5B554E"/>
                </a:solidFill>
                <a:latin typeface="Calibri"/>
              </a:rPr>
              <a:t>GDKTPL 10 – Bài 6: Thuế | Tiết 1 – Tổng kết</a:t>
            </a:r>
          </a:p>
        </p:txBody>
      </p:sp>
      <p:sp>
        <p:nvSpPr>
          <p:cNvPr id="12" name="TextBox 11"/>
          <p:cNvSpPr txBox="1"/>
          <p:nvPr/>
        </p:nvSpPr>
        <p:spPr>
          <a:xfrm>
            <a:off x="10972800" y="6528816"/>
            <a:ext cx="667512" cy="274320"/>
          </a:xfrm>
          <a:prstGeom prst="rect">
            <a:avLst/>
          </a:prstGeom>
          <a:noFill/>
        </p:spPr>
        <p:txBody>
          <a:bodyPr wrap="square" anchor="t" lIns="0" rIns="0" tIns="0" bIns="0">
            <a:spAutoFit/>
          </a:bodyPr>
          <a:lstStyle/>
          <a:p>
            <a:pPr algn="r">
              <a:lnSpc>
                <a:spcPct val="100000"/>
              </a:lnSpc>
              <a:spcAft>
                <a:spcPts val="0"/>
              </a:spcAft>
            </a:pPr>
            <a:r>
              <a:rPr sz="1050" b="1" i="0">
                <a:solidFill>
                  <a:srgbClr val="5B554E"/>
                </a:solidFill>
                <a:latin typeface="Calibr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